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3.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5.xml" ContentType="application/vnd.openxmlformats-officedocument.presentationml.notesSlide+xml"/>
  <Override PartName="/ppt/comments/modernComment_112_0.xml" ContentType="application/vnd.ms-powerpoint.comments+xml"/>
  <Override PartName="/ppt/notesSlides/notesSlide6.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7.xml" ContentType="application/vnd.openxmlformats-officedocument.presentationml.notesSlide+xml"/>
  <Override PartName="/ppt/comments/modernComment_111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0.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1.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1D_0.xml" ContentType="application/vnd.ms-powerpoint.comment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8" r:id="rId2"/>
    <p:sldId id="291" r:id="rId3"/>
    <p:sldId id="290" r:id="rId4"/>
    <p:sldId id="289" r:id="rId5"/>
    <p:sldId id="274" r:id="rId6"/>
    <p:sldId id="260" r:id="rId7"/>
    <p:sldId id="273" r:id="rId8"/>
    <p:sldId id="272" r:id="rId9"/>
    <p:sldId id="278" r:id="rId10"/>
    <p:sldId id="277" r:id="rId11"/>
    <p:sldId id="279" r:id="rId12"/>
    <p:sldId id="280" r:id="rId13"/>
    <p:sldId id="281" r:id="rId14"/>
    <p:sldId id="285" r:id="rId15"/>
    <p:sldId id="282"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0" userDrawn="1">
          <p15:clr>
            <a:srgbClr val="A4A3A4"/>
          </p15:clr>
        </p15:guide>
        <p15:guide id="2" pos="384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5E9155-0438-7EFB-F44C-2B27896594E4}" name="Arjun Anish" initials="AA" userId="S::arjun.anish@rotman.utoronto.ca::ba8f6262-b7d0-484c-ac01-9e4c0ebd205c" providerId="AD"/>
  <p188:author id="{64C6EC5F-6BFB-5742-C5BC-B0F314E82B8B}" name="Shiron Lee" initials="SL" userId="S::shiron.lee@rotman.utoronto.ca::cf6f5689-486c-475e-96e1-f42bf5da99fd" providerId="AD"/>
  <p188:author id="{2933427E-92B3-7880-21FE-015126000F17}" name="Rahul Raj" initials="RR" userId="S::r.raj@rotman.utoronto.ca::2da06d4c-7bf7-40a5-9a8a-b75af9d5d5d4" providerId="AD"/>
  <p188:author id="{37D20EF2-B993-9247-9206-CB110CE95BA5}" name="Mengyi Liu" initials="" userId="S::mengyi.liu@rotman.utoronto.ca::902af3c6-d67a-43e4-b464-ef866840d8d2" providerId="AD"/>
  <p188:author id="{F4593FF3-344A-3689-4AD8-E14564D94B57}" name="rob rutledge" initials="rr" userId="S::rob@robertrutledge.com::e01bf05c-2b20-44df-a85c-939794f618f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B2F4A"/>
    <a:srgbClr val="133B5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21DDEA-A1C7-8449-888B-B52C78E75641}" v="226" dt="2026-05-21T21:45:26.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30"/>
        <p:guide pos="3845"/>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Anish" userId="ba8f6262-b7d0-484c-ac01-9e4c0ebd205c" providerId="ADAL" clId="{7E250AE4-3973-5DE3-93DF-6D4ECFD8BBC4}"/>
    <pc:docChg chg="undo redo custSel addSld modSld sldOrd">
      <pc:chgData name="Arjun Anish" userId="ba8f6262-b7d0-484c-ac01-9e4c0ebd205c" providerId="ADAL" clId="{7E250AE4-3973-5DE3-93DF-6D4ECFD8BBC4}" dt="2026-05-21T21:45:26.173" v="1068" actId="1076"/>
      <pc:docMkLst>
        <pc:docMk/>
      </pc:docMkLst>
      <pc:sldChg chg="addSp delSp modSp mod">
        <pc:chgData name="Arjun Anish" userId="ba8f6262-b7d0-484c-ac01-9e4c0ebd205c" providerId="ADAL" clId="{7E250AE4-3973-5DE3-93DF-6D4ECFD8BBC4}" dt="2026-05-21T21:45:26.173" v="1068" actId="1076"/>
        <pc:sldMkLst>
          <pc:docMk/>
          <pc:sldMk cId="0" sldId="258"/>
        </pc:sldMkLst>
        <pc:spChg chg="mod">
          <ac:chgData name="Arjun Anish" userId="ba8f6262-b7d0-484c-ac01-9e4c0ebd205c" providerId="ADAL" clId="{7E250AE4-3973-5DE3-93DF-6D4ECFD8BBC4}" dt="2026-05-21T21:45:26.173" v="1068" actId="1076"/>
          <ac:spMkLst>
            <pc:docMk/>
            <pc:sldMk cId="0" sldId="258"/>
            <ac:spMk id="2" creationId="{00000000-0000-0000-0000-000000000000}"/>
          </ac:spMkLst>
        </pc:spChg>
        <pc:spChg chg="mod">
          <ac:chgData name="Arjun Anish" userId="ba8f6262-b7d0-484c-ac01-9e4c0ebd205c" providerId="ADAL" clId="{7E250AE4-3973-5DE3-93DF-6D4ECFD8BBC4}" dt="2026-05-20T17:03:29.742" v="706" actId="207"/>
          <ac:spMkLst>
            <pc:docMk/>
            <pc:sldMk cId="0" sldId="258"/>
            <ac:spMk id="4" creationId="{CD8985B7-C31D-AC88-4165-FBDEB6431234}"/>
          </ac:spMkLst>
        </pc:spChg>
        <pc:spChg chg="mod">
          <ac:chgData name="Arjun Anish" userId="ba8f6262-b7d0-484c-ac01-9e4c0ebd205c" providerId="ADAL" clId="{7E250AE4-3973-5DE3-93DF-6D4ECFD8BBC4}" dt="2026-05-20T17:03:29.742" v="706" actId="207"/>
          <ac:spMkLst>
            <pc:docMk/>
            <pc:sldMk cId="0" sldId="258"/>
            <ac:spMk id="5" creationId="{51807B60-BF63-71A3-8F17-5C390F083C14}"/>
          </ac:spMkLst>
        </pc:spChg>
        <pc:spChg chg="del">
          <ac:chgData name="Arjun Anish" userId="ba8f6262-b7d0-484c-ac01-9e4c0ebd205c" providerId="ADAL" clId="{7E250AE4-3973-5DE3-93DF-6D4ECFD8BBC4}" dt="2026-05-20T16:56:30.526" v="699" actId="478"/>
          <ac:spMkLst>
            <pc:docMk/>
            <pc:sldMk cId="0" sldId="258"/>
            <ac:spMk id="11" creationId="{00000000-0000-0000-0000-000000000000}"/>
          </ac:spMkLst>
        </pc:spChg>
        <pc:spChg chg="mod">
          <ac:chgData name="Arjun Anish" userId="ba8f6262-b7d0-484c-ac01-9e4c0ebd205c" providerId="ADAL" clId="{7E250AE4-3973-5DE3-93DF-6D4ECFD8BBC4}" dt="2026-05-20T17:03:22.516" v="705" actId="207"/>
          <ac:spMkLst>
            <pc:docMk/>
            <pc:sldMk cId="0" sldId="258"/>
            <ac:spMk id="14" creationId="{D33326E7-E293-66A3-5812-0CFB0C04B50A}"/>
          </ac:spMkLst>
        </pc:spChg>
        <pc:grpChg chg="add mod">
          <ac:chgData name="Arjun Anish" userId="ba8f6262-b7d0-484c-ac01-9e4c0ebd205c" providerId="ADAL" clId="{7E250AE4-3973-5DE3-93DF-6D4ECFD8BBC4}" dt="2026-05-20T17:03:48.046" v="709" actId="14100"/>
          <ac:grpSpMkLst>
            <pc:docMk/>
            <pc:sldMk cId="0" sldId="258"/>
            <ac:grpSpMk id="3" creationId="{50A4E9A1-1BD6-385E-FE6A-7DD11585223B}"/>
          </ac:grpSpMkLst>
        </pc:grpChg>
      </pc:sldChg>
      <pc:sldChg chg="addSp delSp modSp mod ord">
        <pc:chgData name="Arjun Anish" userId="ba8f6262-b7d0-484c-ac01-9e4c0ebd205c" providerId="ADAL" clId="{7E250AE4-3973-5DE3-93DF-6D4ECFD8BBC4}" dt="2026-05-20T18:02:21.874" v="995" actId="20578"/>
        <pc:sldMkLst>
          <pc:docMk/>
          <pc:sldMk cId="0" sldId="260"/>
        </pc:sldMkLst>
        <pc:spChg chg="add del mod">
          <ac:chgData name="Arjun Anish" userId="ba8f6262-b7d0-484c-ac01-9e4c0ebd205c" providerId="ADAL" clId="{7E250AE4-3973-5DE3-93DF-6D4ECFD8BBC4}" dt="2026-05-20T17:16:24.941" v="844" actId="478"/>
          <ac:spMkLst>
            <pc:docMk/>
            <pc:sldMk cId="0" sldId="260"/>
            <ac:spMk id="3" creationId="{00000000-0000-0000-0000-000000000000}"/>
          </ac:spMkLst>
        </pc:spChg>
        <pc:spChg chg="add del mod">
          <ac:chgData name="Arjun Anish" userId="ba8f6262-b7d0-484c-ac01-9e4c0ebd205c" providerId="ADAL" clId="{7E250AE4-3973-5DE3-93DF-6D4ECFD8BBC4}" dt="2026-05-20T17:16:19.506" v="842" actId="20577"/>
          <ac:spMkLst>
            <pc:docMk/>
            <pc:sldMk cId="0" sldId="260"/>
            <ac:spMk id="4" creationId="{00000000-0000-0000-0000-000000000000}"/>
          </ac:spMkLst>
        </pc:spChg>
        <pc:spChg chg="add del">
          <ac:chgData name="Arjun Anish" userId="ba8f6262-b7d0-484c-ac01-9e4c0ebd205c" providerId="ADAL" clId="{7E250AE4-3973-5DE3-93DF-6D4ECFD8BBC4}" dt="2026-05-20T17:16:00.522" v="836" actId="478"/>
          <ac:spMkLst>
            <pc:docMk/>
            <pc:sldMk cId="0" sldId="260"/>
            <ac:spMk id="5" creationId="{00000000-0000-0000-0000-000000000000}"/>
          </ac:spMkLst>
        </pc:spChg>
        <pc:spChg chg="del">
          <ac:chgData name="Arjun Anish" userId="ba8f6262-b7d0-484c-ac01-9e4c0ebd205c" providerId="ADAL" clId="{7E250AE4-3973-5DE3-93DF-6D4ECFD8BBC4}" dt="2026-05-20T17:14:28.141" v="831" actId="478"/>
          <ac:spMkLst>
            <pc:docMk/>
            <pc:sldMk cId="0" sldId="260"/>
            <ac:spMk id="9" creationId="{00000000-0000-0000-0000-000000000000}"/>
          </ac:spMkLst>
        </pc:spChg>
      </pc:sldChg>
      <pc:sldChg chg="addSp delSp modSp mod setBg">
        <pc:chgData name="Arjun Anish" userId="ba8f6262-b7d0-484c-ac01-9e4c0ebd205c" providerId="ADAL" clId="{7E250AE4-3973-5DE3-93DF-6D4ECFD8BBC4}" dt="2026-05-20T17:18:19.482" v="919" actId="1076"/>
        <pc:sldMkLst>
          <pc:docMk/>
          <pc:sldMk cId="0" sldId="272"/>
        </pc:sldMkLst>
        <pc:spChg chg="del mod">
          <ac:chgData name="Arjun Anish" userId="ba8f6262-b7d0-484c-ac01-9e4c0ebd205c" providerId="ADAL" clId="{7E250AE4-3973-5DE3-93DF-6D4ECFD8BBC4}" dt="2026-05-20T17:17:56.977" v="914" actId="478"/>
          <ac:spMkLst>
            <pc:docMk/>
            <pc:sldMk cId="0" sldId="272"/>
            <ac:spMk id="2" creationId="{00000000-0000-0000-0000-000000000000}"/>
          </ac:spMkLst>
        </pc:spChg>
        <pc:spChg chg="add del mod">
          <ac:chgData name="Arjun Anish" userId="ba8f6262-b7d0-484c-ac01-9e4c0ebd205c" providerId="ADAL" clId="{7E250AE4-3973-5DE3-93DF-6D4ECFD8BBC4}" dt="2026-05-20T17:17:42.799" v="910"/>
          <ac:spMkLst>
            <pc:docMk/>
            <pc:sldMk cId="0" sldId="272"/>
            <ac:spMk id="3" creationId="{81852B6F-137B-35FE-229B-F7C34F3E148C}"/>
          </ac:spMkLst>
        </pc:spChg>
        <pc:spChg chg="mod">
          <ac:chgData name="Arjun Anish" userId="ba8f6262-b7d0-484c-ac01-9e4c0ebd205c" providerId="ADAL" clId="{7E250AE4-3973-5DE3-93DF-6D4ECFD8BBC4}" dt="2026-05-20T17:18:04.234" v="918" actId="1076"/>
          <ac:spMkLst>
            <pc:docMk/>
            <pc:sldMk cId="0" sldId="272"/>
            <ac:spMk id="6" creationId="{00000000-0000-0000-0000-000000000000}"/>
          </ac:spMkLst>
        </pc:spChg>
        <pc:spChg chg="del">
          <ac:chgData name="Arjun Anish" userId="ba8f6262-b7d0-484c-ac01-9e4c0ebd205c" providerId="ADAL" clId="{7E250AE4-3973-5DE3-93DF-6D4ECFD8BBC4}" dt="2026-05-20T17:17:08.945" v="868" actId="478"/>
          <ac:spMkLst>
            <pc:docMk/>
            <pc:sldMk cId="0" sldId="272"/>
            <ac:spMk id="7" creationId="{00000000-0000-0000-0000-000000000000}"/>
          </ac:spMkLst>
        </pc:spChg>
        <pc:spChg chg="mod">
          <ac:chgData name="Arjun Anish" userId="ba8f6262-b7d0-484c-ac01-9e4c0ebd205c" providerId="ADAL" clId="{7E250AE4-3973-5DE3-93DF-6D4ECFD8BBC4}" dt="2026-05-20T17:18:19.482" v="919" actId="1076"/>
          <ac:spMkLst>
            <pc:docMk/>
            <pc:sldMk cId="0" sldId="272"/>
            <ac:spMk id="9" creationId="{00000000-0000-0000-0000-000000000000}"/>
          </ac:spMkLst>
        </pc:spChg>
        <pc:spChg chg="mod">
          <ac:chgData name="Arjun Anish" userId="ba8f6262-b7d0-484c-ac01-9e4c0ebd205c" providerId="ADAL" clId="{7E250AE4-3973-5DE3-93DF-6D4ECFD8BBC4}" dt="2026-05-20T17:18:19.482" v="919" actId="1076"/>
          <ac:spMkLst>
            <pc:docMk/>
            <pc:sldMk cId="0" sldId="272"/>
            <ac:spMk id="10" creationId="{00000000-0000-0000-0000-000000000000}"/>
          </ac:spMkLst>
        </pc:spChg>
        <pc:spChg chg="mod">
          <ac:chgData name="Arjun Anish" userId="ba8f6262-b7d0-484c-ac01-9e4c0ebd205c" providerId="ADAL" clId="{7E250AE4-3973-5DE3-93DF-6D4ECFD8BBC4}" dt="2026-05-20T17:18:19.482" v="919" actId="1076"/>
          <ac:spMkLst>
            <pc:docMk/>
            <pc:sldMk cId="0" sldId="272"/>
            <ac:spMk id="11" creationId="{00000000-0000-0000-0000-000000000000}"/>
          </ac:spMkLst>
        </pc:spChg>
        <pc:picChg chg="mod">
          <ac:chgData name="Arjun Anish" userId="ba8f6262-b7d0-484c-ac01-9e4c0ebd205c" providerId="ADAL" clId="{7E250AE4-3973-5DE3-93DF-6D4ECFD8BBC4}" dt="2026-05-20T17:18:19.482" v="919" actId="1076"/>
          <ac:picMkLst>
            <pc:docMk/>
            <pc:sldMk cId="0" sldId="272"/>
            <ac:picMk id="8" creationId="{00000000-0000-0000-0000-000000000000}"/>
          </ac:picMkLst>
        </pc:picChg>
      </pc:sldChg>
      <pc:sldChg chg="addSp delSp modSp mod modShow">
        <pc:chgData name="Arjun Anish" userId="ba8f6262-b7d0-484c-ac01-9e4c0ebd205c" providerId="ADAL" clId="{7E250AE4-3973-5DE3-93DF-6D4ECFD8BBC4}" dt="2026-05-20T18:02:19.959" v="994" actId="729"/>
        <pc:sldMkLst>
          <pc:docMk/>
          <pc:sldMk cId="0" sldId="273"/>
        </pc:sldMkLst>
        <pc:spChg chg="add del mod">
          <ac:chgData name="Arjun Anish" userId="ba8f6262-b7d0-484c-ac01-9e4c0ebd205c" providerId="ADAL" clId="{7E250AE4-3973-5DE3-93DF-6D4ECFD8BBC4}" dt="2026-05-20T17:14:14.037" v="830" actId="21"/>
          <ac:spMkLst>
            <pc:docMk/>
            <pc:sldMk cId="0" sldId="273"/>
            <ac:spMk id="10" creationId="{CE79B309-15A4-155A-6D28-90A5C9C3D8B9}"/>
          </ac:spMkLst>
        </pc:spChg>
      </pc:sldChg>
      <pc:sldChg chg="addSp delSp modSp mod">
        <pc:chgData name="Arjun Anish" userId="ba8f6262-b7d0-484c-ac01-9e4c0ebd205c" providerId="ADAL" clId="{7E250AE4-3973-5DE3-93DF-6D4ECFD8BBC4}" dt="2026-05-20T17:22:14.312" v="955" actId="12"/>
        <pc:sldMkLst>
          <pc:docMk/>
          <pc:sldMk cId="0" sldId="274"/>
        </pc:sldMkLst>
        <pc:spChg chg="add del mod">
          <ac:chgData name="Arjun Anish" userId="ba8f6262-b7d0-484c-ac01-9e4c0ebd205c" providerId="ADAL" clId="{7E250AE4-3973-5DE3-93DF-6D4ECFD8BBC4}" dt="2026-05-20T17:21:19.084" v="935" actId="478"/>
          <ac:spMkLst>
            <pc:docMk/>
            <pc:sldMk cId="0" sldId="274"/>
            <ac:spMk id="2" creationId="{00000000-0000-0000-0000-000000000000}"/>
          </ac:spMkLst>
        </pc:spChg>
        <pc:spChg chg="mod">
          <ac:chgData name="Arjun Anish" userId="ba8f6262-b7d0-484c-ac01-9e4c0ebd205c" providerId="ADAL" clId="{7E250AE4-3973-5DE3-93DF-6D4ECFD8BBC4}" dt="2026-05-20T17:21:56.582" v="953" actId="20577"/>
          <ac:spMkLst>
            <pc:docMk/>
            <pc:sldMk cId="0" sldId="274"/>
            <ac:spMk id="4" creationId="{00000000-0000-0000-0000-000000000000}"/>
          </ac:spMkLst>
        </pc:spChg>
        <pc:spChg chg="mod">
          <ac:chgData name="Arjun Anish" userId="ba8f6262-b7d0-484c-ac01-9e4c0ebd205c" providerId="ADAL" clId="{7E250AE4-3973-5DE3-93DF-6D4ECFD8BBC4}" dt="2026-05-20T17:21:18.212" v="934" actId="207"/>
          <ac:spMkLst>
            <pc:docMk/>
            <pc:sldMk cId="0" sldId="274"/>
            <ac:spMk id="5" creationId="{00000000-0000-0000-0000-000000000000}"/>
          </ac:spMkLst>
        </pc:spChg>
        <pc:spChg chg="mod">
          <ac:chgData name="Arjun Anish" userId="ba8f6262-b7d0-484c-ac01-9e4c0ebd205c" providerId="ADAL" clId="{7E250AE4-3973-5DE3-93DF-6D4ECFD8BBC4}" dt="2026-05-20T17:13:21.208" v="822" actId="1582"/>
          <ac:spMkLst>
            <pc:docMk/>
            <pc:sldMk cId="0" sldId="274"/>
            <ac:spMk id="7" creationId="{00000000-0000-0000-0000-000000000000}"/>
          </ac:spMkLst>
        </pc:spChg>
        <pc:spChg chg="del mod">
          <ac:chgData name="Arjun Anish" userId="ba8f6262-b7d0-484c-ac01-9e4c0ebd205c" providerId="ADAL" clId="{7E250AE4-3973-5DE3-93DF-6D4ECFD8BBC4}" dt="2026-05-20T17:12:05.708" v="803" actId="478"/>
          <ac:spMkLst>
            <pc:docMk/>
            <pc:sldMk cId="0" sldId="274"/>
            <ac:spMk id="8" creationId="{00000000-0000-0000-0000-000000000000}"/>
          </ac:spMkLst>
        </pc:spChg>
        <pc:spChg chg="mod">
          <ac:chgData name="Arjun Anish" userId="ba8f6262-b7d0-484c-ac01-9e4c0ebd205c" providerId="ADAL" clId="{7E250AE4-3973-5DE3-93DF-6D4ECFD8BBC4}" dt="2026-05-20T17:13:33.037" v="823" actId="122"/>
          <ac:spMkLst>
            <pc:docMk/>
            <pc:sldMk cId="0" sldId="274"/>
            <ac:spMk id="9" creationId="{00000000-0000-0000-0000-000000000000}"/>
          </ac:spMkLst>
        </pc:spChg>
        <pc:spChg chg="mod">
          <ac:chgData name="Arjun Anish" userId="ba8f6262-b7d0-484c-ac01-9e4c0ebd205c" providerId="ADAL" clId="{7E250AE4-3973-5DE3-93DF-6D4ECFD8BBC4}" dt="2026-05-20T17:22:14.312" v="955" actId="12"/>
          <ac:spMkLst>
            <pc:docMk/>
            <pc:sldMk cId="0" sldId="274"/>
            <ac:spMk id="10" creationId="{00000000-0000-0000-0000-000000000000}"/>
          </ac:spMkLst>
        </pc:spChg>
        <pc:spChg chg="mod">
          <ac:chgData name="Arjun Anish" userId="ba8f6262-b7d0-484c-ac01-9e4c0ebd205c" providerId="ADAL" clId="{7E250AE4-3973-5DE3-93DF-6D4ECFD8BBC4}" dt="2026-05-20T17:13:21.208" v="822" actId="1582"/>
          <ac:spMkLst>
            <pc:docMk/>
            <pc:sldMk cId="0" sldId="274"/>
            <ac:spMk id="11" creationId="{00000000-0000-0000-0000-000000000000}"/>
          </ac:spMkLst>
        </pc:spChg>
        <pc:spChg chg="del">
          <ac:chgData name="Arjun Anish" userId="ba8f6262-b7d0-484c-ac01-9e4c0ebd205c" providerId="ADAL" clId="{7E250AE4-3973-5DE3-93DF-6D4ECFD8BBC4}" dt="2026-05-20T17:12:07.944" v="804" actId="478"/>
          <ac:spMkLst>
            <pc:docMk/>
            <pc:sldMk cId="0" sldId="274"/>
            <ac:spMk id="12" creationId="{00000000-0000-0000-0000-000000000000}"/>
          </ac:spMkLst>
        </pc:spChg>
        <pc:spChg chg="mod">
          <ac:chgData name="Arjun Anish" userId="ba8f6262-b7d0-484c-ac01-9e4c0ebd205c" providerId="ADAL" clId="{7E250AE4-3973-5DE3-93DF-6D4ECFD8BBC4}" dt="2026-05-20T17:13:33.037" v="823" actId="122"/>
          <ac:spMkLst>
            <pc:docMk/>
            <pc:sldMk cId="0" sldId="274"/>
            <ac:spMk id="13" creationId="{00000000-0000-0000-0000-000000000000}"/>
          </ac:spMkLst>
        </pc:spChg>
        <pc:spChg chg="mod">
          <ac:chgData name="Arjun Anish" userId="ba8f6262-b7d0-484c-ac01-9e4c0ebd205c" providerId="ADAL" clId="{7E250AE4-3973-5DE3-93DF-6D4ECFD8BBC4}" dt="2026-05-20T17:13:54.542" v="828" actId="120"/>
          <ac:spMkLst>
            <pc:docMk/>
            <pc:sldMk cId="0" sldId="274"/>
            <ac:spMk id="14" creationId="{00000000-0000-0000-0000-000000000000}"/>
          </ac:spMkLst>
        </pc:spChg>
        <pc:spChg chg="mod">
          <ac:chgData name="Arjun Anish" userId="ba8f6262-b7d0-484c-ac01-9e4c0ebd205c" providerId="ADAL" clId="{7E250AE4-3973-5DE3-93DF-6D4ECFD8BBC4}" dt="2026-05-20T17:13:21.208" v="822" actId="1582"/>
          <ac:spMkLst>
            <pc:docMk/>
            <pc:sldMk cId="0" sldId="274"/>
            <ac:spMk id="15" creationId="{00000000-0000-0000-0000-000000000000}"/>
          </ac:spMkLst>
        </pc:spChg>
        <pc:spChg chg="del">
          <ac:chgData name="Arjun Anish" userId="ba8f6262-b7d0-484c-ac01-9e4c0ebd205c" providerId="ADAL" clId="{7E250AE4-3973-5DE3-93DF-6D4ECFD8BBC4}" dt="2026-05-20T17:12:10.876" v="806" actId="478"/>
          <ac:spMkLst>
            <pc:docMk/>
            <pc:sldMk cId="0" sldId="274"/>
            <ac:spMk id="16" creationId="{00000000-0000-0000-0000-000000000000}"/>
          </ac:spMkLst>
        </pc:spChg>
        <pc:spChg chg="mod">
          <ac:chgData name="Arjun Anish" userId="ba8f6262-b7d0-484c-ac01-9e4c0ebd205c" providerId="ADAL" clId="{7E250AE4-3973-5DE3-93DF-6D4ECFD8BBC4}" dt="2026-05-20T17:13:33.037" v="823" actId="122"/>
          <ac:spMkLst>
            <pc:docMk/>
            <pc:sldMk cId="0" sldId="274"/>
            <ac:spMk id="17" creationId="{00000000-0000-0000-0000-000000000000}"/>
          </ac:spMkLst>
        </pc:spChg>
        <pc:spChg chg="mod">
          <ac:chgData name="Arjun Anish" userId="ba8f6262-b7d0-484c-ac01-9e4c0ebd205c" providerId="ADAL" clId="{7E250AE4-3973-5DE3-93DF-6D4ECFD8BBC4}" dt="2026-05-20T17:13:54.542" v="828" actId="120"/>
          <ac:spMkLst>
            <pc:docMk/>
            <pc:sldMk cId="0" sldId="274"/>
            <ac:spMk id="18" creationId="{00000000-0000-0000-0000-000000000000}"/>
          </ac:spMkLst>
        </pc:spChg>
        <pc:spChg chg="mod">
          <ac:chgData name="Arjun Anish" userId="ba8f6262-b7d0-484c-ac01-9e4c0ebd205c" providerId="ADAL" clId="{7E250AE4-3973-5DE3-93DF-6D4ECFD8BBC4}" dt="2026-05-20T17:13:21.208" v="822" actId="1582"/>
          <ac:spMkLst>
            <pc:docMk/>
            <pc:sldMk cId="0" sldId="274"/>
            <ac:spMk id="19" creationId="{00000000-0000-0000-0000-000000000000}"/>
          </ac:spMkLst>
        </pc:spChg>
        <pc:spChg chg="del">
          <ac:chgData name="Arjun Anish" userId="ba8f6262-b7d0-484c-ac01-9e4c0ebd205c" providerId="ADAL" clId="{7E250AE4-3973-5DE3-93DF-6D4ECFD8BBC4}" dt="2026-05-20T17:12:09.423" v="805" actId="478"/>
          <ac:spMkLst>
            <pc:docMk/>
            <pc:sldMk cId="0" sldId="274"/>
            <ac:spMk id="20" creationId="{00000000-0000-0000-0000-000000000000}"/>
          </ac:spMkLst>
        </pc:spChg>
        <pc:spChg chg="mod">
          <ac:chgData name="Arjun Anish" userId="ba8f6262-b7d0-484c-ac01-9e4c0ebd205c" providerId="ADAL" clId="{7E250AE4-3973-5DE3-93DF-6D4ECFD8BBC4}" dt="2026-05-20T17:13:33.037" v="823" actId="122"/>
          <ac:spMkLst>
            <pc:docMk/>
            <pc:sldMk cId="0" sldId="274"/>
            <ac:spMk id="21" creationId="{00000000-0000-0000-0000-000000000000}"/>
          </ac:spMkLst>
        </pc:spChg>
        <pc:spChg chg="mod">
          <ac:chgData name="Arjun Anish" userId="ba8f6262-b7d0-484c-ac01-9e4c0ebd205c" providerId="ADAL" clId="{7E250AE4-3973-5DE3-93DF-6D4ECFD8BBC4}" dt="2026-05-20T17:13:54.542" v="828" actId="120"/>
          <ac:spMkLst>
            <pc:docMk/>
            <pc:sldMk cId="0" sldId="274"/>
            <ac:spMk id="22" creationId="{00000000-0000-0000-0000-000000000000}"/>
          </ac:spMkLst>
        </pc:spChg>
        <pc:picChg chg="add mod">
          <ac:chgData name="Arjun Anish" userId="ba8f6262-b7d0-484c-ac01-9e4c0ebd205c" providerId="ADAL" clId="{7E250AE4-3973-5DE3-93DF-6D4ECFD8BBC4}" dt="2026-05-20T17:22:01.694" v="954" actId="14100"/>
          <ac:picMkLst>
            <pc:docMk/>
            <pc:sldMk cId="0" sldId="274"/>
            <ac:picMk id="3" creationId="{E2670927-62E4-10DF-0F3B-203BB3B4F562}"/>
          </ac:picMkLst>
        </pc:picChg>
      </pc:sldChg>
      <pc:sldChg chg="addSp delSp modSp mod">
        <pc:chgData name="Arjun Anish" userId="ba8f6262-b7d0-484c-ac01-9e4c0ebd205c" providerId="ADAL" clId="{7E250AE4-3973-5DE3-93DF-6D4ECFD8BBC4}" dt="2026-05-21T17:21:42.826" v="1066" actId="1076"/>
        <pc:sldMkLst>
          <pc:docMk/>
          <pc:sldMk cId="0" sldId="289"/>
        </pc:sldMkLst>
        <pc:spChg chg="add del">
          <ac:chgData name="Arjun Anish" userId="ba8f6262-b7d0-484c-ac01-9e4c0ebd205c" providerId="ADAL" clId="{7E250AE4-3973-5DE3-93DF-6D4ECFD8BBC4}" dt="2026-05-20T17:09:04.611" v="774" actId="478"/>
          <ac:spMkLst>
            <pc:docMk/>
            <pc:sldMk cId="0" sldId="289"/>
            <ac:spMk id="3" creationId="{00000000-0000-0000-0000-000000000000}"/>
          </ac:spMkLst>
        </pc:spChg>
        <pc:spChg chg="mod">
          <ac:chgData name="Arjun Anish" userId="ba8f6262-b7d0-484c-ac01-9e4c0ebd205c" providerId="ADAL" clId="{7E250AE4-3973-5DE3-93DF-6D4ECFD8BBC4}" dt="2026-05-21T17:17:45.652" v="1049" actId="20577"/>
          <ac:spMkLst>
            <pc:docMk/>
            <pc:sldMk cId="0" sldId="289"/>
            <ac:spMk id="9" creationId="{00000000-0000-0000-0000-000000000000}"/>
          </ac:spMkLst>
        </pc:spChg>
        <pc:spChg chg="mod">
          <ac:chgData name="Arjun Anish" userId="ba8f6262-b7d0-484c-ac01-9e4c0ebd205c" providerId="ADAL" clId="{7E250AE4-3973-5DE3-93DF-6D4ECFD8BBC4}" dt="2026-05-21T17:21:30.776" v="1064" actId="14100"/>
          <ac:spMkLst>
            <pc:docMk/>
            <pc:sldMk cId="0" sldId="289"/>
            <ac:spMk id="10" creationId="{00000000-0000-0000-0000-000000000000}"/>
          </ac:spMkLst>
        </pc:spChg>
        <pc:spChg chg="add del mod">
          <ac:chgData name="Arjun Anish" userId="ba8f6262-b7d0-484c-ac01-9e4c0ebd205c" providerId="ADAL" clId="{7E250AE4-3973-5DE3-93DF-6D4ECFD8BBC4}" dt="2026-05-20T17:05:09.145" v="713"/>
          <ac:spMkLst>
            <pc:docMk/>
            <pc:sldMk cId="0" sldId="289"/>
            <ac:spMk id="11" creationId="{0D49ABE9-9F63-2918-6791-BBD5E35F71B8}"/>
          </ac:spMkLst>
        </pc:spChg>
        <pc:spChg chg="mod">
          <ac:chgData name="Arjun Anish" userId="ba8f6262-b7d0-484c-ac01-9e4c0ebd205c" providerId="ADAL" clId="{7E250AE4-3973-5DE3-93DF-6D4ECFD8BBC4}" dt="2026-05-21T17:21:42.826" v="1066" actId="1076"/>
          <ac:spMkLst>
            <pc:docMk/>
            <pc:sldMk cId="0" sldId="289"/>
            <ac:spMk id="13" creationId="{00000000-0000-0000-0000-000000000000}"/>
          </ac:spMkLst>
        </pc:spChg>
        <pc:spChg chg="mod">
          <ac:chgData name="Arjun Anish" userId="ba8f6262-b7d0-484c-ac01-9e4c0ebd205c" providerId="ADAL" clId="{7E250AE4-3973-5DE3-93DF-6D4ECFD8BBC4}" dt="2026-05-21T17:21:38.208" v="1065" actId="1076"/>
          <ac:spMkLst>
            <pc:docMk/>
            <pc:sldMk cId="0" sldId="289"/>
            <ac:spMk id="14" creationId="{00000000-0000-0000-0000-000000000000}"/>
          </ac:spMkLst>
        </pc:spChg>
        <pc:spChg chg="del">
          <ac:chgData name="Arjun Anish" userId="ba8f6262-b7d0-484c-ac01-9e4c0ebd205c" providerId="ADAL" clId="{7E250AE4-3973-5DE3-93DF-6D4ECFD8BBC4}" dt="2026-05-20T17:08:38.089" v="769" actId="478"/>
          <ac:spMkLst>
            <pc:docMk/>
            <pc:sldMk cId="0" sldId="289"/>
            <ac:spMk id="16" creationId="{00000000-0000-0000-0000-000000000000}"/>
          </ac:spMkLst>
        </pc:spChg>
        <pc:spChg chg="del">
          <ac:chgData name="Arjun Anish" userId="ba8f6262-b7d0-484c-ac01-9e4c0ebd205c" providerId="ADAL" clId="{7E250AE4-3973-5DE3-93DF-6D4ECFD8BBC4}" dt="2026-05-20T17:08:36.462" v="768" actId="478"/>
          <ac:spMkLst>
            <pc:docMk/>
            <pc:sldMk cId="0" sldId="289"/>
            <ac:spMk id="45" creationId="{00000000-0000-0000-0000-000000000000}"/>
          </ac:spMkLst>
        </pc:spChg>
        <pc:spChg chg="del">
          <ac:chgData name="Arjun Anish" userId="ba8f6262-b7d0-484c-ac01-9e4c0ebd205c" providerId="ADAL" clId="{7E250AE4-3973-5DE3-93DF-6D4ECFD8BBC4}" dt="2026-05-20T17:08:39.674" v="770" actId="478"/>
          <ac:spMkLst>
            <pc:docMk/>
            <pc:sldMk cId="0" sldId="289"/>
            <ac:spMk id="50" creationId="{00000000-0000-0000-0000-000000000000}"/>
          </ac:spMkLst>
        </pc:spChg>
        <pc:spChg chg="del">
          <ac:chgData name="Arjun Anish" userId="ba8f6262-b7d0-484c-ac01-9e4c0ebd205c" providerId="ADAL" clId="{7E250AE4-3973-5DE3-93DF-6D4ECFD8BBC4}" dt="2026-05-20T17:08:43.729" v="771" actId="478"/>
          <ac:spMkLst>
            <pc:docMk/>
            <pc:sldMk cId="0" sldId="289"/>
            <ac:spMk id="55" creationId="{00000000-0000-0000-0000-000000000000}"/>
          </ac:spMkLst>
        </pc:spChg>
        <pc:spChg chg="mod">
          <ac:chgData name="Arjun Anish" userId="ba8f6262-b7d0-484c-ac01-9e4c0ebd205c" providerId="ADAL" clId="{7E250AE4-3973-5DE3-93DF-6D4ECFD8BBC4}" dt="2026-05-20T17:08:27.609" v="767" actId="14100"/>
          <ac:spMkLst>
            <pc:docMk/>
            <pc:sldMk cId="0" sldId="289"/>
            <ac:spMk id="57" creationId="{00000000-0000-0000-0000-000000000000}"/>
          </ac:spMkLst>
        </pc:spChg>
      </pc:sldChg>
      <pc:sldChg chg="addSp delSp modSp add mod ord modAnim">
        <pc:chgData name="Arjun Anish" userId="ba8f6262-b7d0-484c-ac01-9e4c0ebd205c" providerId="ADAL" clId="{7E250AE4-3973-5DE3-93DF-6D4ECFD8BBC4}" dt="2026-05-20T18:08:59.918" v="1027"/>
        <pc:sldMkLst>
          <pc:docMk/>
          <pc:sldMk cId="1100819505" sldId="290"/>
        </pc:sldMkLst>
        <pc:spChg chg="del">
          <ac:chgData name="Arjun Anish" userId="ba8f6262-b7d0-484c-ac01-9e4c0ebd205c" providerId="ADAL" clId="{7E250AE4-3973-5DE3-93DF-6D4ECFD8BBC4}" dt="2026-05-20T16:23:29.819" v="298" actId="478"/>
          <ac:spMkLst>
            <pc:docMk/>
            <pc:sldMk cId="1100819505" sldId="290"/>
            <ac:spMk id="3" creationId="{7F52571A-2E83-53A7-C4BD-A6B383B94DF5}"/>
          </ac:spMkLst>
        </pc:spChg>
        <pc:spChg chg="mod">
          <ac:chgData name="Arjun Anish" userId="ba8f6262-b7d0-484c-ac01-9e4c0ebd205c" providerId="ADAL" clId="{7E250AE4-3973-5DE3-93DF-6D4ECFD8BBC4}" dt="2026-05-20T16:39:55.082" v="521" actId="20577"/>
          <ac:spMkLst>
            <pc:docMk/>
            <pc:sldMk cId="1100819505" sldId="290"/>
            <ac:spMk id="4" creationId="{986D0775-FFAB-6655-6F78-0EF3D43F52B0}"/>
          </ac:spMkLst>
        </pc:spChg>
        <pc:spChg chg="del">
          <ac:chgData name="Arjun Anish" userId="ba8f6262-b7d0-484c-ac01-9e4c0ebd205c" providerId="ADAL" clId="{7E250AE4-3973-5DE3-93DF-6D4ECFD8BBC4}" dt="2026-05-20T16:23:40.254" v="310" actId="478"/>
          <ac:spMkLst>
            <pc:docMk/>
            <pc:sldMk cId="1100819505" sldId="290"/>
            <ac:spMk id="9" creationId="{88D1B690-E04D-25D5-DDDE-3FF3F903B08A}"/>
          </ac:spMkLst>
        </pc:spChg>
        <pc:spChg chg="mod">
          <ac:chgData name="Arjun Anish" userId="ba8f6262-b7d0-484c-ac01-9e4c0ebd205c" providerId="ADAL" clId="{7E250AE4-3973-5DE3-93DF-6D4ECFD8BBC4}" dt="2026-05-20T17:01:48.150" v="700" actId="1076"/>
          <ac:spMkLst>
            <pc:docMk/>
            <pc:sldMk cId="1100819505" sldId="290"/>
            <ac:spMk id="10" creationId="{83235300-4D1B-FFC1-8485-9E72DFC0B8E6}"/>
          </ac:spMkLst>
        </pc:spChg>
        <pc:spChg chg="mod">
          <ac:chgData name="Arjun Anish" userId="ba8f6262-b7d0-484c-ac01-9e4c0ebd205c" providerId="ADAL" clId="{7E250AE4-3973-5DE3-93DF-6D4ECFD8BBC4}" dt="2026-05-20T17:01:48.150" v="700" actId="1076"/>
          <ac:spMkLst>
            <pc:docMk/>
            <pc:sldMk cId="1100819505" sldId="290"/>
            <ac:spMk id="12" creationId="{65C74573-2956-28E7-AEBB-9A2965E7653B}"/>
          </ac:spMkLst>
        </pc:spChg>
        <pc:spChg chg="mod">
          <ac:chgData name="Arjun Anish" userId="ba8f6262-b7d0-484c-ac01-9e4c0ebd205c" providerId="ADAL" clId="{7E250AE4-3973-5DE3-93DF-6D4ECFD8BBC4}" dt="2026-05-20T16:55:30.610" v="690" actId="1076"/>
          <ac:spMkLst>
            <pc:docMk/>
            <pc:sldMk cId="1100819505" sldId="290"/>
            <ac:spMk id="13" creationId="{E81A67F5-DF44-FAA2-15D5-0DF5F1B1EB5C}"/>
          </ac:spMkLst>
        </pc:spChg>
        <pc:spChg chg="mod">
          <ac:chgData name="Arjun Anish" userId="ba8f6262-b7d0-484c-ac01-9e4c0ebd205c" providerId="ADAL" clId="{7E250AE4-3973-5DE3-93DF-6D4ECFD8BBC4}" dt="2026-05-20T17:01:48.150" v="700" actId="1076"/>
          <ac:spMkLst>
            <pc:docMk/>
            <pc:sldMk cId="1100819505" sldId="290"/>
            <ac:spMk id="14" creationId="{7D259765-B94B-5F4D-74AF-7170664A4EA2}"/>
          </ac:spMkLst>
        </pc:spChg>
        <pc:spChg chg="del">
          <ac:chgData name="Arjun Anish" userId="ba8f6262-b7d0-484c-ac01-9e4c0ebd205c" providerId="ADAL" clId="{7E250AE4-3973-5DE3-93DF-6D4ECFD8BBC4}" dt="2026-05-20T16:25:05.886" v="405" actId="478"/>
          <ac:spMkLst>
            <pc:docMk/>
            <pc:sldMk cId="1100819505" sldId="290"/>
            <ac:spMk id="16" creationId="{D7C3677B-85AC-21B7-7DF6-C06E7847ED58}"/>
          </ac:spMkLst>
        </pc:spChg>
        <pc:spChg chg="mod">
          <ac:chgData name="Arjun Anish" userId="ba8f6262-b7d0-484c-ac01-9e4c0ebd205c" providerId="ADAL" clId="{7E250AE4-3973-5DE3-93DF-6D4ECFD8BBC4}" dt="2026-05-20T17:01:48.150" v="700" actId="1076"/>
          <ac:spMkLst>
            <pc:docMk/>
            <pc:sldMk cId="1100819505" sldId="290"/>
            <ac:spMk id="17" creationId="{0389B361-5E69-B7F0-315A-6D96EF344CDA}"/>
          </ac:spMkLst>
        </pc:spChg>
        <pc:spChg chg="mod">
          <ac:chgData name="Arjun Anish" userId="ba8f6262-b7d0-484c-ac01-9e4c0ebd205c" providerId="ADAL" clId="{7E250AE4-3973-5DE3-93DF-6D4ECFD8BBC4}" dt="2026-05-20T17:01:48.150" v="700" actId="1076"/>
          <ac:spMkLst>
            <pc:docMk/>
            <pc:sldMk cId="1100819505" sldId="290"/>
            <ac:spMk id="20" creationId="{A316DBB1-90C5-0245-34E8-B6BD03E9200C}"/>
          </ac:spMkLst>
        </pc:spChg>
        <pc:spChg chg="mod">
          <ac:chgData name="Arjun Anish" userId="ba8f6262-b7d0-484c-ac01-9e4c0ebd205c" providerId="ADAL" clId="{7E250AE4-3973-5DE3-93DF-6D4ECFD8BBC4}" dt="2026-05-20T17:05:00.146" v="710" actId="1076"/>
          <ac:spMkLst>
            <pc:docMk/>
            <pc:sldMk cId="1100819505" sldId="290"/>
            <ac:spMk id="21" creationId="{17A659AF-FAC1-0828-BD63-FF5467437F2A}"/>
          </ac:spMkLst>
        </pc:spChg>
        <pc:spChg chg="del">
          <ac:chgData name="Arjun Anish" userId="ba8f6262-b7d0-484c-ac01-9e4c0ebd205c" providerId="ADAL" clId="{7E250AE4-3973-5DE3-93DF-6D4ECFD8BBC4}" dt="2026-05-20T16:25:03.642" v="404" actId="478"/>
          <ac:spMkLst>
            <pc:docMk/>
            <pc:sldMk cId="1100819505" sldId="290"/>
            <ac:spMk id="45" creationId="{96FE61C7-C1D2-7527-5BA3-A2CAD9165D62}"/>
          </ac:spMkLst>
        </pc:spChg>
        <pc:spChg chg="mod">
          <ac:chgData name="Arjun Anish" userId="ba8f6262-b7d0-484c-ac01-9e4c0ebd205c" providerId="ADAL" clId="{7E250AE4-3973-5DE3-93DF-6D4ECFD8BBC4}" dt="2026-05-20T16:26:49.599" v="423" actId="14100"/>
          <ac:spMkLst>
            <pc:docMk/>
            <pc:sldMk cId="1100819505" sldId="290"/>
            <ac:spMk id="46" creationId="{750C8831-2DBA-93A7-28A3-36C7BDC5DAE6}"/>
          </ac:spMkLst>
        </pc:spChg>
        <pc:spChg chg="mod">
          <ac:chgData name="Arjun Anish" userId="ba8f6262-b7d0-484c-ac01-9e4c0ebd205c" providerId="ADAL" clId="{7E250AE4-3973-5DE3-93DF-6D4ECFD8BBC4}" dt="2026-05-20T16:55:07.927" v="687" actId="1076"/>
          <ac:spMkLst>
            <pc:docMk/>
            <pc:sldMk cId="1100819505" sldId="290"/>
            <ac:spMk id="48" creationId="{F2F4DE79-7BD6-4D2E-5B1E-DF9F802F8242}"/>
          </ac:spMkLst>
        </pc:spChg>
        <pc:spChg chg="mod">
          <ac:chgData name="Arjun Anish" userId="ba8f6262-b7d0-484c-ac01-9e4c0ebd205c" providerId="ADAL" clId="{7E250AE4-3973-5DE3-93DF-6D4ECFD8BBC4}" dt="2026-05-20T17:01:48.150" v="700" actId="1076"/>
          <ac:spMkLst>
            <pc:docMk/>
            <pc:sldMk cId="1100819505" sldId="290"/>
            <ac:spMk id="49" creationId="{58BF5749-D6A6-AC02-AC87-98DD9B04A536}"/>
          </ac:spMkLst>
        </pc:spChg>
        <pc:spChg chg="del">
          <ac:chgData name="Arjun Anish" userId="ba8f6262-b7d0-484c-ac01-9e4c0ebd205c" providerId="ADAL" clId="{7E250AE4-3973-5DE3-93DF-6D4ECFD8BBC4}" dt="2026-05-20T16:24:56.076" v="401" actId="478"/>
          <ac:spMkLst>
            <pc:docMk/>
            <pc:sldMk cId="1100819505" sldId="290"/>
            <ac:spMk id="50" creationId="{DB488D70-6537-BCC5-AEF3-69C81BABBEB4}"/>
          </ac:spMkLst>
        </pc:spChg>
        <pc:spChg chg="add del mod">
          <ac:chgData name="Arjun Anish" userId="ba8f6262-b7d0-484c-ac01-9e4c0ebd205c" providerId="ADAL" clId="{7E250AE4-3973-5DE3-93DF-6D4ECFD8BBC4}" dt="2026-05-20T17:01:48.150" v="700" actId="1076"/>
          <ac:spMkLst>
            <pc:docMk/>
            <pc:sldMk cId="1100819505" sldId="290"/>
            <ac:spMk id="51" creationId="{AA19D417-220E-CDFC-9E66-69BF8CFD2595}"/>
          </ac:spMkLst>
        </pc:spChg>
        <pc:spChg chg="mod">
          <ac:chgData name="Arjun Anish" userId="ba8f6262-b7d0-484c-ac01-9e4c0ebd205c" providerId="ADAL" clId="{7E250AE4-3973-5DE3-93DF-6D4ECFD8BBC4}" dt="2026-05-20T17:01:48.150" v="700" actId="1076"/>
          <ac:spMkLst>
            <pc:docMk/>
            <pc:sldMk cId="1100819505" sldId="290"/>
            <ac:spMk id="52" creationId="{EFFE491E-91CD-8D30-045F-B9CFB8F9C24D}"/>
          </ac:spMkLst>
        </pc:spChg>
        <pc:spChg chg="mod">
          <ac:chgData name="Arjun Anish" userId="ba8f6262-b7d0-484c-ac01-9e4c0ebd205c" providerId="ADAL" clId="{7E250AE4-3973-5DE3-93DF-6D4ECFD8BBC4}" dt="2026-05-20T17:01:48.150" v="700" actId="1076"/>
          <ac:spMkLst>
            <pc:docMk/>
            <pc:sldMk cId="1100819505" sldId="290"/>
            <ac:spMk id="53" creationId="{50533F4B-0B9D-FE0D-BE09-6F2981465008}"/>
          </ac:spMkLst>
        </pc:spChg>
        <pc:spChg chg="mod">
          <ac:chgData name="Arjun Anish" userId="ba8f6262-b7d0-484c-ac01-9e4c0ebd205c" providerId="ADAL" clId="{7E250AE4-3973-5DE3-93DF-6D4ECFD8BBC4}" dt="2026-05-20T16:55:55.840" v="693" actId="1076"/>
          <ac:spMkLst>
            <pc:docMk/>
            <pc:sldMk cId="1100819505" sldId="290"/>
            <ac:spMk id="54" creationId="{B3F6CBC9-31D4-3BE1-01FD-18B4E94770D4}"/>
          </ac:spMkLst>
        </pc:spChg>
        <pc:spChg chg="del">
          <ac:chgData name="Arjun Anish" userId="ba8f6262-b7d0-484c-ac01-9e4c0ebd205c" providerId="ADAL" clId="{7E250AE4-3973-5DE3-93DF-6D4ECFD8BBC4}" dt="2026-05-20T16:24:46.071" v="387" actId="478"/>
          <ac:spMkLst>
            <pc:docMk/>
            <pc:sldMk cId="1100819505" sldId="290"/>
            <ac:spMk id="55" creationId="{8F240A86-F95C-CAA1-F321-508B1A495DAE}"/>
          </ac:spMkLst>
        </pc:spChg>
        <pc:spChg chg="del">
          <ac:chgData name="Arjun Anish" userId="ba8f6262-b7d0-484c-ac01-9e4c0ebd205c" providerId="ADAL" clId="{7E250AE4-3973-5DE3-93DF-6D4ECFD8BBC4}" dt="2026-05-20T16:29:12.655" v="444" actId="478"/>
          <ac:spMkLst>
            <pc:docMk/>
            <pc:sldMk cId="1100819505" sldId="290"/>
            <ac:spMk id="56" creationId="{4AC6D2A0-E786-3788-8879-EDC909FC4805}"/>
          </ac:spMkLst>
        </pc:spChg>
        <pc:spChg chg="del">
          <ac:chgData name="Arjun Anish" userId="ba8f6262-b7d0-484c-ac01-9e4c0ebd205c" providerId="ADAL" clId="{7E250AE4-3973-5DE3-93DF-6D4ECFD8BBC4}" dt="2026-05-20T16:29:15.301" v="445" actId="478"/>
          <ac:spMkLst>
            <pc:docMk/>
            <pc:sldMk cId="1100819505" sldId="290"/>
            <ac:spMk id="57" creationId="{204D79CB-CE43-856A-AB0C-6FB7CBA7DDC4}"/>
          </ac:spMkLst>
        </pc:spChg>
        <pc:picChg chg="add mod">
          <ac:chgData name="Arjun Anish" userId="ba8f6262-b7d0-484c-ac01-9e4c0ebd205c" providerId="ADAL" clId="{7E250AE4-3973-5DE3-93DF-6D4ECFD8BBC4}" dt="2026-05-20T17:27:20.983" v="986" actId="208"/>
          <ac:picMkLst>
            <pc:docMk/>
            <pc:sldMk cId="1100819505" sldId="290"/>
            <ac:picMk id="15" creationId="{90A988D0-CECF-0EA4-6906-8811EED59E37}"/>
          </ac:picMkLst>
        </pc:picChg>
        <pc:picChg chg="add del mod">
          <ac:chgData name="Arjun Anish" userId="ba8f6262-b7d0-484c-ac01-9e4c0ebd205c" providerId="ADAL" clId="{7E250AE4-3973-5DE3-93DF-6D4ECFD8BBC4}" dt="2026-05-20T17:25:30.403" v="961" actId="478"/>
          <ac:picMkLst>
            <pc:docMk/>
            <pc:sldMk cId="1100819505" sldId="290"/>
            <ac:picMk id="22" creationId="{5F2A367A-DA73-EFAC-A9F2-918D48FDB217}"/>
          </ac:picMkLst>
        </pc:picChg>
        <pc:picChg chg="add mod">
          <ac:chgData name="Arjun Anish" userId="ba8f6262-b7d0-484c-ac01-9e4c0ebd205c" providerId="ADAL" clId="{7E250AE4-3973-5DE3-93DF-6D4ECFD8BBC4}" dt="2026-05-20T17:27:20.983" v="986" actId="208"/>
          <ac:picMkLst>
            <pc:docMk/>
            <pc:sldMk cId="1100819505" sldId="290"/>
            <ac:picMk id="24" creationId="{07CBE261-4C7C-A106-6B17-0C6983FB843C}"/>
          </ac:picMkLst>
        </pc:picChg>
        <pc:picChg chg="add mod">
          <ac:chgData name="Arjun Anish" userId="ba8f6262-b7d0-484c-ac01-9e4c0ebd205c" providerId="ADAL" clId="{7E250AE4-3973-5DE3-93DF-6D4ECFD8BBC4}" dt="2026-05-20T17:27:39.920" v="993" actId="207"/>
          <ac:picMkLst>
            <pc:docMk/>
            <pc:sldMk cId="1100819505" sldId="290"/>
            <ac:picMk id="26" creationId="{92E851BA-9DD9-BAC3-3DC0-A9043DB053EB}"/>
          </ac:picMkLst>
        </pc:picChg>
        <pc:picChg chg="add del mod">
          <ac:chgData name="Arjun Anish" userId="ba8f6262-b7d0-484c-ac01-9e4c0ebd205c" providerId="ADAL" clId="{7E250AE4-3973-5DE3-93DF-6D4ECFD8BBC4}" dt="2026-05-20T17:26:00.855" v="965" actId="478"/>
          <ac:picMkLst>
            <pc:docMk/>
            <pc:sldMk cId="1100819505" sldId="290"/>
            <ac:picMk id="28" creationId="{813FAF66-8100-4A71-1C03-C859AC925739}"/>
          </ac:picMkLst>
        </pc:picChg>
        <pc:picChg chg="add mod">
          <ac:chgData name="Arjun Anish" userId="ba8f6262-b7d0-484c-ac01-9e4c0ebd205c" providerId="ADAL" clId="{7E250AE4-3973-5DE3-93DF-6D4ECFD8BBC4}" dt="2026-05-20T17:27:20.983" v="986" actId="208"/>
          <ac:picMkLst>
            <pc:docMk/>
            <pc:sldMk cId="1100819505" sldId="290"/>
            <ac:picMk id="30" creationId="{BD07987A-6E25-5308-F818-C3DF221AF5F4}"/>
          </ac:picMkLst>
        </pc:picChg>
      </pc:sldChg>
      <pc:sldChg chg="addSp modSp add mod ord modAnim">
        <pc:chgData name="Arjun Anish" userId="ba8f6262-b7d0-484c-ac01-9e4c0ebd205c" providerId="ADAL" clId="{7E250AE4-3973-5DE3-93DF-6D4ECFD8BBC4}" dt="2026-05-21T17:19:48.777" v="1063" actId="14100"/>
        <pc:sldMkLst>
          <pc:docMk/>
          <pc:sldMk cId="2775394431" sldId="291"/>
        </pc:sldMkLst>
        <pc:spChg chg="mod">
          <ac:chgData name="Arjun Anish" userId="ba8f6262-b7d0-484c-ac01-9e4c0ebd205c" providerId="ADAL" clId="{7E250AE4-3973-5DE3-93DF-6D4ECFD8BBC4}" dt="2026-05-20T16:40:05.209" v="540" actId="20577"/>
          <ac:spMkLst>
            <pc:docMk/>
            <pc:sldMk cId="2775394431" sldId="291"/>
            <ac:spMk id="4" creationId="{44748791-EF6C-A8F2-B6AE-DF3F1AB02091}"/>
          </ac:spMkLst>
        </pc:spChg>
        <pc:spChg chg="mod">
          <ac:chgData name="Arjun Anish" userId="ba8f6262-b7d0-484c-ac01-9e4c0ebd205c" providerId="ADAL" clId="{7E250AE4-3973-5DE3-93DF-6D4ECFD8BBC4}" dt="2026-05-21T17:19:33.211" v="1059" actId="14100"/>
          <ac:spMkLst>
            <pc:docMk/>
            <pc:sldMk cId="2775394431" sldId="291"/>
            <ac:spMk id="10" creationId="{E79787FB-600B-BD06-9172-C72442B96134}"/>
          </ac:spMkLst>
        </pc:spChg>
        <pc:spChg chg="mod">
          <ac:chgData name="Arjun Anish" userId="ba8f6262-b7d0-484c-ac01-9e4c0ebd205c" providerId="ADAL" clId="{7E250AE4-3973-5DE3-93DF-6D4ECFD8BBC4}" dt="2026-05-20T16:49:38.217" v="623" actId="1076"/>
          <ac:spMkLst>
            <pc:docMk/>
            <pc:sldMk cId="2775394431" sldId="291"/>
            <ac:spMk id="12" creationId="{DD62F71B-ECF9-BB98-6130-D52D39A088AC}"/>
          </ac:spMkLst>
        </pc:spChg>
        <pc:spChg chg="mod">
          <ac:chgData name="Arjun Anish" userId="ba8f6262-b7d0-484c-ac01-9e4c0ebd205c" providerId="ADAL" clId="{7E250AE4-3973-5DE3-93DF-6D4ECFD8BBC4}" dt="2026-05-20T16:53:25.145" v="674" actId="1076"/>
          <ac:spMkLst>
            <pc:docMk/>
            <pc:sldMk cId="2775394431" sldId="291"/>
            <ac:spMk id="13" creationId="{16D87F54-0806-438F-9333-A76688C6D5EC}"/>
          </ac:spMkLst>
        </pc:spChg>
        <pc:spChg chg="mod">
          <ac:chgData name="Arjun Anish" userId="ba8f6262-b7d0-484c-ac01-9e4c0ebd205c" providerId="ADAL" clId="{7E250AE4-3973-5DE3-93DF-6D4ECFD8BBC4}" dt="2026-05-20T16:53:35.661" v="675" actId="1076"/>
          <ac:spMkLst>
            <pc:docMk/>
            <pc:sldMk cId="2775394431" sldId="291"/>
            <ac:spMk id="14" creationId="{7D61D531-7EE5-06C1-8FFC-68CC5940806B}"/>
          </ac:spMkLst>
        </pc:spChg>
        <pc:spChg chg="mod">
          <ac:chgData name="Arjun Anish" userId="ba8f6262-b7d0-484c-ac01-9e4c0ebd205c" providerId="ADAL" clId="{7E250AE4-3973-5DE3-93DF-6D4ECFD8BBC4}" dt="2026-05-21T17:19:37.710" v="1060" actId="14100"/>
          <ac:spMkLst>
            <pc:docMk/>
            <pc:sldMk cId="2775394431" sldId="291"/>
            <ac:spMk id="17" creationId="{BE00BA69-6D4C-CDDD-3C46-158842CD7749}"/>
          </ac:spMkLst>
        </pc:spChg>
        <pc:spChg chg="mod">
          <ac:chgData name="Arjun Anish" userId="ba8f6262-b7d0-484c-ac01-9e4c0ebd205c" providerId="ADAL" clId="{7E250AE4-3973-5DE3-93DF-6D4ECFD8BBC4}" dt="2026-05-20T16:45:40.802" v="598" actId="1076"/>
          <ac:spMkLst>
            <pc:docMk/>
            <pc:sldMk cId="2775394431" sldId="291"/>
            <ac:spMk id="18" creationId="{2CDADD77-68BF-D7AB-36B0-F8475ABC380E}"/>
          </ac:spMkLst>
        </pc:spChg>
        <pc:spChg chg="add mod">
          <ac:chgData name="Arjun Anish" userId="ba8f6262-b7d0-484c-ac01-9e4c0ebd205c" providerId="ADAL" clId="{7E250AE4-3973-5DE3-93DF-6D4ECFD8BBC4}" dt="2026-05-20T16:46:04.517" v="602"/>
          <ac:spMkLst>
            <pc:docMk/>
            <pc:sldMk cId="2775394431" sldId="291"/>
            <ac:spMk id="19" creationId="{729818E1-90CD-09C7-B7C4-73454DCBDD71}"/>
          </ac:spMkLst>
        </pc:spChg>
        <pc:spChg chg="mod">
          <ac:chgData name="Arjun Anish" userId="ba8f6262-b7d0-484c-ac01-9e4c0ebd205c" providerId="ADAL" clId="{7E250AE4-3973-5DE3-93DF-6D4ECFD8BBC4}" dt="2026-05-20T16:53:18.078" v="673" actId="1076"/>
          <ac:spMkLst>
            <pc:docMk/>
            <pc:sldMk cId="2775394431" sldId="291"/>
            <ac:spMk id="20" creationId="{C589C1F3-2324-8462-F6D5-7D4E5C8A48FF}"/>
          </ac:spMkLst>
        </pc:spChg>
        <pc:spChg chg="mod">
          <ac:chgData name="Arjun Anish" userId="ba8f6262-b7d0-484c-ac01-9e4c0ebd205c" providerId="ADAL" clId="{7E250AE4-3973-5DE3-93DF-6D4ECFD8BBC4}" dt="2026-05-20T16:53:14.012" v="672" actId="1076"/>
          <ac:spMkLst>
            <pc:docMk/>
            <pc:sldMk cId="2775394431" sldId="291"/>
            <ac:spMk id="21" creationId="{A332C9C5-AD50-1ADE-9590-6490DD90EA08}"/>
          </ac:spMkLst>
        </pc:spChg>
        <pc:spChg chg="add mod">
          <ac:chgData name="Arjun Anish" userId="ba8f6262-b7d0-484c-ac01-9e4c0ebd205c" providerId="ADAL" clId="{7E250AE4-3973-5DE3-93DF-6D4ECFD8BBC4}" dt="2026-05-20T16:46:04.517" v="602"/>
          <ac:spMkLst>
            <pc:docMk/>
            <pc:sldMk cId="2775394431" sldId="291"/>
            <ac:spMk id="22" creationId="{BA18C673-0B0C-B146-71BB-5DA332E9F313}"/>
          </ac:spMkLst>
        </pc:spChg>
        <pc:spChg chg="add mod">
          <ac:chgData name="Arjun Anish" userId="ba8f6262-b7d0-484c-ac01-9e4c0ebd205c" providerId="ADAL" clId="{7E250AE4-3973-5DE3-93DF-6D4ECFD8BBC4}" dt="2026-05-20T16:46:04.517" v="602"/>
          <ac:spMkLst>
            <pc:docMk/>
            <pc:sldMk cId="2775394431" sldId="291"/>
            <ac:spMk id="23" creationId="{420DBD75-2359-501F-0547-E1AA830F9C13}"/>
          </ac:spMkLst>
        </pc:spChg>
        <pc:spChg chg="add mod">
          <ac:chgData name="Arjun Anish" userId="ba8f6262-b7d0-484c-ac01-9e4c0ebd205c" providerId="ADAL" clId="{7E250AE4-3973-5DE3-93DF-6D4ECFD8BBC4}" dt="2026-05-20T16:46:04.517" v="602"/>
          <ac:spMkLst>
            <pc:docMk/>
            <pc:sldMk cId="2775394431" sldId="291"/>
            <ac:spMk id="24" creationId="{246F9635-7911-8A8F-4A83-01E09685C0C6}"/>
          </ac:spMkLst>
        </pc:spChg>
        <pc:spChg chg="add mod">
          <ac:chgData name="Arjun Anish" userId="ba8f6262-b7d0-484c-ac01-9e4c0ebd205c" providerId="ADAL" clId="{7E250AE4-3973-5DE3-93DF-6D4ECFD8BBC4}" dt="2026-05-21T17:19:48.777" v="1063" actId="14100"/>
          <ac:spMkLst>
            <pc:docMk/>
            <pc:sldMk cId="2775394431" sldId="291"/>
            <ac:spMk id="25" creationId="{E7B98F75-47E1-0BAB-14D5-3FA336CBB4AA}"/>
          </ac:spMkLst>
        </pc:spChg>
        <pc:spChg chg="add mod">
          <ac:chgData name="Arjun Anish" userId="ba8f6262-b7d0-484c-ac01-9e4c0ebd205c" providerId="ADAL" clId="{7E250AE4-3973-5DE3-93DF-6D4ECFD8BBC4}" dt="2026-05-20T16:49:38.217" v="623" actId="1076"/>
          <ac:spMkLst>
            <pc:docMk/>
            <pc:sldMk cId="2775394431" sldId="291"/>
            <ac:spMk id="26" creationId="{8A9FE8BA-D8E5-6454-D874-42476DDC4493}"/>
          </ac:spMkLst>
        </pc:spChg>
        <pc:spChg chg="add mod">
          <ac:chgData name="Arjun Anish" userId="ba8f6262-b7d0-484c-ac01-9e4c0ebd205c" providerId="ADAL" clId="{7E250AE4-3973-5DE3-93DF-6D4ECFD8BBC4}" dt="2026-05-20T16:48:34.897" v="621" actId="20577"/>
          <ac:spMkLst>
            <pc:docMk/>
            <pc:sldMk cId="2775394431" sldId="291"/>
            <ac:spMk id="27" creationId="{D69A332E-A251-B89A-9C16-7173BA7C6AEE}"/>
          </ac:spMkLst>
        </pc:spChg>
        <pc:spChg chg="add mod">
          <ac:chgData name="Arjun Anish" userId="ba8f6262-b7d0-484c-ac01-9e4c0ebd205c" providerId="ADAL" clId="{7E250AE4-3973-5DE3-93DF-6D4ECFD8BBC4}" dt="2026-05-20T16:54:02.027" v="680" actId="1076"/>
          <ac:spMkLst>
            <pc:docMk/>
            <pc:sldMk cId="2775394431" sldId="291"/>
            <ac:spMk id="28" creationId="{BE98DCA0-B962-41F8-AE9B-370DDD6CC41A}"/>
          </ac:spMkLst>
        </pc:spChg>
        <pc:spChg chg="mod">
          <ac:chgData name="Arjun Anish" userId="ba8f6262-b7d0-484c-ac01-9e4c0ebd205c" providerId="ADAL" clId="{7E250AE4-3973-5DE3-93DF-6D4ECFD8BBC4}" dt="2026-05-21T17:19:42.427" v="1061" actId="14100"/>
          <ac:spMkLst>
            <pc:docMk/>
            <pc:sldMk cId="2775394431" sldId="291"/>
            <ac:spMk id="46" creationId="{212F0A57-C660-BC9E-F2A5-F987BFF4C3DB}"/>
          </ac:spMkLst>
        </pc:spChg>
        <pc:spChg chg="mod">
          <ac:chgData name="Arjun Anish" userId="ba8f6262-b7d0-484c-ac01-9e4c0ebd205c" providerId="ADAL" clId="{7E250AE4-3973-5DE3-93DF-6D4ECFD8BBC4}" dt="2026-05-20T16:49:38.217" v="623" actId="1076"/>
          <ac:spMkLst>
            <pc:docMk/>
            <pc:sldMk cId="2775394431" sldId="291"/>
            <ac:spMk id="47" creationId="{A05EF11C-5563-46E7-9A0D-735D2438BA8B}"/>
          </ac:spMkLst>
        </pc:spChg>
        <pc:spChg chg="mod">
          <ac:chgData name="Arjun Anish" userId="ba8f6262-b7d0-484c-ac01-9e4c0ebd205c" providerId="ADAL" clId="{7E250AE4-3973-5DE3-93DF-6D4ECFD8BBC4}" dt="2026-05-20T16:49:38.217" v="623" actId="1076"/>
          <ac:spMkLst>
            <pc:docMk/>
            <pc:sldMk cId="2775394431" sldId="291"/>
            <ac:spMk id="48" creationId="{7D6EB6EC-F177-FE29-8E2C-50E06C8C4BDF}"/>
          </ac:spMkLst>
        </pc:spChg>
        <pc:spChg chg="mod">
          <ac:chgData name="Arjun Anish" userId="ba8f6262-b7d0-484c-ac01-9e4c0ebd205c" providerId="ADAL" clId="{7E250AE4-3973-5DE3-93DF-6D4ECFD8BBC4}" dt="2026-05-20T16:52:52.479" v="669" actId="1076"/>
          <ac:spMkLst>
            <pc:docMk/>
            <pc:sldMk cId="2775394431" sldId="291"/>
            <ac:spMk id="49" creationId="{171358B1-632A-6B49-58C6-90997621A398}"/>
          </ac:spMkLst>
        </pc:spChg>
        <pc:spChg chg="mod">
          <ac:chgData name="Arjun Anish" userId="ba8f6262-b7d0-484c-ac01-9e4c0ebd205c" providerId="ADAL" clId="{7E250AE4-3973-5DE3-93DF-6D4ECFD8BBC4}" dt="2026-05-21T17:19:45.111" v="1062" actId="14100"/>
          <ac:spMkLst>
            <pc:docMk/>
            <pc:sldMk cId="2775394431" sldId="291"/>
            <ac:spMk id="51" creationId="{68B7E0F1-8B10-85C6-F21E-1BEC934B0A37}"/>
          </ac:spMkLst>
        </pc:spChg>
        <pc:spChg chg="mod">
          <ac:chgData name="Arjun Anish" userId="ba8f6262-b7d0-484c-ac01-9e4c0ebd205c" providerId="ADAL" clId="{7E250AE4-3973-5DE3-93DF-6D4ECFD8BBC4}" dt="2026-05-20T16:47:53.982" v="614" actId="14100"/>
          <ac:spMkLst>
            <pc:docMk/>
            <pc:sldMk cId="2775394431" sldId="291"/>
            <ac:spMk id="52" creationId="{A36FB6FC-6E7B-C156-728C-759175AD2F19}"/>
          </ac:spMkLst>
        </pc:spChg>
        <pc:spChg chg="mod">
          <ac:chgData name="Arjun Anish" userId="ba8f6262-b7d0-484c-ac01-9e4c0ebd205c" providerId="ADAL" clId="{7E250AE4-3973-5DE3-93DF-6D4ECFD8BBC4}" dt="2026-05-20T16:47:27.933" v="611" actId="1076"/>
          <ac:spMkLst>
            <pc:docMk/>
            <pc:sldMk cId="2775394431" sldId="291"/>
            <ac:spMk id="53" creationId="{E7CF8201-A1AC-4C6A-9AC6-B34377B1B88D}"/>
          </ac:spMkLst>
        </pc:spChg>
        <pc:spChg chg="mod">
          <ac:chgData name="Arjun Anish" userId="ba8f6262-b7d0-484c-ac01-9e4c0ebd205c" providerId="ADAL" clId="{7E250AE4-3973-5DE3-93DF-6D4ECFD8BBC4}" dt="2026-05-20T16:52:39.845" v="666" actId="1076"/>
          <ac:spMkLst>
            <pc:docMk/>
            <pc:sldMk cId="2775394431" sldId="291"/>
            <ac:spMk id="54" creationId="{B7EB9CD2-B308-1703-6E26-C144095747C8}"/>
          </ac:spMkLst>
        </pc:spChg>
        <pc:picChg chg="add mod">
          <ac:chgData name="Arjun Anish" userId="ba8f6262-b7d0-484c-ac01-9e4c0ebd205c" providerId="ADAL" clId="{7E250AE4-3973-5DE3-93DF-6D4ECFD8BBC4}" dt="2026-05-20T16:44:35.353" v="585" actId="1076"/>
          <ac:picMkLst>
            <pc:docMk/>
            <pc:sldMk cId="2775394431" sldId="291"/>
            <ac:picMk id="3" creationId="{40E3238F-0703-9C56-4AFA-2345E94081F9}"/>
          </ac:picMkLst>
        </pc:picChg>
        <pc:picChg chg="add mod">
          <ac:chgData name="Arjun Anish" userId="ba8f6262-b7d0-484c-ac01-9e4c0ebd205c" providerId="ADAL" clId="{7E250AE4-3973-5DE3-93DF-6D4ECFD8BBC4}" dt="2026-05-20T16:45:54.969" v="601" actId="1076"/>
          <ac:picMkLst>
            <pc:docMk/>
            <pc:sldMk cId="2775394431" sldId="291"/>
            <ac:picMk id="9" creationId="{9E6A5994-C883-9776-26AF-D0BE946F3573}"/>
          </ac:picMkLst>
        </pc:picChg>
        <pc:picChg chg="add mod">
          <ac:chgData name="Arjun Anish" userId="ba8f6262-b7d0-484c-ac01-9e4c0ebd205c" providerId="ADAL" clId="{7E250AE4-3973-5DE3-93DF-6D4ECFD8BBC4}" dt="2026-05-20T16:47:01.968" v="609" actId="1076"/>
          <ac:picMkLst>
            <pc:docMk/>
            <pc:sldMk cId="2775394431" sldId="291"/>
            <ac:picMk id="11" creationId="{3FBA725E-786C-5CE1-7BA3-515BCC2BEFA1}"/>
          </ac:picMkLst>
        </pc:picChg>
        <pc:picChg chg="add mod">
          <ac:chgData name="Arjun Anish" userId="ba8f6262-b7d0-484c-ac01-9e4c0ebd205c" providerId="ADAL" clId="{7E250AE4-3973-5DE3-93DF-6D4ECFD8BBC4}" dt="2026-05-20T16:47:44.417" v="613" actId="1076"/>
          <ac:picMkLst>
            <pc:docMk/>
            <pc:sldMk cId="2775394431" sldId="291"/>
            <ac:picMk id="15" creationId="{03B844A6-D4D6-2E88-1DED-96582745CC44}"/>
          </ac:picMkLst>
        </pc:picChg>
        <pc:picChg chg="add mod">
          <ac:chgData name="Arjun Anish" userId="ba8f6262-b7d0-484c-ac01-9e4c0ebd205c" providerId="ADAL" clId="{7E250AE4-3973-5DE3-93DF-6D4ECFD8BBC4}" dt="2026-05-20T16:48:41.649" v="622" actId="1076"/>
          <ac:picMkLst>
            <pc:docMk/>
            <pc:sldMk cId="2775394431" sldId="291"/>
            <ac:picMk id="16" creationId="{26D038D4-EB29-B833-5228-92AC1B5506FD}"/>
          </ac:picMkLst>
        </pc:picChg>
      </pc:sldChg>
    </pc:docChg>
  </pc:docChgLst>
</pc:chgInfo>
</file>

<file path=ppt/comments/modernComment_11D_0.xml><?xml version="1.0" encoding="utf-8"?>
<p188:cmLst xmlns:a="http://schemas.openxmlformats.org/drawingml/2006/main" xmlns:r="http://schemas.openxmlformats.org/officeDocument/2006/relationships" xmlns:p188="http://schemas.microsoft.com/office/powerpoint/2018/8/main">
  <p188:cm id="{5D3713B9-96E7-4479-95CC-A9FE8A303112}" authorId="{2933427E-92B3-7880-21FE-015126000F17}" created="2026-05-18T18:35:07.073">
    <ac:txMkLst xmlns:ac="http://schemas.microsoft.com/office/drawing/2013/main/command">
      <pc:docMk xmlns:pc="http://schemas.microsoft.com/office/powerpoint/2013/main/command"/>
      <pc:sldMk xmlns:pc="http://schemas.microsoft.com/office/powerpoint/2013/main/command" cId="0" sldId="285"/>
      <ac:spMk id="9"/>
      <ac:txMk cp="37" len="12">
        <ac:context len="50" hash="3479651977"/>
      </ac:txMk>
    </ac:txMkLst>
    <p188:pos x="4040037" y="359433"/>
    <p188:txBody>
      <a:bodyPr/>
      <a:lstStyle/>
      <a:p>
        <a:r>
          <a:rPr lang="zh-CN" altLang="en-US"/>
          <a:t>[@Mengyi Liu] I would start the list with Rick, since he is chairing the board</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4C1D5675-B9BA-4C48-AC14-310589DED09C}" authorId="{745E9155-0438-7EFB-F44C-2B27896594E4}" created="2026-05-16T16:23:12.050">
    <ac:txMkLst xmlns:ac="http://schemas.microsoft.com/office/drawing/2013/main/command">
      <pc:docMk xmlns:pc="http://schemas.microsoft.com/office/powerpoint/2013/main/command"/>
      <pc:sldMk xmlns:pc="http://schemas.microsoft.com/office/powerpoint/2013/main/command" cId="0" sldId="273"/>
      <ac:spMk id="39"/>
      <ac:txMk cp="0" len="17">
        <ac:context len="18" hash="2711685558"/>
      </ac:txMk>
    </ac:txMkLst>
    <p188:pos x="1672141" y="183504"/>
    <p188:replyLst>
      <p188:reply id="{EFD80256-F62D-4154-AA86-9203ABACA26A}" authorId="{37D20EF2-B993-9247-9206-CB110CE95BA5}" created="2026-05-16T16:52:05.899">
        <p188:txBody>
          <a:bodyPr/>
          <a:lstStyle/>
          <a:p>
            <a:r>
              <a:rPr lang="zh-CN" altLang="en-US"/>
              <a:t>the same with above</a:t>
            </a:r>
          </a:p>
        </p188:txBody>
      </p188:reply>
    </p188:replyLst>
    <p188:txBody>
      <a:bodyPr/>
      <a:lstStyle/>
      <a:p>
        <a:r>
          <a:rPr lang="zh-CN" altLang="en-US"/>
          <a:t>[@Mengyi Liu] I am not sure about putting this as a point highlighted. </a:t>
        </a:r>
      </a:p>
    </p188:txBody>
  </p188:cm>
  <p188:cm id="{0D9EA66D-89E8-4F68-B62C-DD18DBD00B6F}" authorId="{745E9155-0438-7EFB-F44C-2B27896594E4}" created="2026-05-16T16:24:00.494">
    <ac:txMkLst xmlns:ac="http://schemas.microsoft.com/office/drawing/2013/main/command">
      <pc:docMk xmlns:pc="http://schemas.microsoft.com/office/powerpoint/2013/main/command"/>
      <pc:sldMk xmlns:pc="http://schemas.microsoft.com/office/powerpoint/2013/main/command" cId="0" sldId="273"/>
      <ac:spMk id="23"/>
      <ac:txMk cp="1">
        <ac:context len="268" hash="1589165286"/>
      </ac:txMk>
    </ac:txMkLst>
    <p188:pos x="608428" y="186006"/>
    <p188:replyLst>
      <p188:reply id="{1EBB8997-039E-4CC9-A141-3DDF975E8965}" authorId="{37D20EF2-B993-9247-9206-CB110CE95BA5}" created="2026-05-16T16:51:56.633">
        <p188:txBody>
          <a:bodyPr/>
          <a:lstStyle/>
          <a:p>
            <a:r>
              <a:rPr lang="zh-CN" altLang="en-US"/>
              <a:t>i put it in the notes and we send both to rob to let him help us.</a:t>
            </a:r>
          </a:p>
        </p188:txBody>
      </p188:reply>
    </p188:replyLst>
    <p188:txBody>
      <a:bodyPr/>
      <a:lstStyle/>
      <a:p>
        <a:r>
          <a:rPr lang="zh-CN" altLang="en-US"/>
          <a:t>[@Mengyi Liu] Low risk is also not the right wording, too direct. Low cost is better alternative,. </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38E3F689-6EBD-46D0-9940-F138E8E61836}" authorId="{37D20EF2-B993-9247-9206-CB110CE95BA5}" created="2026-05-16T16:53:39.447">
    <pc:sldMkLst xmlns:pc="http://schemas.microsoft.com/office/powerpoint/2013/main/command">
      <pc:docMk/>
      <pc:sldMk cId="0" sldId="274"/>
    </pc:sldMkLst>
    <p188:replyLst>
      <p188:reply id="{74B05441-F154-4013-AE9D-60F0FD3EE267}" authorId="{37D20EF2-B993-9247-9206-CB110CE95BA5}" created="2026-05-16T16:53:52.994">
        <p188:txBody>
          <a:bodyPr/>
          <a:lstStyle/>
          <a:p>
            <a:r>
              <a:rPr lang="zh-CN" altLang="en-US"/>
              <a:t>[@Arjun Anish] </a:t>
            </a:r>
          </a:p>
        </p188:txBody>
      </p188:reply>
    </p188:replyLst>
    <p188:txBody>
      <a:bodyPr/>
      <a:lstStyle/>
      <a:p>
        <a:r>
          <a:rPr lang="zh-CN" altLang="en-US"/>
          <a:t>it's better to have a script. you can put this in notes below </a:t>
        </a:r>
      </a:p>
    </p188:txBody>
  </p188:cm>
  <p188:cm id="{315FA9D9-F645-4C0A-B000-3511A5D576DF}" authorId="{37D20EF2-B993-9247-9206-CB110CE95BA5}" created="2026-05-16T18:32:04.863">
    <pc:sldMkLst xmlns:pc="http://schemas.microsoft.com/office/powerpoint/2013/main/command">
      <pc:docMk/>
      <pc:sldMk cId="0" sldId="274"/>
    </pc:sldMkLst>
    <p188:txBody>
      <a:bodyPr/>
      <a:lstStyle/>
      <a:p>
        <a:r>
          <a:rPr lang="zh-CN" altLang="en-US"/>
          <a:t>[@Arjun Anish]I changed the colors and logos to make the whole deck more consistent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u="sng">
                <a:highlight>
                  <a:srgbClr val="FFFF00"/>
                </a:highlight>
                <a:ea typeface="Calibri" panose="020F0502020204030204"/>
                <a:cs typeface="Calibri" panose="020F0502020204030204"/>
                <a:sym typeface="+mn-ea"/>
              </a:rPr>
              <a:t>60s arjun</a:t>
            </a:r>
            <a:endParaRPr lang="en-US" b="1" i="1" u="sng">
              <a:highlight>
                <a:srgbClr val="FFFF00"/>
              </a:highlight>
              <a:ea typeface="Calibri" panose="020F0502020204030204"/>
              <a:cs typeface="Calibri" panose="020F0502020204030204"/>
            </a:endParaRPr>
          </a:p>
          <a:p>
            <a:endParaRPr lang="en-US" altLang="zh-CN"/>
          </a:p>
          <a:p>
            <a:r>
              <a:rPr lang="en-US" altLang="zh-CN">
                <a:ea typeface="宋体" panose="02010600030101010101" pitchFamily="2" charset="-122"/>
              </a:rPr>
              <a:t>Good morning everyone, and thank you so much for taking the time to meet with us today.</a:t>
            </a:r>
            <a:endParaRPr lang="en-US" altLang="zh-CN">
              <a:ea typeface="宋体" panose="02010600030101010101" pitchFamily="2" charset="-122"/>
              <a:cs typeface="Calibri" panose="020F0502020204030204"/>
            </a:endParaRPr>
          </a:p>
          <a:p>
            <a:endParaRPr lang="en-US" altLang="zh-CN"/>
          </a:p>
          <a:p>
            <a:r>
              <a:rPr lang="en-US" altLang="zh-CN">
                <a:ea typeface="宋体" panose="02010600030101010101" pitchFamily="2" charset="-122"/>
              </a:rPr>
              <a:t>I’m arjun, and this is </a:t>
            </a:r>
            <a:r>
              <a:rPr lang="en-US" altLang="zh-CN" err="1">
                <a:ea typeface="宋体" panose="02010600030101010101" pitchFamily="2" charset="-122"/>
              </a:rPr>
              <a:t>mengyi</a:t>
            </a:r>
            <a:r>
              <a:rPr lang="en-US" altLang="zh-CN">
                <a:ea typeface="宋体" panose="02010600030101010101" pitchFamily="2" charset="-122"/>
              </a:rPr>
              <a:t> and aarti.</a:t>
            </a:r>
            <a:endParaRPr lang="en-US" altLang="zh-CN">
              <a:ea typeface="宋体" panose="02010600030101010101" pitchFamily="2" charset="-122"/>
              <a:cs typeface="Calibri" panose="020F0502020204030204"/>
            </a:endParaRPr>
          </a:p>
          <a:p>
            <a:endParaRPr lang="en-US" altLang="zh-CN">
              <a:ea typeface="宋体" panose="02010600030101010101" pitchFamily="2" charset="-122"/>
              <a:cs typeface="Calibri" panose="020F0502020204030204"/>
            </a:endParaRPr>
          </a:p>
          <a:p>
            <a:r>
              <a:rPr lang="en-GB"/>
              <a:t>We are Impact Consulting. Today we are representing a team of five Rotman MBA graduates, but before we stepped onto campus, we were professionals managing complex sales cycles, driving strategy, and working with enterprise clients. As a group we’re incredibly hungry, customer-obsessed, and want to bring a fresh, execution-focused perspective to the Canadian business landscape.</a:t>
            </a:r>
            <a:br>
              <a:rPr lang="en-GB">
                <a:cs typeface="+mn-lt"/>
              </a:rPr>
            </a:br>
            <a:br>
              <a:rPr lang="en-GB">
                <a:cs typeface="+mn-lt"/>
              </a:rPr>
            </a:br>
            <a:r>
              <a:rPr lang="en-GB"/>
              <a:t>Our goal is simple: we wish to be the preferred partner for top-tier, consulting services to commercial businesses and organizations that need serious strategic support but want a leaner, more agile partner without breaking your budgets. </a:t>
            </a:r>
            <a:br>
              <a:rPr lang="en-GB">
                <a:cs typeface="+mn-lt"/>
              </a:rPr>
            </a:br>
            <a:endParaRPr lang="en-US" altLang="zh-CN"/>
          </a:p>
          <a:p>
            <a:endParaRPr lang="en-US" altLang="zh-CN">
              <a:ea typeface="宋体" panose="02010600030101010101" pitchFamily="2" charset="-122"/>
              <a:cs typeface="Calibri" panose="020F0502020204030204"/>
            </a:endParaRPr>
          </a:p>
          <a:p>
            <a:r>
              <a:rPr lang="en-US" altLang="zh-CN">
                <a:highlight>
                  <a:srgbClr val="FFFF00"/>
                </a:highlight>
                <a:ea typeface="宋体" panose="02010600030101010101" pitchFamily="2" charset="-122"/>
                <a:cs typeface="Calibri" panose="020F0502020204030204"/>
              </a:rPr>
              <a:t>5min</a:t>
            </a:r>
          </a:p>
          <a:p>
            <a:endParaRPr lang="en-US" altLang="zh-CN"/>
          </a:p>
          <a:p>
            <a:r>
              <a:rPr lang="en-US" b="1"/>
              <a:t>Market sizing</a:t>
            </a:r>
            <a:r>
              <a:rPr lang="en-US"/>
              <a:t> /</a:t>
            </a:r>
            <a:r>
              <a:rPr lang="en-US" b="1"/>
              <a:t>Market entry feasibility</a:t>
            </a:r>
          </a:p>
          <a:p>
            <a:r>
              <a:rPr lang="en-US" b="1"/>
              <a:t>Customer segmentation</a:t>
            </a:r>
            <a:r>
              <a:rPr lang="en-US"/>
              <a:t> </a:t>
            </a:r>
            <a:endParaRPr lang="en-US">
              <a:ea typeface="Calibri" panose="020F0502020204030204"/>
              <a:cs typeface="Calibri" panose="020F0502020204030204"/>
            </a:endParaRPr>
          </a:p>
          <a:p>
            <a:r>
              <a:rPr lang="en-US" b="1"/>
              <a:t>Competitor benchmarking</a:t>
            </a:r>
            <a:r>
              <a:rPr lang="en-US"/>
              <a:t> </a:t>
            </a:r>
            <a:endParaRPr lang="en-US">
              <a:ea typeface="Calibri" panose="020F0502020204030204"/>
              <a:cs typeface="Calibri" panose="020F0502020204030204"/>
            </a:endParaRPr>
          </a:p>
          <a:p>
            <a:r>
              <a:rPr lang="en-US" b="1"/>
              <a:t>Go-to-market recommendation</a:t>
            </a:r>
            <a:endParaRPr lang="en-US">
              <a:ea typeface="Calibri" panose="020F0502020204030204"/>
              <a:cs typeface="Calibri" panose="020F0502020204030204"/>
            </a:endParaRPr>
          </a:p>
          <a:p>
            <a:endParaRPr lang="en-US" altLang="zh-CN">
              <a:ea typeface="宋体" panose="02010600030101010101" pitchFamily="2" charset="-122"/>
              <a:cs typeface="Calibri" panose="020F0502020204030204"/>
            </a:endParaRPr>
          </a:p>
          <a:p>
            <a:endParaRPr lang="en-US" altLang="zh-CN">
              <a:ea typeface="宋体" panose="02010600030101010101" pitchFamily="2" charset="-122"/>
            </a:endParaRPr>
          </a:p>
          <a:p>
            <a:r>
              <a:rPr lang="en-US" altLang="zh-CN">
                <a:ea typeface="宋体" panose="02010600030101010101" pitchFamily="2" charset="-122"/>
              </a:rPr>
              <a:t>What are some of the most common problems you witness CEO’s / companies that you work with face commonly?</a:t>
            </a:r>
          </a:p>
          <a:p>
            <a:endParaRPr lang="en-US" altLang="zh-CN">
              <a:cs typeface="+mn-lt"/>
            </a:endParaRPr>
          </a:p>
          <a:p>
            <a:r>
              <a:rPr lang="en-US" altLang="zh-CN">
                <a:ea typeface="宋体" panose="02010600030101010101" pitchFamily="2" charset="-122"/>
                <a:cs typeface="+mn-lt"/>
              </a:rPr>
              <a:t>Max 3/4</a:t>
            </a:r>
            <a:br>
              <a:rPr lang="en-US" altLang="zh-CN">
                <a:cs typeface="+mn-lt"/>
              </a:rPr>
            </a:br>
            <a:endParaRPr lang="en-US" altLang="zh-CN">
              <a:cs typeface="+mn-lt"/>
            </a:endParaRPr>
          </a:p>
          <a:p>
            <a:endParaRPr lang="en-US" altLang="zh-CN">
              <a:ea typeface="宋体" panose="02010600030101010101" pitchFamily="2" charset="-122"/>
              <a:cs typeface="+mn-lt"/>
            </a:endParaRPr>
          </a:p>
          <a:p>
            <a:br>
              <a:rPr lang="en-US" altLang="zh-CN">
                <a:cs typeface="+mn-lt"/>
              </a:rPr>
            </a:br>
            <a:endParaRPr lang="en-US" altLang="zh-CN">
              <a:ea typeface="宋体" panose="02010600030101010101" pitchFamily="2" charset="-122"/>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5242B-779B-3AF0-DB65-49E6AAD8C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A3868-BB87-DFFA-A878-DD975DA89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ADC98-D4E4-722E-7BD8-0E584BB19D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A6662C-A260-CF45-69AF-3EB1614B3A2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27915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8019A-B43C-C5C7-54C5-D3A0A766F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370FE-F26D-ADB6-4EA9-3DB3B86AF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23187C-CB54-CD51-035D-D8E997FCBC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093417-A0A6-0E50-EA19-E16934637BC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7020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u="sng">
                <a:highlight>
                  <a:srgbClr val="FFFF00"/>
                </a:highlight>
                <a:ea typeface="Calibri" panose="020F0502020204030204"/>
                <a:cs typeface="Calibri" panose="020F0502020204030204"/>
              </a:rPr>
              <a:t>90s arjun</a:t>
            </a:r>
            <a:endParaRPr lang="en-US" b="1">
              <a:highlight>
                <a:srgbClr val="FFFF00"/>
              </a:highlight>
              <a:ea typeface="Calibri" panose="020F0502020204030204"/>
              <a:cs typeface="Calibri" panose="020F0502020204030204"/>
            </a:endParaRPr>
          </a:p>
          <a:p>
            <a:endParaRPr lang="en-US"/>
          </a:p>
          <a:p>
            <a:r>
              <a:rPr lang="en-US">
                <a:ea typeface="Calibri" panose="020F0502020204030204"/>
                <a:cs typeface="Calibri" panose="020F0502020204030204"/>
              </a:rPr>
              <a:t>Possible script: </a:t>
            </a:r>
            <a:endParaRPr lang="en-US"/>
          </a:p>
          <a:p>
            <a:endParaRPr lang="en-US"/>
          </a:p>
          <a:p>
            <a:r>
              <a:rPr lang="en-US"/>
              <a:t>Let's start with a simple question.</a:t>
            </a:r>
            <a:endParaRPr lang="zh-CN" altLang="en-US">
              <a:ea typeface="宋体" panose="02010600030101010101" pitchFamily="2" charset="-122"/>
              <a:cs typeface="Calibri" panose="020F0502020204030204"/>
            </a:endParaRPr>
          </a:p>
          <a:p>
            <a:r>
              <a:rPr lang="en-US"/>
              <a:t>Think of a brand you know well — maybe a restaurant, a retailer, or a local business. If that brand suddenly expanded into a completely new category, what would make you believe that expansion makes sense?</a:t>
            </a:r>
            <a:endParaRPr lang="en-US">
              <a:ea typeface="Calibri" panose="020F0502020204030204"/>
              <a:cs typeface="Calibri" panose="020F0502020204030204"/>
            </a:endParaRPr>
          </a:p>
          <a:p>
            <a:r>
              <a:rPr lang="en-US" b="1"/>
              <a:t>Is it customer demand? Brand fit? Competitive positioning? Or the ability to execute?</a:t>
            </a:r>
            <a:endParaRPr lang="en-US" b="1">
              <a:ea typeface="Calibri" panose="020F0502020204030204"/>
              <a:cs typeface="Calibri" panose="020F0502020204030204"/>
            </a:endParaRPr>
          </a:p>
          <a:p>
            <a:r>
              <a:rPr lang="en-US"/>
              <a:t>That was the question behind </a:t>
            </a:r>
            <a:r>
              <a:rPr lang="en-US" err="1"/>
              <a:t>Sassafraz</a:t>
            </a:r>
            <a:r>
              <a:rPr lang="en-US"/>
              <a:t>, an iconic Yorkville restaurant and hospitality brand. </a:t>
            </a:r>
            <a:r>
              <a:rPr lang="en-US" err="1"/>
              <a:t>Sassafraz</a:t>
            </a:r>
            <a:r>
              <a:rPr lang="en-US"/>
              <a:t> already had strong brand equity, a loyal customer base, and a successful café business. But the leadership team was exploring whether the brand could move into the wellness hospitality space.</a:t>
            </a:r>
            <a:endParaRPr lang="en-US">
              <a:ea typeface="Calibri" panose="020F0502020204030204"/>
              <a:cs typeface="Calibri" panose="020F0502020204030204"/>
            </a:endParaRPr>
          </a:p>
          <a:p>
            <a:r>
              <a:rPr lang="en-US" b="1"/>
              <a:t>The idea was promising, but also uncertain.</a:t>
            </a:r>
            <a:r>
              <a:rPr lang="en-US"/>
              <a:t> Would customers accept </a:t>
            </a:r>
            <a:r>
              <a:rPr lang="en-US" err="1"/>
              <a:t>Sassafraz</a:t>
            </a:r>
            <a:r>
              <a:rPr lang="en-US"/>
              <a:t> in this new category? Was the opportunity strategically aligned with the brand? What gaps existed compared with competitors already in the space?</a:t>
            </a:r>
            <a:endParaRPr lang="en-US">
              <a:ea typeface="Calibri" panose="020F0502020204030204"/>
              <a:cs typeface="Calibri" panose="020F0502020204030204"/>
            </a:endParaRPr>
          </a:p>
          <a:p>
            <a:r>
              <a:rPr lang="en-US"/>
              <a:t>Impact helped structure that decision. The team conducted competitor analysis, explored consumer sentiment and brand perception, recruited interview participants, and identified gaps that needed further validation.</a:t>
            </a:r>
            <a:endParaRPr lang="en-US">
              <a:ea typeface="Calibri" panose="020F0502020204030204"/>
              <a:cs typeface="Calibri" panose="020F0502020204030204"/>
            </a:endParaRPr>
          </a:p>
          <a:p>
            <a:r>
              <a:rPr lang="en-US" b="1"/>
              <a:t>The outcome was not just a feasibility report</a:t>
            </a:r>
            <a:r>
              <a:rPr lang="en-US"/>
              <a:t>. It gave the client a clear roadmap for whether, when, and how to move forward before committing major resources.</a:t>
            </a:r>
          </a:p>
          <a:p>
            <a:r>
              <a:rPr lang="en-US" b="1" i="1" u="sng"/>
              <a:t>And this reflects where Impact creates value: helping organizations turn early-stage growth questions into evidence-based next-step decisions.</a:t>
            </a:r>
            <a:endParaRPr lang="en-US" b="1" u="sng">
              <a:ea typeface="Calibri" panose="020F0502020204030204"/>
              <a:cs typeface="Calibri" panose="020F0502020204030204"/>
            </a:endParaRPr>
          </a:p>
          <a:p>
            <a:endParaRPr lang="en-US">
              <a:ea typeface="Calibri" panose="020F0502020204030204"/>
              <a:cs typeface="Calibri" panose="020F0502020204030204"/>
            </a:endParaRPr>
          </a:p>
          <a:p>
            <a:br>
              <a:rPr lang="en-US">
                <a:ea typeface="Calibri" panose="020F0502020204030204"/>
                <a:cs typeface="Calibri" panose="020F0502020204030204"/>
              </a:rPr>
            </a:br>
            <a:endParaRPr lang="en-US">
              <a:ea typeface="Calibri" panose="020F0502020204030204"/>
              <a:cs typeface="Calibri" panose="020F0502020204030204"/>
            </a:endParaRPr>
          </a:p>
          <a:p>
            <a:r>
              <a:rPr lang="en-GB">
                <a:effectLst/>
              </a:rPr>
              <a:t>Let's start with a simple question.</a:t>
            </a:r>
            <a:br>
              <a:rPr lang="en-GB">
                <a:effectLst/>
              </a:rPr>
            </a:br>
            <a:endParaRPr lang="en-GB">
              <a:effectLst/>
            </a:endParaRPr>
          </a:p>
          <a:p>
            <a:r>
              <a:rPr lang="en-GB">
                <a:effectLst/>
              </a:rPr>
              <a:t>If a brand you love suddenly expanded into a completely new category — what would make you believe that move makes sense? Customer demand? Brand fit? Competitive positioning?</a:t>
            </a:r>
          </a:p>
          <a:p>
            <a:r>
              <a:rPr lang="en-GB">
                <a:effectLst/>
              </a:rPr>
              <a:t>That was the question behind </a:t>
            </a:r>
            <a:r>
              <a:rPr lang="en-GB" err="1">
                <a:effectLst/>
              </a:rPr>
              <a:t>Sassafraz</a:t>
            </a:r>
            <a:r>
              <a:rPr lang="en-GB">
                <a:effectLst/>
              </a:rPr>
              <a:t>. An iconic Yorkville restaurant with strong brand equity, a loyal customer base, and a thriving café — but the leadership team was exploring whether they could move into wellness hospitality.</a:t>
            </a:r>
          </a:p>
          <a:p>
            <a:r>
              <a:rPr lang="en-GB">
                <a:effectLst/>
              </a:rPr>
              <a:t>The idea was promising, but came with a lot of questions like. Would customers accept </a:t>
            </a:r>
            <a:r>
              <a:rPr lang="en-GB" err="1">
                <a:effectLst/>
              </a:rPr>
              <a:t>Sassafraz</a:t>
            </a:r>
            <a:r>
              <a:rPr lang="en-GB">
                <a:effectLst/>
              </a:rPr>
              <a:t> in this new category? Was there a real gap in the market? How did they stack up against competitors that are already in this space?</a:t>
            </a:r>
            <a:br>
              <a:rPr lang="en-GB">
                <a:effectLst/>
              </a:rPr>
            </a:br>
            <a:r>
              <a:rPr lang="en-GB">
                <a:effectLst/>
              </a:rPr>
              <a:t>Here’s where impact came in:</a:t>
            </a:r>
          </a:p>
          <a:p>
            <a:r>
              <a:rPr lang="en-GB">
                <a:effectLst/>
              </a:rPr>
              <a:t>The team helped structure that decision. We ran competitor analysis, assessed brand perception, recruited a diverse of interviewees consisting of— business owners, industry contacts, Rotman alumni — and built a gap analysis identifying exactly what the expansion would need to succeed. That also fed directly into a location analysis.</a:t>
            </a:r>
          </a:p>
          <a:p>
            <a:r>
              <a:rPr lang="en-GB">
                <a:effectLst/>
              </a:rPr>
              <a:t>The outcome wasn't just a feasibility report. But rather gave leadership a clear roadmap.— before committing major resources.</a:t>
            </a:r>
            <a:br>
              <a:rPr lang="en-GB">
                <a:effectLst/>
              </a:rPr>
            </a:br>
            <a:endParaRPr lang="en-GB">
              <a:effectLst/>
            </a:endParaRPr>
          </a:p>
          <a:p>
            <a:r>
              <a:rPr lang="en-GB">
                <a:effectLst/>
              </a:rPr>
              <a:t>This is exactly how Impact creates value: turning early-stage growth questions into evidence-based decisions.</a:t>
            </a:r>
          </a:p>
          <a:p>
            <a:br>
              <a:rPr lang="en-GB"/>
            </a:br>
            <a:endParaRPr lang="en-GB"/>
          </a:p>
          <a:p>
            <a:endParaRPr lang="en-US">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i="1" u="sng">
                <a:highlight>
                  <a:srgbClr val="FFFF00"/>
                </a:highlight>
                <a:ea typeface="宋体" panose="02010600030101010101" pitchFamily="2" charset="-122"/>
              </a:rPr>
              <a:t>30s arjun </a:t>
            </a:r>
          </a:p>
          <a:p>
            <a:endParaRPr lang="en-US" altLang="zh-CN" b="1" i="1" u="sng">
              <a:highlight>
                <a:srgbClr val="FFFF00"/>
              </a:highlight>
              <a:ea typeface="宋体" panose="02010600030101010101" pitchFamily="2" charset="-122"/>
              <a:cs typeface="Calibri" panose="020F0502020204030204"/>
            </a:endParaRPr>
          </a:p>
          <a:p>
            <a:r>
              <a:rPr lang="en-US"/>
              <a:t>Possible script: </a:t>
            </a:r>
          </a:p>
          <a:p>
            <a:endParaRPr lang="en-US" altLang="zh-CN"/>
          </a:p>
          <a:p>
            <a:r>
              <a:rPr lang="en-US" altLang="zh-CN"/>
              <a:t>Here’s a small list of clients we have supported over the years and look forward to any help that you might be able to offer us in your networks or within your own </a:t>
            </a:r>
            <a:r>
              <a:rPr lang="en-US" altLang="zh-CN" err="1"/>
              <a:t>organisations</a:t>
            </a:r>
            <a:r>
              <a:rPr lang="en-US" altLang="zh-CN"/>
              <a:t>. </a:t>
            </a:r>
            <a:br>
              <a:rPr lang="en-US" altLang="zh-CN"/>
            </a:br>
            <a:br>
              <a:rPr lang="en-US" altLang="zh-CN"/>
            </a:br>
            <a:r>
              <a:rPr lang="en-US" altLang="zh-CN"/>
              <a:t>Thank you</a:t>
            </a:r>
            <a:br>
              <a:rPr lang="en-US" altLang="zh-CN"/>
            </a:br>
            <a:br>
              <a:rPr lang="en-US" altLang="zh-CN"/>
            </a:br>
            <a:br>
              <a:rPr lang="en-US" altLang="zh-CN"/>
            </a:br>
            <a:r>
              <a:rPr lang="en-US" altLang="zh-CN"/>
              <a:t>healthcare, education, community, nonprofit, and growth-stage organizations, </a:t>
            </a:r>
            <a:r>
              <a:rPr lang="en-US" altLang="zh-CN" b="1"/>
              <a:t>because Impact has been useful across very different organizational contexts</a:t>
            </a:r>
            <a:r>
              <a:rPr lang="en-US" altLang="zh-CN"/>
              <a:t>. The key point is not the sector itself — it is whether there is a focused question where fresh thinking and structured analysis can create practical value.</a:t>
            </a:r>
          </a:p>
          <a:p>
            <a:endParaRPr lang="en-US" altLang="zh-CN"/>
          </a:p>
          <a:p>
            <a:r>
              <a:rPr lang="en-US" altLang="zh-CN">
                <a:ea typeface="宋体" panose="02010600030101010101" pitchFamily="2" charset="-122"/>
              </a:rPr>
              <a:t>Q1. Are these all recent clients or current projects?</a:t>
            </a:r>
            <a:br>
              <a:rPr lang="en-US" altLang="zh-CN">
                <a:cs typeface="+mn-lt"/>
              </a:rPr>
            </a:br>
            <a:br>
              <a:rPr lang="en-US" altLang="zh-CN">
                <a:cs typeface="+mn-lt"/>
              </a:rPr>
            </a:br>
            <a:r>
              <a:rPr lang="en-US" altLang="zh-CN">
                <a:ea typeface="宋体" panose="02010600030101010101" pitchFamily="2" charset="-122"/>
              </a:rPr>
              <a:t>A: These are representative organizations Impact has supported across different years and sectors. We included them to show the range of organizations Impact has worked with, not to suggest that they are all current or recent clients.</a:t>
            </a:r>
            <a:br>
              <a:rPr lang="en-US" altLang="zh-CN">
                <a:cs typeface="+mn-lt"/>
              </a:rPr>
            </a:br>
            <a:br>
              <a:rPr lang="en-US" altLang="zh-CN">
                <a:cs typeface="+mn-lt"/>
              </a:rPr>
            </a:br>
            <a:r>
              <a:rPr lang="en-US" altLang="zh-CN">
                <a:ea typeface="宋体" panose="02010600030101010101" pitchFamily="2" charset="-122"/>
              </a:rPr>
              <a:t>Q2. What kind of work did Impact do for these organizations?</a:t>
            </a:r>
            <a:br>
              <a:rPr lang="en-US" altLang="zh-CN">
                <a:cs typeface="+mn-lt"/>
              </a:rPr>
            </a:br>
            <a:br>
              <a:rPr lang="en-US" altLang="zh-CN">
                <a:cs typeface="+mn-lt"/>
              </a:rPr>
            </a:br>
            <a:r>
              <a:rPr lang="en-US" altLang="zh-CN">
                <a:ea typeface="宋体" panose="02010600030101010101" pitchFamily="2" charset="-122"/>
              </a:rPr>
              <a:t>A: The specific scope varies by project, but Impact projects generally involve focused research, analysis, stakeholder insight, market or operational questions, and practical recommendations. This page is mainly meant to show the breadth of sectors and project contexts where Impact has worked.</a:t>
            </a:r>
            <a:br>
              <a:rPr lang="en-US" altLang="zh-CN">
                <a:cs typeface="+mn-lt"/>
              </a:rPr>
            </a:br>
            <a:br>
              <a:rPr lang="en-US" altLang="zh-CN">
                <a:cs typeface="+mn-lt"/>
              </a:rPr>
            </a:br>
            <a:r>
              <a:rPr lang="en-US" altLang="zh-CN">
                <a:ea typeface="宋体" panose="02010600030101010101" pitchFamily="2" charset="-122"/>
              </a:rPr>
              <a:t>Q3. Is Impact mainly focused on healthcare and nonprofit organizations?</a:t>
            </a:r>
            <a:br>
              <a:rPr lang="en-US" altLang="zh-CN">
                <a:cs typeface="+mn-lt"/>
              </a:rPr>
            </a:br>
            <a:br>
              <a:rPr lang="en-US" altLang="zh-CN">
                <a:cs typeface="+mn-lt"/>
              </a:rPr>
            </a:br>
            <a:r>
              <a:rPr lang="en-US" altLang="zh-CN">
                <a:ea typeface="宋体" panose="02010600030101010101" pitchFamily="2" charset="-122"/>
              </a:rPr>
              <a:t>A: Healthcare and nonprofit organizations are well represented here, but Impact is not limited to those sectors. We also work with business, growth-stage, community-facing, and education-related organizations. The common thread is not the sector, but whether there is a focused question where structured MBA analysis can help.</a:t>
            </a:r>
            <a:br>
              <a:rPr lang="en-US" altLang="zh-CN">
                <a:cs typeface="+mn-lt"/>
              </a:rPr>
            </a:br>
            <a:br>
              <a:rPr lang="en-US" altLang="zh-CN">
                <a:cs typeface="+mn-lt"/>
              </a:rPr>
            </a:br>
            <a:r>
              <a:rPr lang="en-US" altLang="zh-CN">
                <a:ea typeface="宋体" panose="02010600030101010101" pitchFamily="2" charset="-122"/>
              </a:rPr>
              <a:t>Q4. Why did we choose this mix of logos instead of only large corporate names?</a:t>
            </a:r>
            <a:br>
              <a:rPr lang="en-US" altLang="zh-CN">
                <a:cs typeface="+mn-lt"/>
              </a:rPr>
            </a:br>
            <a:br>
              <a:rPr lang="en-US" altLang="zh-CN">
                <a:cs typeface="+mn-lt"/>
              </a:rPr>
            </a:br>
            <a:r>
              <a:rPr lang="en-US" altLang="zh-CN">
                <a:ea typeface="宋体" panose="02010600030101010101" pitchFamily="2" charset="-122"/>
              </a:rPr>
              <a:t>A: We chose this mix intentionally. Some organizations are more established, while others are smaller, growth-stage, or community-facing. That reflects where Impact can often be useful: focused questions where fresh MBA thinking and structured analysis can create value.</a:t>
            </a:r>
            <a:br>
              <a:rPr lang="en-US" altLang="zh-CN">
                <a:cs typeface="+mn-lt"/>
              </a:rPr>
            </a:br>
            <a:br>
              <a:rPr lang="en-US" altLang="zh-CN">
                <a:cs typeface="+mn-lt"/>
              </a:rPr>
            </a:br>
            <a:r>
              <a:rPr lang="en-US" altLang="zh-CN">
                <a:ea typeface="宋体" panose="02010600030101010101" pitchFamily="2" charset="-122"/>
              </a:rPr>
              <a:t>Q5. Are these logos meant to be formal endorsements?</a:t>
            </a:r>
            <a:br>
              <a:rPr lang="en-US" altLang="zh-CN">
                <a:cs typeface="+mn-lt"/>
              </a:rPr>
            </a:br>
            <a:br>
              <a:rPr lang="en-US" altLang="zh-CN">
                <a:cs typeface="+mn-lt"/>
              </a:rPr>
            </a:br>
            <a:r>
              <a:rPr lang="en-US" altLang="zh-CN">
                <a:ea typeface="宋体" panose="02010600030101010101" pitchFamily="2" charset="-122"/>
              </a:rPr>
              <a:t>A: No. We use this as a representative list of organizations Impact has supported in the past, not as formal endorsements. The purpose is to show the diversity of sectors and project contexts.</a:t>
            </a:r>
            <a:br>
              <a:rPr lang="en-US" altLang="zh-CN">
                <a:cs typeface="+mn-lt"/>
              </a:rPr>
            </a:br>
            <a:br>
              <a:rPr lang="en-US" altLang="zh-CN">
                <a:cs typeface="+mn-lt"/>
              </a:rPr>
            </a:br>
            <a:r>
              <a:rPr lang="en-US" altLang="zh-CN">
                <a:ea typeface="宋体" panose="02010600030101010101" pitchFamily="2" charset="-122"/>
              </a:rPr>
              <a:t>Q6. Some of these organizations are not traditional companies. Why include them?</a:t>
            </a:r>
            <a:br>
              <a:rPr lang="en-US" altLang="zh-CN">
                <a:cs typeface="+mn-lt"/>
              </a:rPr>
            </a:br>
            <a:br>
              <a:rPr lang="en-US" altLang="zh-CN">
                <a:cs typeface="+mn-lt"/>
              </a:rPr>
            </a:br>
            <a:r>
              <a:rPr lang="en-US" altLang="zh-CN">
                <a:ea typeface="宋体" panose="02010600030101010101" pitchFamily="2" charset="-122"/>
              </a:rPr>
              <a:t>A: That is actually part of Impact’s model. We are often useful for organizations that have real strategic, market, or operational questions but may not have the internal capacity or budget for a large consulting engagement. That can include nonprofits, community organizations, associations, education-related organizations, and growth-stage businesses.</a:t>
            </a:r>
            <a:br>
              <a:rPr lang="en-US" altLang="zh-CN">
                <a:cs typeface="+mn-lt"/>
              </a:rPr>
            </a:br>
            <a:br>
              <a:rPr lang="en-US" altLang="zh-CN">
                <a:cs typeface="+mn-lt"/>
              </a:rPr>
            </a:br>
            <a:r>
              <a:rPr lang="en-US" altLang="zh-CN">
                <a:ea typeface="宋体" panose="02010600030101010101" pitchFamily="2" charset="-122"/>
              </a:rPr>
              <a:t>Q7. What should the audience take away from this page?</a:t>
            </a:r>
            <a:br>
              <a:rPr lang="en-US" altLang="zh-CN">
                <a:cs typeface="+mn-lt"/>
              </a:rPr>
            </a:br>
            <a:br>
              <a:rPr lang="en-US" altLang="zh-CN">
                <a:cs typeface="+mn-lt"/>
              </a:rPr>
            </a:br>
            <a:r>
              <a:rPr lang="en-US" altLang="zh-CN">
                <a:ea typeface="宋体" panose="02010600030101010101" pitchFamily="2" charset="-122"/>
              </a:rPr>
              <a:t>A: The main takeaway is that Impact has worked across a range of organizations and sectors. We are not trying to position ourselves as a traditional consulting firm for large-scale mandates. We are showing that Impact can be useful when an organization has a focused question that would benefit from fresh thinking, structured analysis, and practical next steps.</a:t>
            </a:r>
            <a:br>
              <a:rPr lang="en-US" altLang="zh-CN">
                <a:cs typeface="+mn-lt"/>
              </a:rPr>
            </a:br>
            <a:endParaRPr lang="en-US" b="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i="1" u="sng">
                <a:highlight>
                  <a:srgbClr val="FFFF00"/>
                </a:highlight>
                <a:ea typeface="宋体" panose="02010600030101010101" pitchFamily="2" charset="-122"/>
              </a:rPr>
              <a:t>60s </a:t>
            </a:r>
            <a:r>
              <a:rPr lang="en-US" altLang="zh-CN" b="1" i="1" u="sng" err="1">
                <a:highlight>
                  <a:srgbClr val="FFFF00"/>
                </a:highlight>
                <a:ea typeface="宋体" panose="02010600030101010101" pitchFamily="2" charset="-122"/>
              </a:rPr>
              <a:t>mengyi</a:t>
            </a:r>
            <a:endParaRPr lang="en-US">
              <a:ea typeface="宋体" panose="02010600030101010101" pitchFamily="2" charset="-122"/>
            </a:endParaRPr>
          </a:p>
          <a:p>
            <a:endParaRPr lang="en-US" altLang="zh-CN" b="0"/>
          </a:p>
          <a:p>
            <a:r>
              <a:rPr lang="en-US"/>
              <a:t>Possible script: </a:t>
            </a:r>
            <a:endParaRPr lang="en-US">
              <a:ea typeface="Calibri" panose="020F0502020204030204"/>
              <a:cs typeface="Calibri" panose="020F0502020204030204"/>
            </a:endParaRPr>
          </a:p>
          <a:p>
            <a:endParaRPr lang="en-US" altLang="zh-CN">
              <a:ea typeface="宋体" panose="02010600030101010101" pitchFamily="2" charset="-122"/>
              <a:cs typeface="Calibri" panose="020F0502020204030204"/>
            </a:endParaRPr>
          </a:p>
          <a:p>
            <a:r>
              <a:rPr lang="en-US" altLang="zh-CN" b="0"/>
              <a:t>The way we think about Impact is as a win-win exchange.</a:t>
            </a:r>
          </a:p>
          <a:p>
            <a:endParaRPr lang="en-US" altLang="zh-CN" b="0"/>
          </a:p>
          <a:p>
            <a:r>
              <a:rPr lang="en-US" altLang="zh-CN" b="0">
                <a:ea typeface="宋体" panose="02010600030101010101" pitchFamily="2" charset="-122"/>
              </a:rPr>
              <a:t>For organizations, the value is an approach to</a:t>
            </a:r>
            <a:r>
              <a:rPr lang="en-US" altLang="zh-CN">
                <a:ea typeface="宋体" panose="02010600030101010101" pitchFamily="2" charset="-122"/>
              </a:rPr>
              <a:t> </a:t>
            </a:r>
            <a:r>
              <a:rPr lang="en-US"/>
              <a:t>business challenges</a:t>
            </a:r>
            <a:r>
              <a:rPr lang="en-US" altLang="zh-CN">
                <a:ea typeface="宋体" panose="02010600030101010101" pitchFamily="2" charset="-122"/>
              </a:rPr>
              <a:t> </a:t>
            </a:r>
            <a:r>
              <a:rPr lang="en-US" altLang="zh-CN" b="0">
                <a:ea typeface="宋体" panose="02010600030101010101" pitchFamily="2" charset="-122"/>
              </a:rPr>
              <a:t>that are real, but may be unclear for a full consulting engagement. </a:t>
            </a:r>
            <a:r>
              <a:rPr lang="en-US" altLang="zh-CN">
                <a:ea typeface="宋体" panose="02010600030101010101" pitchFamily="2" charset="-122"/>
              </a:rPr>
              <a:t>Our clients</a:t>
            </a:r>
            <a:r>
              <a:rPr lang="en-US" altLang="zh-CN" b="0">
                <a:ea typeface="宋体" panose="02010600030101010101" pitchFamily="2" charset="-122"/>
              </a:rPr>
              <a:t> obtain MBA thinking, structured analysis, and practical next steps</a:t>
            </a:r>
            <a:r>
              <a:rPr lang="en-US" altLang="zh-CN">
                <a:ea typeface="宋体" panose="02010600030101010101" pitchFamily="2" charset="-122"/>
              </a:rPr>
              <a:t>. </a:t>
            </a:r>
            <a:endParaRPr lang="en-US" altLang="zh-CN" b="0">
              <a:ea typeface="宋体" panose="02010600030101010101" pitchFamily="2" charset="-122"/>
              <a:cs typeface="Calibri" panose="020F0502020204030204"/>
            </a:endParaRPr>
          </a:p>
          <a:p>
            <a:br>
              <a:rPr lang="en-US" altLang="zh-CN" b="0">
                <a:cs typeface="+mn-lt"/>
              </a:rPr>
            </a:br>
            <a:r>
              <a:rPr lang="en-US" altLang="zh-CN" b="0">
                <a:ea typeface="宋体" panose="02010600030101010101" pitchFamily="2" charset="-122"/>
              </a:rPr>
              <a:t>On the flip side We are not looking for a classroom exercise. We seek real client problems where we can apply our prior experience, build consulting judgment, and grow through hands-on work.</a:t>
            </a:r>
            <a:endParaRPr lang="en-US" altLang="zh-CN" b="0">
              <a:ea typeface="宋体" panose="02010600030101010101" pitchFamily="2" charset="-122"/>
              <a:cs typeface="Calibri" panose="020F0502020204030204"/>
            </a:endParaRPr>
          </a:p>
          <a:p>
            <a:endParaRPr lang="en-US" altLang="zh-CN" b="0"/>
          </a:p>
          <a:p>
            <a:r>
              <a:rPr lang="en-US" altLang="zh-CN" b="0">
                <a:ea typeface="宋体" panose="02010600030101010101" pitchFamily="2" charset="-122"/>
              </a:rPr>
              <a:t>The key is focused scope and mutual commitment. The organization brings the business context; the students bring talent and analysis. </a:t>
            </a:r>
            <a:r>
              <a:rPr lang="en-US"/>
              <a:t>When </a:t>
            </a:r>
            <a:r>
              <a:rPr lang="en-US" b="0"/>
              <a:t>the </a:t>
            </a:r>
            <a:r>
              <a:rPr lang="en-US"/>
              <a:t>scope </a:t>
            </a:r>
            <a:r>
              <a:rPr lang="en-US" b="0"/>
              <a:t>is </a:t>
            </a:r>
            <a:r>
              <a:rPr lang="en-US"/>
              <a:t>well-defined</a:t>
            </a:r>
            <a:r>
              <a:rPr lang="en-US" b="0"/>
              <a:t>, both sides </a:t>
            </a:r>
            <a:r>
              <a:rPr lang="en-US"/>
              <a:t>can create meaningful </a:t>
            </a:r>
            <a:r>
              <a:rPr lang="en-US" b="0"/>
              <a:t>value.</a:t>
            </a:r>
            <a:endParaRPr lang="en-US"/>
          </a:p>
          <a:p>
            <a:endParaRPr lang="en-US">
              <a:ea typeface="Calibri" panose="020F0502020204030204"/>
            </a:endParaRPr>
          </a:p>
          <a:p>
            <a:r>
              <a:rPr lang="en-US" altLang="zh-CN" b="1"/>
              <a:t>2. What projects fit Impact?</a:t>
            </a:r>
            <a:br>
              <a:rPr lang="en-US" altLang="zh-CN"/>
            </a:br>
            <a:r>
              <a:rPr lang="en-US" altLang="zh-CN"/>
              <a:t>Focused questions around market, customer, GTM, growth, operations, or strategic options.</a:t>
            </a:r>
          </a:p>
          <a:p>
            <a:r>
              <a:rPr lang="en-US" altLang="zh-CN" b="1">
                <a:ea typeface="宋体" panose="02010600030101010101" pitchFamily="2" charset="-122"/>
              </a:rPr>
              <a:t>3. What projects do not fit?</a:t>
            </a:r>
            <a:br>
              <a:rPr lang="en-US" altLang="zh-CN">
                <a:cs typeface="+mn-lt"/>
              </a:rPr>
            </a:br>
            <a:r>
              <a:rPr lang="en-US" altLang="zh-CN">
                <a:ea typeface="宋体" panose="02010600030101010101" pitchFamily="2" charset="-122"/>
              </a:rPr>
              <a:t>Urgent execution, legal/technical/regulatory advice, highly confidential or very broad mandates.</a:t>
            </a:r>
            <a:endParaRPr lang="en-US" altLang="zh-CN">
              <a:ea typeface="宋体" panose="02010600030101010101" pitchFamily="2" charset="-122"/>
              <a:cs typeface="Calibri" panose="020F0502020204030204"/>
            </a:endParaRPr>
          </a:p>
          <a:p>
            <a:r>
              <a:rPr lang="en-US" altLang="zh-CN" b="1"/>
              <a:t>4. What is your ask?</a:t>
            </a:r>
            <a:br>
              <a:rPr lang="en-US" altLang="zh-CN"/>
            </a:br>
            <a:r>
              <a:rPr lang="en-US" altLang="zh-CN"/>
              <a:t>Remember Impact and refer suitable small/exploratory/focused questions when there is a fit.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i="1" u="sng">
                <a:highlight>
                  <a:srgbClr val="FFFF00"/>
                </a:highlight>
              </a:rPr>
              <a:t>10min </a:t>
            </a:r>
            <a:r>
              <a:rPr lang="en-US" altLang="zh-CN" b="1" i="1" u="sng" err="1">
                <a:highlight>
                  <a:srgbClr val="FFFF00"/>
                </a:highlight>
              </a:rPr>
              <a:t>arjun+mengyi</a:t>
            </a:r>
            <a:endParaRPr lang="en-US" altLang="zh-CN" b="1" i="1" u="sng">
              <a:highlight>
                <a:srgbClr val="FFFF00"/>
              </a:highlight>
            </a:endParaRPr>
          </a:p>
          <a:p>
            <a:endParaRPr lang="en-US" altLang="zh-CN"/>
          </a:p>
          <a:p>
            <a:r>
              <a:rPr lang="en-US" altLang="zh-CN"/>
              <a:t>Where do you think Impact could create the most value?</a:t>
            </a:r>
          </a:p>
          <a:p>
            <a:r>
              <a:rPr lang="en-US" altLang="zh-CN"/>
              <a:t>What questions are too small or early for traditional consulting, but still worth structured analysis? </a:t>
            </a:r>
          </a:p>
          <a:p>
            <a:r>
              <a:rPr lang="en-US" altLang="zh-CN"/>
              <a:t>What would make you comfortable referring a project or contact to Impact? </a:t>
            </a:r>
          </a:p>
          <a:p>
            <a:r>
              <a:rPr lang="en-US" altLang="zh-CN"/>
              <a:t>Where should we be careful not to overreach?</a:t>
            </a:r>
          </a:p>
          <a:p>
            <a:endParaRPr lang="en-US"/>
          </a:p>
          <a:p>
            <a:endParaRPr lang="en-US"/>
          </a:p>
          <a:p>
            <a:r>
              <a:rPr lang="en-US" altLang="zh-CN"/>
              <a:t>Would you guys have the expertise to deliver complex projects?</a:t>
            </a:r>
          </a:p>
          <a:p>
            <a:r>
              <a:rPr lang="en-US" altLang="zh-CN"/>
              <a:t>Ans- Support of the board + prof., There is an </a:t>
            </a:r>
            <a:r>
              <a:rPr lang="en-US" altLang="zh-CN" err="1"/>
              <a:t>organisational</a:t>
            </a:r>
            <a:r>
              <a:rPr lang="en-US" altLang="zh-CN"/>
              <a:t> history to deliver complex projects, the impact of the alumni network that we can tap into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backgrounds</a:t>
            </a:r>
          </a:p>
          <a:p>
            <a:endParaRPr lang="en-US" altLang="zh-CN"/>
          </a:p>
          <a:p>
            <a:r>
              <a:rPr lang="en-US" altLang="zh-CN"/>
              <a:t>This is our principal team.</a:t>
            </a:r>
          </a:p>
          <a:p>
            <a:endParaRPr lang="en-US" altLang="zh-CN"/>
          </a:p>
          <a:p>
            <a:r>
              <a:rPr lang="en-US" altLang="zh-CN"/>
              <a:t>The main point here is that we are a cross-functional MBA team. Everyone brings a different professional lens: people strategy, SaaS sales, consulting, healthcare, capital markets, business development, and market research.</a:t>
            </a:r>
          </a:p>
          <a:p>
            <a:endParaRPr lang="en-US" altLang="zh-CN"/>
          </a:p>
          <a:p>
            <a:r>
              <a:rPr lang="en-US" altLang="zh-CN"/>
              <a:t>So for clients, the value is not just extra capacity. It is that we can bring structured thinking, industry experience, and different perspectives to help them think through growth, market entry, customer segmentation, pricing, GTM, or scaling questions.</a:t>
            </a:r>
          </a:p>
          <a:p>
            <a:endParaRPr lang="en-US" altLang="zh-CN"/>
          </a:p>
          <a:p>
            <a:r>
              <a:rPr lang="en-US" altLang="zh-CN"/>
              <a:t>We are also supported by Rotman faculty, alumni, and the Impact board, so the team is not working in isolation.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consulting process</a:t>
            </a:r>
          </a:p>
          <a:p>
            <a:endParaRPr lang="en-US" altLang="zh-CN"/>
          </a:p>
          <a:p>
            <a:r>
              <a:rPr lang="en-US" altLang="zh-CN"/>
              <a:t>This is how we keep projects focused and useful.</a:t>
            </a:r>
          </a:p>
          <a:p>
            <a:endParaRPr lang="en-US" altLang="zh-CN"/>
          </a:p>
          <a:p>
            <a:r>
              <a:rPr lang="en-US" altLang="zh-CN"/>
              <a:t>We start with discovery to understand the client’s context, constraints, and decision needs. Then we spend time on scoping alignment, because for Impact, a good project has to be focused enough to deliver real value within a realistic timeline.</a:t>
            </a:r>
          </a:p>
          <a:p>
            <a:endParaRPr lang="en-US" altLang="zh-CN"/>
          </a:p>
          <a:p>
            <a:r>
              <a:rPr lang="en-US" altLang="zh-CN"/>
              <a:t>Once the scope is clear, the team moves into research and analysis, then turns the findings into practical recommendations. The final step is decision support — making sure the output helps the client align and decide what to do next.</a:t>
            </a:r>
          </a:p>
          <a:p>
            <a:endParaRPr lang="en-US" altLang="zh-CN"/>
          </a:p>
          <a:p>
            <a:r>
              <a:rPr lang="en-US" altLang="zh-CN"/>
              <a:t>The most important point is that this is collaborative. We check in with the client throughout the process, so the final recommendation is not just theoretically correct, but actually useful in the client’s real context.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typical consulting timeline</a:t>
            </a:r>
          </a:p>
          <a:p>
            <a:endParaRPr lang="en-US" altLang="zh-CN"/>
          </a:p>
          <a:p>
            <a:r>
              <a:rPr lang="en-US" altLang="zh-CN"/>
              <a:t>This is what a typical engagement timeline can look like. Most projects run for about 6 to 10 weeks, depending on the scope and data availability.</a:t>
            </a:r>
          </a:p>
          <a:p>
            <a:endParaRPr lang="en-US" altLang="zh-CN"/>
          </a:p>
          <a:p>
            <a:r>
              <a:rPr lang="en-US" altLang="zh-CN"/>
              <a:t>The first week is focused on discovery and scope alignment, so we are clear on the client’s objectives, key questions, timeline, and deliverables. The next few weeks are spent on research and current-state assessment, followed by analysis and insight development.</a:t>
            </a:r>
          </a:p>
          <a:p>
            <a:endParaRPr lang="en-US" altLang="zh-CN"/>
          </a:p>
          <a:p>
            <a:r>
              <a:rPr lang="en-US" altLang="zh-CN"/>
              <a:t>In the later stages, the team turns the findings into recommendations and a practical roadmap. The final week is used to present the findings, discuss implications, and align on next steps.</a:t>
            </a:r>
          </a:p>
          <a:p>
            <a:endParaRPr lang="en-US" altLang="zh-CN"/>
          </a:p>
          <a:p>
            <a:r>
              <a:rPr lang="en-US" altLang="zh-CN"/>
              <a:t>The main point is that Impact engagements are structured enough to create accountability, but flexible enough to stay practical for focused, exploratory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how we think about Impact’s positioning.</a:t>
            </a:r>
          </a:p>
          <a:p>
            <a:endParaRPr lang="en-US" altLang="zh-CN"/>
          </a:p>
          <a:p>
            <a:r>
              <a:rPr lang="en-US" altLang="zh-CN"/>
              <a:t>Informal support can be flexible, but it may not be structured enough to support a real business decision. Full-scale consulting firms are highly structured, but they are usually better suited for larger and more clearly defined mandates.</a:t>
            </a:r>
          </a:p>
          <a:p>
            <a:endParaRPr lang="en-US" altLang="zh-CN"/>
          </a:p>
          <a:p>
            <a:r>
              <a:rPr lang="en-US" altLang="zh-CN"/>
              <a:t>Impact sits in the middle. We offer a focused, MBA-led consulting model that is structured enough to create accountability, but still accessible and flexible enough for early, exploratory, or smaller business questions.</a:t>
            </a:r>
          </a:p>
          <a:p>
            <a:endParaRPr lang="en-US" altLang="zh-CN"/>
          </a:p>
          <a:p>
            <a:r>
              <a:rPr lang="en-US" altLang="zh-CN"/>
              <a:t>So clients choose Impact when they need clear scope, practical recommendations, and fresh Rotman MBA thinking, without committing to a full consulting engagement. The key is that the question needs to be focused enough for us to create a useful next step.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Board member quick reference:​</a:t>
            </a:r>
          </a:p>
          <a:p>
            <a:r>
              <a:rPr lang="en-US" altLang="zh-CN"/>
              <a:t>​</a:t>
            </a:r>
          </a:p>
          <a:p>
            <a:r>
              <a:rPr lang="en-US" altLang="zh-CN"/>
              <a:t>Dan Richards​</a:t>
            </a:r>
          </a:p>
          <a:p>
            <a:endParaRPr lang="en-US" altLang="zh-CN"/>
          </a:p>
          <a:p>
            <a:r>
              <a:rPr lang="en-US" altLang="zh-CN"/>
              <a:t>Marketing / finance / entrepreneurship / nonprofit leadership​</a:t>
            </a:r>
          </a:p>
          <a:p>
            <a:endParaRPr lang="en-US" altLang="zh-CN"/>
          </a:p>
          <a:p>
            <a:r>
              <a:rPr lang="en-US" altLang="zh-CN"/>
              <a:t>Dan brings 30 years of hands-on management experience in Canada’s financial industry. He built and sold two startups, led a public-company turnaround, and is a longtime Rotman marketing faculty member.​</a:t>
            </a:r>
          </a:p>
          <a:p>
            <a:r>
              <a:rPr lang="en-US" altLang="zh-CN"/>
              <a:t>​</a:t>
            </a:r>
          </a:p>
          <a:p>
            <a:r>
              <a:rPr lang="en-US" altLang="zh-CN"/>
              <a:t>Ned Welch​</a:t>
            </a:r>
          </a:p>
          <a:p>
            <a:endParaRPr lang="en-US" altLang="zh-CN"/>
          </a:p>
          <a:p>
            <a:r>
              <a:rPr lang="en-US" altLang="zh-CN"/>
              <a:t>Behavioral economics / consumer psychology / innovation / customer strategy​</a:t>
            </a:r>
          </a:p>
          <a:p>
            <a:endParaRPr lang="en-US" altLang="zh-CN"/>
          </a:p>
          <a:p>
            <a:r>
              <a:rPr lang="en-US" altLang="zh-CN"/>
              <a:t>Ned is an Adjunct Professor and Executive in Residence at Rotman. He previously held senior roles at McKinsey in marketing and design, working on product development, innovation, pricing, and customer strategy.​</a:t>
            </a:r>
          </a:p>
          <a:p>
            <a:endParaRPr lang="en-US" altLang="zh-CN"/>
          </a:p>
          <a:p>
            <a:r>
              <a:rPr lang="en-US" altLang="zh-CN"/>
              <a:t> ​</a:t>
            </a:r>
          </a:p>
          <a:p>
            <a:r>
              <a:rPr lang="en-US" altLang="zh-CN"/>
              <a:t>Chandan Sejekan​</a:t>
            </a:r>
          </a:p>
          <a:p>
            <a:endParaRPr lang="en-US" altLang="zh-CN"/>
          </a:p>
          <a:p>
            <a:r>
              <a:rPr lang="en-US" altLang="zh-CN"/>
              <a:t>Consulting / leadership / people development​</a:t>
            </a:r>
          </a:p>
          <a:p>
            <a:endParaRPr lang="en-US" altLang="zh-CN"/>
          </a:p>
          <a:p>
            <a:r>
              <a:rPr lang="en-US" altLang="zh-CN"/>
              <a:t>Chandan is part of Impact’s advisory board and brings consulting rigor, leadership experience, and a focus on developing student consultants.​</a:t>
            </a:r>
          </a:p>
          <a:p>
            <a:endParaRPr lang="en-US" altLang="zh-CN"/>
          </a:p>
          <a:p>
            <a:r>
              <a:rPr lang="en-US" altLang="zh-CN"/>
              <a:t> ​</a:t>
            </a:r>
          </a:p>
          <a:p>
            <a:r>
              <a:rPr lang="en-US" altLang="zh-CN"/>
              <a:t>Irene Yeung​</a:t>
            </a:r>
          </a:p>
          <a:p>
            <a:endParaRPr lang="en-US" altLang="zh-CN"/>
          </a:p>
          <a:p>
            <a:r>
              <a:rPr lang="en-US" altLang="zh-CN"/>
              <a:t>Technology consulting / AI &amp; machine learning / digital transformation / data strategy​</a:t>
            </a:r>
          </a:p>
          <a:p>
            <a:endParaRPr lang="en-US" altLang="zh-CN"/>
          </a:p>
          <a:p>
            <a:r>
              <a:rPr lang="en-US" altLang="zh-CN"/>
              <a:t>Irene has 30+ years of experience in technology consulting. She co-founded a technology consulting firm that was later acquired, and has worked across business intelligence, AI/ML, digital transformation, data strategy, and executive stakeholder alignment.​</a:t>
            </a:r>
          </a:p>
          <a:p>
            <a:r>
              <a:rPr lang="en-US" altLang="zh-CN"/>
              <a:t>​</a:t>
            </a:r>
          </a:p>
          <a:p>
            <a:endParaRPr lang="en-US" altLang="zh-CN"/>
          </a:p>
          <a:p>
            <a:r>
              <a:rPr lang="en-US" altLang="zh-CN"/>
              <a:t>Rick Morris​</a:t>
            </a:r>
          </a:p>
          <a:p>
            <a:endParaRPr lang="en-US" altLang="zh-CN"/>
          </a:p>
          <a:p>
            <a:r>
              <a:rPr lang="en-US" altLang="zh-CN"/>
              <a:t>Insurance / acquisitions / corporate strategy / finance​</a:t>
            </a:r>
          </a:p>
          <a:p>
            <a:endParaRPr lang="en-US" altLang="zh-CN"/>
          </a:p>
          <a:p>
            <a:r>
              <a:rPr lang="en-US" altLang="zh-CN"/>
              <a:t>Rick is a Director of Acquisitions for Canada BrokerLink, part of Intact Financial Corporation. His background includes acquisition and integration of insurance brokerages, business development, distribution, underwriting management, and prior corporate strategy and finance work at BMO.​</a:t>
            </a:r>
          </a:p>
          <a:p>
            <a:r>
              <a:rPr lang="en-US" altLang="zh-CN"/>
              <a:t>​</a:t>
            </a:r>
          </a:p>
          <a:p>
            <a:endParaRPr lang="en-US" altLang="zh-CN"/>
          </a:p>
          <a:p>
            <a:r>
              <a:rPr lang="en-US" altLang="zh-CN"/>
              <a:t>Roger Thompson​</a:t>
            </a:r>
          </a:p>
          <a:p>
            <a:endParaRPr lang="en-US" altLang="zh-CN"/>
          </a:p>
          <a:p>
            <a:r>
              <a:rPr lang="en-US" altLang="zh-CN"/>
              <a:t>Operations / leadership / facilitation / organizational effectiveness​</a:t>
            </a:r>
          </a:p>
          <a:p>
            <a:endParaRPr lang="en-US" altLang="zh-CN"/>
          </a:p>
          <a:p>
            <a:r>
              <a:rPr lang="en-US" altLang="zh-CN"/>
              <a:t>Roger brings experience in consulting, executive leadership, meeting design, facilitation, and helping teams improve how they align, prioritize, and execute.​</a:t>
            </a:r>
          </a:p>
          <a:p>
            <a:r>
              <a:rPr lang="en-US" altLang="zh-CN"/>
              <a:t>​</a:t>
            </a:r>
          </a:p>
          <a:p>
            <a:endParaRPr lang="en-US" altLang="zh-CN"/>
          </a:p>
          <a:p>
            <a:r>
              <a:rPr lang="en-US" altLang="zh-CN"/>
              <a:t>Beatrix Dart​</a:t>
            </a:r>
          </a:p>
          <a:p>
            <a:endParaRPr lang="en-US" altLang="zh-CN"/>
          </a:p>
          <a:p>
            <a:r>
              <a:rPr lang="en-US" altLang="zh-CN"/>
              <a:t>Strategy / management consulting / social impact / corporate strategy​</a:t>
            </a:r>
          </a:p>
          <a:p>
            <a:endParaRPr lang="en-US" altLang="zh-CN"/>
          </a:p>
          <a:p>
            <a:r>
              <a:rPr lang="en-US" altLang="zh-CN"/>
              <a:t>Beatrix is a Professor of Strategy at Rotman and previously worked at McKinsey. She teaches management consulting, social impact, and corporate strategy, with a focus on growth strategies and experiential learning.​</a:t>
            </a:r>
          </a:p>
          <a:p>
            <a:endParaRPr lang="en-US" altLang="zh-CN"/>
          </a:p>
          <a:p>
            <a:r>
              <a:rPr lang="en-US" altLang="zh-CN"/>
              <a:t> ​</a:t>
            </a:r>
          </a:p>
          <a:p>
            <a:r>
              <a:rPr lang="en-US" altLang="zh-CN"/>
              <a:t>Katherine Magee​</a:t>
            </a:r>
          </a:p>
          <a:p>
            <a:endParaRPr lang="en-US" altLang="zh-CN"/>
          </a:p>
          <a:p>
            <a:r>
              <a:rPr lang="en-US" altLang="zh-CN"/>
              <a:t>Marketing / strategy planning / facilitation / training / sustainability​</a:t>
            </a:r>
          </a:p>
          <a:p>
            <a:endParaRPr lang="en-US" altLang="zh-CN"/>
          </a:p>
          <a:p>
            <a:r>
              <a:rPr lang="en-US" altLang="zh-CN"/>
              <a:t>Katherine is principal of The Magee Resource Group, focused on strategy planning, training, and facilitation. She was previously VP Marketing at Franklin Templeton and has also worked on sustainability-related initiatives.​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asks + Deliverables">
    <p:spTree>
      <p:nvGrpSpPr>
        <p:cNvPr id="1" name=""/>
        <p:cNvGrpSpPr/>
        <p:nvPr/>
      </p:nvGrpSpPr>
      <p:grpSpPr>
        <a:xfrm>
          <a:off x="0" y="0"/>
          <a:ext cx="0" cy="0"/>
          <a:chOff x="0" y="0"/>
          <a:chExt cx="0" cy="0"/>
        </a:xfrm>
      </p:grpSpPr>
      <p:sp>
        <p:nvSpPr>
          <p:cNvPr id="12" name="TextBox 11"/>
          <p:cNvSpPr txBox="1"/>
          <p:nvPr userDrawn="1"/>
        </p:nvSpPr>
        <p:spPr>
          <a:xfrm>
            <a:off x="518511" y="229356"/>
            <a:ext cx="11182423" cy="535531"/>
          </a:xfrm>
          <a:prstGeom prst="rect">
            <a:avLst/>
          </a:prstGeom>
          <a:noFill/>
        </p:spPr>
        <p:txBody>
          <a:bodyPr wrap="square" rtlCol="0">
            <a:spAutoFit/>
          </a:bodyPr>
          <a:lstStyle/>
          <a:p>
            <a:pPr algn="l"/>
            <a:r>
              <a:rPr lang="en-US" sz="2880">
                <a:solidFill>
                  <a:schemeClr val="bg1"/>
                </a:solidFill>
              </a:rPr>
              <a:t>Work Plan and Tasks</a:t>
            </a:r>
          </a:p>
        </p:txBody>
      </p:sp>
      <p:cxnSp>
        <p:nvCxnSpPr>
          <p:cNvPr id="8" name="Straight Connector 7"/>
          <p:cNvCxnSpPr/>
          <p:nvPr userDrawn="1"/>
        </p:nvCxnSpPr>
        <p:spPr>
          <a:xfrm>
            <a:off x="518511" y="966229"/>
            <a:ext cx="1118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a:srcRect l="21345" t="18252" r="20414" b="17137"/>
          <a:stretch>
            <a:fillRect/>
          </a:stretch>
        </p:blipFill>
        <p:spPr>
          <a:xfrm>
            <a:off x="518511" y="6356350"/>
            <a:ext cx="952270" cy="350620"/>
          </a:xfrm>
          <a:prstGeom prst="rect">
            <a:avLst/>
          </a:prstGeom>
        </p:spPr>
      </p:pic>
      <p:sp>
        <p:nvSpPr>
          <p:cNvPr id="7" name="Footer Placeholder 6"/>
          <p:cNvSpPr>
            <a:spLocks noGrp="1"/>
          </p:cNvSpPr>
          <p:nvPr>
            <p:ph type="ftr" sz="quarter" idx="11"/>
          </p:nvPr>
        </p:nvSpPr>
        <p:spPr>
          <a:xfrm>
            <a:off x="4188229" y="6356350"/>
            <a:ext cx="4114800" cy="365125"/>
          </a:xfrm>
        </p:spPr>
        <p:txBody>
          <a:bodyPr/>
          <a:lstStyle>
            <a:lvl1pPr>
              <a:defRPr i="1"/>
            </a:lvl1pPr>
          </a:lstStyle>
          <a:p>
            <a:r>
              <a:rPr lang="en-US"/>
              <a:t>Private &amp; Confidential</a:t>
            </a:r>
            <a:endParaRPr lang="en-US" i="1"/>
          </a:p>
        </p:txBody>
      </p:sp>
      <p:sp>
        <p:nvSpPr>
          <p:cNvPr id="10" name="Slide Number Placeholder 9"/>
          <p:cNvSpPr>
            <a:spLocks noGrp="1"/>
          </p:cNvSpPr>
          <p:nvPr>
            <p:ph type="sldNum" sz="quarter" idx="12"/>
          </p:nvPr>
        </p:nvSpPr>
        <p:spPr>
          <a:xfrm>
            <a:off x="8957734" y="6356350"/>
            <a:ext cx="2743200" cy="365125"/>
          </a:xfrm>
        </p:spPr>
        <p:txBody>
          <a:bodyPr/>
          <a:lstStyle/>
          <a:p>
            <a:fld id="{1B918DEF-275F-1843-935A-C55703EAE545}" type="slidenum">
              <a:rPr lang="en-US" smtClean="0"/>
              <a:t>‹#›</a:t>
            </a:fld>
            <a:endParaRPr lang="en-US"/>
          </a:p>
        </p:txBody>
      </p:sp>
      <p:cxnSp>
        <p:nvCxnSpPr>
          <p:cNvPr id="11" name="Straight Connector 10"/>
          <p:cNvCxnSpPr/>
          <p:nvPr userDrawn="1"/>
        </p:nvCxnSpPr>
        <p:spPr>
          <a:xfrm>
            <a:off x="518511" y="6176861"/>
            <a:ext cx="1118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itle 1"/>
          <p:cNvSpPr>
            <a:spLocks noGrp="1"/>
          </p:cNvSpPr>
          <p:nvPr>
            <p:ph type="title"/>
          </p:nvPr>
        </p:nvSpPr>
        <p:spPr>
          <a:xfrm>
            <a:off x="518511" y="326969"/>
            <a:ext cx="11154978" cy="588467"/>
          </a:xfrm>
        </p:spPr>
        <p:txBody>
          <a:bodyPr lIns="0">
            <a:noAutofit/>
          </a:bodyPr>
          <a:lstStyle>
            <a:lvl1pPr>
              <a:defRPr sz="4000">
                <a:solidFill>
                  <a:srgbClr val="004A7E"/>
                </a:solidFill>
              </a:defRPr>
            </a:lvl1p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slideLayout" Target="../slideLayouts/slideLayout12.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7.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3.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image" Target="../media/image6.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2.pn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5.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notesSlide" Target="../notesSlides/notesSlide2.xml"/><Relationship Id="rId30" Type="http://schemas.openxmlformats.org/officeDocument/2006/relationships/image" Target="../media/image4.png"/><Relationship Id="rId8" Type="http://schemas.openxmlformats.org/officeDocument/2006/relationships/tags" Target="../tags/tag8.xml"/></Relationships>
</file>

<file path=ppt/slides/_rels/slide3.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notesSlide" Target="../notesSlides/notesSlide3.xml"/><Relationship Id="rId3" Type="http://schemas.openxmlformats.org/officeDocument/2006/relationships/tags" Target="../tags/tag28.xml"/><Relationship Id="rId21" Type="http://schemas.openxmlformats.org/officeDocument/2006/relationships/image" Target="../media/image9.svg"/><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slideLayout" Target="../slideLayouts/slideLayout12.xml"/><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image" Target="../media/image8.sv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23" Type="http://schemas.openxmlformats.org/officeDocument/2006/relationships/image" Target="../media/image11.svg"/><Relationship Id="rId10" Type="http://schemas.openxmlformats.org/officeDocument/2006/relationships/tags" Target="../tags/tag35.xml"/><Relationship Id="rId19" Type="http://schemas.openxmlformats.org/officeDocument/2006/relationships/image" Target="../media/image2.png"/><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notesSlide" Target="../notesSlides/notesSlide4.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slideLayout" Target="../slideLayouts/slideLayout12.xml"/><Relationship Id="rId2" Type="http://schemas.openxmlformats.org/officeDocument/2006/relationships/tags" Target="../tags/tag43.xml"/><Relationship Id="rId16" Type="http://schemas.openxmlformats.org/officeDocument/2006/relationships/tags" Target="../tags/tag57.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tags" Target="../tags/tag56.xml"/><Relationship Id="rId10" Type="http://schemas.openxmlformats.org/officeDocument/2006/relationships/tags" Target="../tags/tag51.xml"/><Relationship Id="rId19" Type="http://schemas.openxmlformats.org/officeDocument/2006/relationships/image" Target="../media/image2.png"/><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s>
</file>

<file path=ppt/slides/_rels/slide5.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slideLayout" Target="../slideLayouts/slideLayout12.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image" Target="../media/image12.png"/><Relationship Id="rId2" Type="http://schemas.openxmlformats.org/officeDocument/2006/relationships/tags" Target="../tags/tag59.xml"/><Relationship Id="rId16" Type="http://schemas.openxmlformats.org/officeDocument/2006/relationships/image" Target="../media/image2.png"/><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microsoft.com/office/2018/10/relationships/comments" Target="../comments/modernComment_112_0.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2.xml"/><Relationship Id="rId7" Type="http://schemas.microsoft.com/office/2018/10/relationships/comments" Target="../comments/modernComment_111_0.xml"/><Relationship Id="rId12" Type="http://schemas.openxmlformats.org/officeDocument/2006/relationships/image" Target="../media/image36.sv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notesSlide" Target="../notesSlides/notesSlide7.xml"/><Relationship Id="rId11" Type="http://schemas.openxmlformats.org/officeDocument/2006/relationships/image" Target="../media/image35.svg"/><Relationship Id="rId5" Type="http://schemas.openxmlformats.org/officeDocument/2006/relationships/slideLayout" Target="../slideLayouts/slideLayout12.xml"/><Relationship Id="rId10" Type="http://schemas.openxmlformats.org/officeDocument/2006/relationships/image" Target="../media/image34.svg"/><Relationship Id="rId4" Type="http://schemas.openxmlformats.org/officeDocument/2006/relationships/tags" Target="../tags/tag73.xml"/><Relationship Id="rId9" Type="http://schemas.openxmlformats.org/officeDocument/2006/relationships/image" Target="../media/image3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3" Type="http://schemas.openxmlformats.org/officeDocument/2006/relationships/tags" Target="../tags/tag86.xml"/><Relationship Id="rId18" Type="http://schemas.openxmlformats.org/officeDocument/2006/relationships/tags" Target="../tags/tag91.xml"/><Relationship Id="rId26" Type="http://schemas.openxmlformats.org/officeDocument/2006/relationships/slideLayout" Target="../slideLayouts/slideLayout7.xml"/><Relationship Id="rId3" Type="http://schemas.openxmlformats.org/officeDocument/2006/relationships/tags" Target="../tags/tag76.xml"/><Relationship Id="rId21" Type="http://schemas.openxmlformats.org/officeDocument/2006/relationships/tags" Target="../tags/tag94.xml"/><Relationship Id="rId34" Type="http://schemas.openxmlformats.org/officeDocument/2006/relationships/image" Target="../media/image38.png"/><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5" Type="http://schemas.openxmlformats.org/officeDocument/2006/relationships/tags" Target="../tags/tag98.xml"/><Relationship Id="rId33" Type="http://schemas.openxmlformats.org/officeDocument/2006/relationships/image" Target="../media/image7.png"/><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tags" Target="../tags/tag93.xml"/><Relationship Id="rId29" Type="http://schemas.openxmlformats.org/officeDocument/2006/relationships/image" Target="../media/image3.png"/><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tags" Target="../tags/tag97.xml"/><Relationship Id="rId32" Type="http://schemas.openxmlformats.org/officeDocument/2006/relationships/image" Target="../media/image6.png"/><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tags" Target="../tags/tag96.xml"/><Relationship Id="rId28" Type="http://schemas.openxmlformats.org/officeDocument/2006/relationships/image" Target="../media/image2.png"/><Relationship Id="rId10" Type="http://schemas.openxmlformats.org/officeDocument/2006/relationships/tags" Target="../tags/tag83.xml"/><Relationship Id="rId19" Type="http://schemas.openxmlformats.org/officeDocument/2006/relationships/tags" Target="../tags/tag92.xml"/><Relationship Id="rId31" Type="http://schemas.openxmlformats.org/officeDocument/2006/relationships/image" Target="../media/image5.png"/><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tags" Target="../tags/tag95.xml"/><Relationship Id="rId27" Type="http://schemas.openxmlformats.org/officeDocument/2006/relationships/notesSlide" Target="../notesSlides/notesSlide10.xml"/><Relationship Id="rId30" Type="http://schemas.openxmlformats.org/officeDocument/2006/relationships/image" Target="../media/image4.png"/><Relationship Id="rId8" Type="http://schemas.openxmlformats.org/officeDocument/2006/relationships/tags" Target="../tags/tag81.xml"/></Relationships>
</file>

<file path=ppt/slides/_rels/slide11.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tags" Target="../tags/tag116.xml"/><Relationship Id="rId26" Type="http://schemas.openxmlformats.org/officeDocument/2006/relationships/notesSlide" Target="../notesSlides/notesSlide11.xml"/><Relationship Id="rId3" Type="http://schemas.openxmlformats.org/officeDocument/2006/relationships/tags" Target="../tags/tag101.xml"/><Relationship Id="rId21" Type="http://schemas.openxmlformats.org/officeDocument/2006/relationships/tags" Target="../tags/tag119.xml"/><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tags" Target="../tags/tag115.xml"/><Relationship Id="rId25" Type="http://schemas.openxmlformats.org/officeDocument/2006/relationships/slideLayout" Target="../slideLayouts/slideLayout12.xml"/><Relationship Id="rId2" Type="http://schemas.openxmlformats.org/officeDocument/2006/relationships/tags" Target="../tags/tag100.xml"/><Relationship Id="rId16" Type="http://schemas.openxmlformats.org/officeDocument/2006/relationships/tags" Target="../tags/tag114.xml"/><Relationship Id="rId20" Type="http://schemas.openxmlformats.org/officeDocument/2006/relationships/tags" Target="../tags/tag118.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24" Type="http://schemas.openxmlformats.org/officeDocument/2006/relationships/tags" Target="../tags/tag122.xml"/><Relationship Id="rId5" Type="http://schemas.openxmlformats.org/officeDocument/2006/relationships/tags" Target="../tags/tag103.xml"/><Relationship Id="rId15" Type="http://schemas.openxmlformats.org/officeDocument/2006/relationships/tags" Target="../tags/tag113.xml"/><Relationship Id="rId23" Type="http://schemas.openxmlformats.org/officeDocument/2006/relationships/tags" Target="../tags/tag121.xml"/><Relationship Id="rId10" Type="http://schemas.openxmlformats.org/officeDocument/2006/relationships/tags" Target="../tags/tag108.xml"/><Relationship Id="rId19" Type="http://schemas.openxmlformats.org/officeDocument/2006/relationships/tags" Target="../tags/tag117.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 Id="rId22" Type="http://schemas.openxmlformats.org/officeDocument/2006/relationships/tags" Target="../tags/tag120.xml"/><Relationship Id="rId27"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18" Type="http://schemas.openxmlformats.org/officeDocument/2006/relationships/image" Target="../media/image2.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tags" Target="../tags/tag134.xml"/><Relationship Id="rId17" Type="http://schemas.openxmlformats.org/officeDocument/2006/relationships/notesSlide" Target="../notesSlides/notesSlide12.xml"/><Relationship Id="rId2" Type="http://schemas.openxmlformats.org/officeDocument/2006/relationships/tags" Target="../tags/tag124.xml"/><Relationship Id="rId16" Type="http://schemas.openxmlformats.org/officeDocument/2006/relationships/slideLayout" Target="../slideLayouts/slideLayout12.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tags" Target="../tags/tag137.xml"/><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microsoft.com/office/2018/10/relationships/comments" Target="../comments/modernComment_11D_0.xml"/><Relationship Id="rId7" Type="http://schemas.openxmlformats.org/officeDocument/2006/relationships/image" Target="../media/image41.jpeg"/><Relationship Id="rId12" Type="http://schemas.openxmlformats.org/officeDocument/2006/relationships/image" Target="../media/image46.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0.jpeg"/><Relationship Id="rId11" Type="http://schemas.openxmlformats.org/officeDocument/2006/relationships/image" Target="../media/image45.jpeg"/><Relationship Id="rId5" Type="http://schemas.openxmlformats.org/officeDocument/2006/relationships/image" Target="../media/image39.jpeg"/><Relationship Id="rId10" Type="http://schemas.openxmlformats.org/officeDocument/2006/relationships/image" Target="../media/image44.jpeg"/><Relationship Id="rId4" Type="http://schemas.openxmlformats.org/officeDocument/2006/relationships/image" Target="../media/image2.png"/><Relationship Id="rId9" Type="http://schemas.openxmlformats.org/officeDocument/2006/relationships/image" Target="../media/image43.png"/><Relationship Id="rId14" Type="http://schemas.openxmlformats.org/officeDocument/2006/relationships/image" Target="../media/image48.jpeg"/></Relationships>
</file>

<file path=ppt/slides/_rels/slide15.xml.rels><?xml version="1.0" encoding="UTF-8" standalone="yes"?>
<Relationships xmlns="http://schemas.openxmlformats.org/package/2006/relationships"><Relationship Id="rId8" Type="http://schemas.openxmlformats.org/officeDocument/2006/relationships/tags" Target="../tags/tag145.xml"/><Relationship Id="rId13" Type="http://schemas.openxmlformats.org/officeDocument/2006/relationships/tags" Target="../tags/tag150.xml"/><Relationship Id="rId18" Type="http://schemas.openxmlformats.org/officeDocument/2006/relationships/tags" Target="../tags/tag155.xml"/><Relationship Id="rId3" Type="http://schemas.openxmlformats.org/officeDocument/2006/relationships/tags" Target="../tags/tag140.xml"/><Relationship Id="rId21" Type="http://schemas.openxmlformats.org/officeDocument/2006/relationships/slideLayout" Target="../slideLayouts/slideLayout12.xml"/><Relationship Id="rId7" Type="http://schemas.openxmlformats.org/officeDocument/2006/relationships/tags" Target="../tags/tag144.xml"/><Relationship Id="rId12" Type="http://schemas.openxmlformats.org/officeDocument/2006/relationships/tags" Target="../tags/tag149.xml"/><Relationship Id="rId17" Type="http://schemas.openxmlformats.org/officeDocument/2006/relationships/tags" Target="../tags/tag154.xml"/><Relationship Id="rId2" Type="http://schemas.openxmlformats.org/officeDocument/2006/relationships/tags" Target="../tags/tag139.xml"/><Relationship Id="rId16" Type="http://schemas.openxmlformats.org/officeDocument/2006/relationships/tags" Target="../tags/tag153.xml"/><Relationship Id="rId20" Type="http://schemas.openxmlformats.org/officeDocument/2006/relationships/tags" Target="../tags/tag157.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5" Type="http://schemas.openxmlformats.org/officeDocument/2006/relationships/tags" Target="../tags/tag142.xml"/><Relationship Id="rId15" Type="http://schemas.openxmlformats.org/officeDocument/2006/relationships/tags" Target="../tags/tag152.xml"/><Relationship Id="rId23" Type="http://schemas.openxmlformats.org/officeDocument/2006/relationships/image" Target="../media/image2.png"/><Relationship Id="rId10" Type="http://schemas.openxmlformats.org/officeDocument/2006/relationships/tags" Target="../tags/tag147.xml"/><Relationship Id="rId19" Type="http://schemas.openxmlformats.org/officeDocument/2006/relationships/tags" Target="../tags/tag156.xml"/><Relationship Id="rId4" Type="http://schemas.openxmlformats.org/officeDocument/2006/relationships/tags" Target="../tags/tag141.xml"/><Relationship Id="rId9" Type="http://schemas.openxmlformats.org/officeDocument/2006/relationships/tags" Target="../tags/tag146.xml"/><Relationship Id="rId14" Type="http://schemas.openxmlformats.org/officeDocument/2006/relationships/tags" Target="../tags/tag151.xml"/><Relationship Id="rId2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F4A"/>
          </a:solidFill>
          <a:ln w="12700">
            <a:solidFill>
              <a:srgbClr val="0B2F4A"/>
            </a:solidFill>
            <a:prstDash val="solid"/>
          </a:ln>
        </p:spPr>
        <p:txBody>
          <a:bodyPr/>
          <a:lstStyle/>
          <a:p>
            <a:endParaRPr lang="zh-CN" altLang="en-US"/>
          </a:p>
        </p:txBody>
      </p:sp>
      <p:sp>
        <p:nvSpPr>
          <p:cNvPr id="6" name="Shape 4"/>
          <p:cNvSpPr/>
          <p:nvPr/>
        </p:nvSpPr>
        <p:spPr>
          <a:xfrm>
            <a:off x="685800" y="640080"/>
            <a:ext cx="1828800" cy="685800"/>
          </a:xfrm>
          <a:prstGeom prst="rect">
            <a:avLst/>
          </a:prstGeom>
          <a:solidFill>
            <a:srgbClr val="FFFFFF"/>
          </a:solidFill>
          <a:ln w="12700">
            <a:solidFill>
              <a:srgbClr val="FFFFFF"/>
            </a:solidFill>
            <a:prstDash val="solid"/>
          </a:ln>
        </p:spPr>
        <p:txBody>
          <a:bodyPr/>
          <a:lstStyle/>
          <a:p>
            <a:endParaRPr lang="zh-CN" altLang="en-US"/>
          </a:p>
        </p:txBody>
      </p:sp>
      <p:pic>
        <p:nvPicPr>
          <p:cNvPr id="7" name="Image 0" descr="/mnt/data/ppt_assets/old_image2.png"/>
          <p:cNvPicPr>
            <a:picLocks noChangeAspect="1"/>
          </p:cNvPicPr>
          <p:nvPr/>
        </p:nvPicPr>
        <p:blipFill>
          <a:blip r:embed="rId3"/>
          <a:stretch>
            <a:fillRect/>
          </a:stretch>
        </p:blipFill>
        <p:spPr>
          <a:xfrm>
            <a:off x="850392" y="734314"/>
            <a:ext cx="1417320" cy="521208"/>
          </a:xfrm>
          <a:prstGeom prst="rect">
            <a:avLst/>
          </a:prstGeom>
        </p:spPr>
      </p:pic>
      <p:sp>
        <p:nvSpPr>
          <p:cNvPr id="8" name="Text 5"/>
          <p:cNvSpPr/>
          <p:nvPr/>
        </p:nvSpPr>
        <p:spPr>
          <a:xfrm>
            <a:off x="731520" y="2148840"/>
            <a:ext cx="8686800" cy="548640"/>
          </a:xfrm>
          <a:prstGeom prst="rect">
            <a:avLst/>
          </a:prstGeom>
          <a:noFill/>
        </p:spPr>
        <p:txBody>
          <a:bodyPr wrap="square" lIns="0" tIns="0" rIns="0" bIns="0" rtlCol="0" anchor="ctr"/>
          <a:lstStyle/>
          <a:p>
            <a:pPr marL="0" indent="0">
              <a:buNone/>
            </a:pPr>
            <a:r>
              <a:rPr lang="en-US" sz="3400" b="1">
                <a:solidFill>
                  <a:srgbClr val="FFFFFF"/>
                </a:solidFill>
                <a:latin typeface="Aptos Display" pitchFamily="34" charset="0"/>
                <a:ea typeface="Aptos Display" pitchFamily="34" charset="-122"/>
                <a:cs typeface="Aptos Display" pitchFamily="34" charset="-120"/>
              </a:rPr>
              <a:t>Impact Consulting Group</a:t>
            </a:r>
            <a:endParaRPr lang="en-US" sz="3400"/>
          </a:p>
        </p:txBody>
      </p:sp>
      <p:sp>
        <p:nvSpPr>
          <p:cNvPr id="9" name="Text 6"/>
          <p:cNvSpPr/>
          <p:nvPr/>
        </p:nvSpPr>
        <p:spPr>
          <a:xfrm>
            <a:off x="749808" y="2788920"/>
            <a:ext cx="7772400" cy="292608"/>
          </a:xfrm>
          <a:prstGeom prst="rect">
            <a:avLst/>
          </a:prstGeom>
          <a:noFill/>
        </p:spPr>
        <p:txBody>
          <a:bodyPr wrap="square" lIns="0" tIns="0" rIns="0" bIns="0" rtlCol="0" anchor="ctr"/>
          <a:lstStyle/>
          <a:p>
            <a:pPr marL="0" indent="0">
              <a:buNone/>
            </a:pPr>
            <a:r>
              <a:rPr lang="en-US" sz="1600">
                <a:solidFill>
                  <a:srgbClr val="DDE7F0"/>
                </a:solidFill>
              </a:rPr>
              <a:t>Rotman MBA-Led Consulting Since 1972</a:t>
            </a:r>
            <a:endParaRPr lang="en-US" sz="1600"/>
          </a:p>
        </p:txBody>
      </p:sp>
      <p:sp>
        <p:nvSpPr>
          <p:cNvPr id="10" name="Shape 7"/>
          <p:cNvSpPr/>
          <p:nvPr/>
        </p:nvSpPr>
        <p:spPr>
          <a:xfrm>
            <a:off x="749808" y="3246120"/>
            <a:ext cx="1005840" cy="50292"/>
          </a:xfrm>
          <a:prstGeom prst="rect">
            <a:avLst/>
          </a:prstGeom>
          <a:solidFill>
            <a:srgbClr val="5B7892"/>
          </a:solidFill>
          <a:ln w="12700">
            <a:solidFill>
              <a:srgbClr val="5B7892"/>
            </a:solidFill>
            <a:prstDash val="solid"/>
          </a:ln>
        </p:spPr>
        <p:txBody>
          <a:bodyPr/>
          <a:lstStyle/>
          <a:p>
            <a:endParaRPr lang="zh-CN" altLang="en-US"/>
          </a:p>
        </p:txBody>
      </p:sp>
      <p:sp>
        <p:nvSpPr>
          <p:cNvPr id="12" name="Text 9"/>
          <p:cNvSpPr/>
          <p:nvPr/>
        </p:nvSpPr>
        <p:spPr>
          <a:xfrm>
            <a:off x="749808" y="6053328"/>
            <a:ext cx="5212080" cy="201168"/>
          </a:xfrm>
          <a:prstGeom prst="rect">
            <a:avLst/>
          </a:prstGeom>
          <a:noFill/>
        </p:spPr>
        <p:txBody>
          <a:bodyPr wrap="square" lIns="0" tIns="0" rIns="0" bIns="0" rtlCol="0" anchor="ctr"/>
          <a:lstStyle/>
          <a:p>
            <a:pPr marL="0" indent="0">
              <a:buNone/>
            </a:pPr>
            <a:r>
              <a:rPr lang="en-US" sz="1050">
                <a:solidFill>
                  <a:srgbClr val="B8C7D3"/>
                </a:solidFill>
              </a:rPr>
              <a:t>Rotman School of Management | University of Toronto</a:t>
            </a:r>
            <a:endParaRPr lang="en-US" sz="1050"/>
          </a:p>
        </p:txBody>
      </p:sp>
      <p:sp>
        <p:nvSpPr>
          <p:cNvPr id="13" name="Text 10"/>
          <p:cNvSpPr/>
          <p:nvPr/>
        </p:nvSpPr>
        <p:spPr>
          <a:xfrm>
            <a:off x="8229600" y="6053328"/>
            <a:ext cx="3154680" cy="201168"/>
          </a:xfrm>
          <a:prstGeom prst="rect">
            <a:avLst/>
          </a:prstGeom>
          <a:noFill/>
        </p:spPr>
        <p:txBody>
          <a:bodyPr wrap="square" lIns="0" tIns="0" rIns="0" bIns="0" rtlCol="0" anchor="ctr"/>
          <a:lstStyle/>
          <a:p>
            <a:pPr marL="0" indent="0" algn="r">
              <a:buNone/>
            </a:pPr>
            <a:r>
              <a:rPr lang="en-US" sz="1050">
                <a:solidFill>
                  <a:srgbClr val="B8C7D3"/>
                </a:solidFill>
              </a:rPr>
              <a:t>impact@rotman.utoronto.ca</a:t>
            </a:r>
            <a:endParaRPr lang="en-US" sz="1050"/>
          </a:p>
        </p:txBody>
      </p:sp>
      <p:grpSp>
        <p:nvGrpSpPr>
          <p:cNvPr id="3" name="Group 2">
            <a:extLst>
              <a:ext uri="{FF2B5EF4-FFF2-40B4-BE49-F238E27FC236}">
                <a16:creationId xmlns:a16="http://schemas.microsoft.com/office/drawing/2014/main" id="{50A4E9A1-1BD6-385E-FE6A-7DD11585223B}"/>
              </a:ext>
            </a:extLst>
          </p:cNvPr>
          <p:cNvGrpSpPr/>
          <p:nvPr/>
        </p:nvGrpSpPr>
        <p:grpSpPr>
          <a:xfrm>
            <a:off x="749808" y="4019148"/>
            <a:ext cx="4557483" cy="827172"/>
            <a:chOff x="205080" y="906748"/>
            <a:chExt cx="3670107" cy="560428"/>
          </a:xfrm>
        </p:grpSpPr>
        <p:sp>
          <p:nvSpPr>
            <p:cNvPr id="4" name="Rectangle 3">
              <a:extLst>
                <a:ext uri="{FF2B5EF4-FFF2-40B4-BE49-F238E27FC236}">
                  <a16:creationId xmlns:a16="http://schemas.microsoft.com/office/drawing/2014/main" id="{CD8985B7-C31D-AC88-4165-FBDEB6431234}"/>
                </a:ext>
              </a:extLst>
            </p:cNvPr>
            <p:cNvSpPr/>
            <p:nvPr/>
          </p:nvSpPr>
          <p:spPr>
            <a:xfrm>
              <a:off x="205080" y="916959"/>
              <a:ext cx="1151421" cy="550217"/>
            </a:xfrm>
            <a:prstGeom prst="rect">
              <a:avLst/>
            </a:prstGeom>
            <a:solidFill>
              <a:srgbClr val="0B2F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latin typeface="Arial" panose="020B0604020202020204" pitchFamily="34" charset="0"/>
                  <a:ea typeface="Calibri"/>
                  <a:cs typeface="Arial" panose="020B0604020202020204" pitchFamily="34" charset="0"/>
                </a:rPr>
                <a:t>50 +</a:t>
              </a:r>
              <a:br>
                <a:rPr lang="en-US" b="1">
                  <a:solidFill>
                    <a:schemeClr val="bg1"/>
                  </a:solidFill>
                  <a:latin typeface="Arial" panose="020B0604020202020204" pitchFamily="34" charset="0"/>
                  <a:ea typeface="Calibri"/>
                  <a:cs typeface="Arial" panose="020B0604020202020204" pitchFamily="34" charset="0"/>
                </a:rPr>
              </a:br>
              <a:r>
                <a:rPr lang="en-US" sz="900" b="1">
                  <a:solidFill>
                    <a:schemeClr val="bg1"/>
                  </a:solidFill>
                  <a:latin typeface="Arial" panose="020B0604020202020204" pitchFamily="34" charset="0"/>
                  <a:ea typeface="Calibri"/>
                  <a:cs typeface="Arial" panose="020B0604020202020204" pitchFamily="34" charset="0"/>
                </a:rPr>
                <a:t>Years of Legacy</a:t>
              </a:r>
              <a:endParaRPr lang="en-US" sz="1000" b="1">
                <a:solidFill>
                  <a:schemeClr val="bg1"/>
                </a:solidFill>
                <a:latin typeface="Arial" panose="020B0604020202020204" pitchFamily="34" charset="0"/>
                <a:ea typeface="Calibri"/>
                <a:cs typeface="Arial" panose="020B0604020202020204" pitchFamily="34" charset="0"/>
              </a:endParaRPr>
            </a:p>
          </p:txBody>
        </p:sp>
        <p:sp>
          <p:nvSpPr>
            <p:cNvPr id="5" name="Rectangle 4">
              <a:extLst>
                <a:ext uri="{FF2B5EF4-FFF2-40B4-BE49-F238E27FC236}">
                  <a16:creationId xmlns:a16="http://schemas.microsoft.com/office/drawing/2014/main" id="{51807B60-BF63-71A3-8F17-5C390F083C14}"/>
                </a:ext>
              </a:extLst>
            </p:cNvPr>
            <p:cNvSpPr/>
            <p:nvPr/>
          </p:nvSpPr>
          <p:spPr>
            <a:xfrm>
              <a:off x="1464423" y="906748"/>
              <a:ext cx="1151421" cy="552707"/>
            </a:xfrm>
            <a:prstGeom prst="rect">
              <a:avLst/>
            </a:prstGeom>
            <a:solidFill>
              <a:srgbClr val="0B2F4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bg1"/>
                  </a:solidFill>
                  <a:latin typeface="Arial" panose="020B0604020202020204" pitchFamily="34" charset="0"/>
                  <a:ea typeface="Calibri"/>
                  <a:cs typeface="Arial" panose="020B0604020202020204" pitchFamily="34" charset="0"/>
                </a:rPr>
                <a:t>400 +</a:t>
              </a:r>
              <a:br>
                <a:rPr lang="en-US" b="1">
                  <a:solidFill>
                    <a:schemeClr val="bg1"/>
                  </a:solidFill>
                  <a:latin typeface="Arial" panose="020B0604020202020204" pitchFamily="34" charset="0"/>
                  <a:ea typeface="Calibri"/>
                  <a:cs typeface="Arial" panose="020B0604020202020204" pitchFamily="34" charset="0"/>
                </a:rPr>
              </a:br>
              <a:r>
                <a:rPr lang="en-US" sz="900" b="1">
                  <a:solidFill>
                    <a:schemeClr val="bg1"/>
                  </a:solidFill>
                  <a:latin typeface="Arial" panose="020B0604020202020204" pitchFamily="34" charset="0"/>
                  <a:ea typeface="Calibri"/>
                  <a:cs typeface="Arial" panose="020B0604020202020204" pitchFamily="34" charset="0"/>
                </a:rPr>
                <a:t>Completed Projects</a:t>
              </a:r>
              <a:endParaRPr lang="en-US" sz="1400" b="1">
                <a:solidFill>
                  <a:schemeClr val="bg1"/>
                </a:solidFill>
                <a:latin typeface="Arial" panose="020B0604020202020204" pitchFamily="34" charset="0"/>
                <a:ea typeface="Calibri"/>
                <a:cs typeface="Arial" panose="020B0604020202020204" pitchFamily="34" charset="0"/>
              </a:endParaRPr>
            </a:p>
          </p:txBody>
        </p:sp>
        <p:sp>
          <p:nvSpPr>
            <p:cNvPr id="14" name="Rectangle 13">
              <a:extLst>
                <a:ext uri="{FF2B5EF4-FFF2-40B4-BE49-F238E27FC236}">
                  <a16:creationId xmlns:a16="http://schemas.microsoft.com/office/drawing/2014/main" id="{D33326E7-E293-66A3-5812-0CFB0C04B50A}"/>
                </a:ext>
              </a:extLst>
            </p:cNvPr>
            <p:cNvSpPr/>
            <p:nvPr/>
          </p:nvSpPr>
          <p:spPr>
            <a:xfrm>
              <a:off x="2723766" y="909205"/>
              <a:ext cx="1151421" cy="557971"/>
            </a:xfrm>
            <a:prstGeom prst="rect">
              <a:avLst/>
            </a:prstGeom>
            <a:solidFill>
              <a:srgbClr val="0B2F4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bg1"/>
                  </a:solidFill>
                  <a:latin typeface="Arial" panose="020B0604020202020204" pitchFamily="34" charset="0"/>
                  <a:ea typeface="Calibri"/>
                  <a:cs typeface="Arial" panose="020B0604020202020204" pitchFamily="34" charset="0"/>
                </a:rPr>
                <a:t>5 +</a:t>
              </a:r>
              <a:br>
                <a:rPr lang="en-US" b="1">
                  <a:solidFill>
                    <a:schemeClr val="bg1"/>
                  </a:solidFill>
                  <a:latin typeface="Arial" panose="020B0604020202020204" pitchFamily="34" charset="0"/>
                  <a:ea typeface="Calibri"/>
                  <a:cs typeface="Arial" panose="020B0604020202020204" pitchFamily="34" charset="0"/>
                </a:rPr>
              </a:br>
              <a:r>
                <a:rPr lang="en-US" sz="1000" b="1">
                  <a:solidFill>
                    <a:schemeClr val="bg1"/>
                  </a:solidFill>
                  <a:latin typeface="Arial" panose="020B0604020202020204" pitchFamily="34" charset="0"/>
                  <a:ea typeface="Calibri"/>
                  <a:cs typeface="Arial" panose="020B0604020202020204" pitchFamily="34" charset="0"/>
                </a:rPr>
                <a:t>Sectors Serviced</a:t>
              </a:r>
              <a:endParaRPr lang="en-US" sz="1400" b="1">
                <a:solidFill>
                  <a:schemeClr val="bg1"/>
                </a:solidFill>
                <a:latin typeface="Arial" panose="020B0604020202020204" pitchFamily="34" charset="0"/>
                <a:ea typeface="Calibri"/>
                <a:cs typeface="Arial" panose="020B060402020202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288A3-5C73-C666-BB1F-FD650F4E1B79}"/>
            </a:ext>
          </a:extLst>
        </p:cNvPr>
        <p:cNvGrpSpPr/>
        <p:nvPr/>
      </p:nvGrpSpPr>
      <p:grpSpPr>
        <a:xfrm>
          <a:off x="0" y="0"/>
          <a:ext cx="0" cy="0"/>
          <a:chOff x="0" y="0"/>
          <a:chExt cx="0" cy="0"/>
        </a:xfrm>
      </p:grpSpPr>
      <p:pic>
        <p:nvPicPr>
          <p:cNvPr id="2" name="Image 0" descr="/mnt/data/ppt_assets/old_image2.png">
            <a:extLst>
              <a:ext uri="{FF2B5EF4-FFF2-40B4-BE49-F238E27FC236}">
                <a16:creationId xmlns:a16="http://schemas.microsoft.com/office/drawing/2014/main" id="{71CD2B31-9AB6-0BC9-D310-9821B06CD889}"/>
              </a:ext>
            </a:extLst>
          </p:cNvPr>
          <p:cNvPicPr>
            <a:picLocks noChangeAspect="1"/>
          </p:cNvPicPr>
          <p:nvPr/>
        </p:nvPicPr>
        <p:blipFill>
          <a:blip r:embed="rId28"/>
          <a:stretch>
            <a:fillRect/>
          </a:stretch>
        </p:blipFill>
        <p:spPr>
          <a:xfrm>
            <a:off x="502920" y="292608"/>
            <a:ext cx="1417320" cy="519684"/>
          </a:xfrm>
          <a:prstGeom prst="rect">
            <a:avLst/>
          </a:prstGeom>
        </p:spPr>
      </p:pic>
      <p:sp>
        <p:nvSpPr>
          <p:cNvPr id="4" name="Text 1">
            <a:extLst>
              <a:ext uri="{FF2B5EF4-FFF2-40B4-BE49-F238E27FC236}">
                <a16:creationId xmlns:a16="http://schemas.microsoft.com/office/drawing/2014/main" id="{44748791-EF6C-A8F2-B6AE-DF3F1AB02091}"/>
              </a:ext>
            </a:extLst>
          </p:cNvPr>
          <p:cNvSpPr/>
          <p:nvPr/>
        </p:nvSpPr>
        <p:spPr>
          <a:xfrm>
            <a:off x="640080" y="1097280"/>
            <a:ext cx="8778240" cy="438912"/>
          </a:xfrm>
          <a:prstGeom prst="rect">
            <a:avLst/>
          </a:prstGeom>
          <a:noFill/>
        </p:spPr>
        <p:txBody>
          <a:bodyPr wrap="square" lIns="0" tIns="0" rIns="0" bIns="0" rtlCol="0" anchor="ctr"/>
          <a:lstStyle/>
          <a:p>
            <a:r>
              <a:rPr lang="en-US" altLang="zh-CN" sz="2400" b="1">
                <a:solidFill>
                  <a:srgbClr val="133B5C"/>
                </a:solidFill>
                <a:latin typeface="Aptos"/>
                <a:sym typeface="+mn-ea"/>
              </a:rPr>
              <a:t>What is Impact Consulting?</a:t>
            </a:r>
            <a:endParaRPr lang="en-US" altLang="zh-CN" sz="2400" b="1">
              <a:solidFill>
                <a:srgbClr val="133B5C"/>
              </a:solidFill>
              <a:latin typeface="Aptos"/>
            </a:endParaRPr>
          </a:p>
        </p:txBody>
      </p:sp>
      <p:sp>
        <p:nvSpPr>
          <p:cNvPr id="5" name="Shape 2">
            <a:extLst>
              <a:ext uri="{FF2B5EF4-FFF2-40B4-BE49-F238E27FC236}">
                <a16:creationId xmlns:a16="http://schemas.microsoft.com/office/drawing/2014/main" id="{8EFE504E-8E3D-EE44-87C8-38AF83D093AA}"/>
              </a:ext>
            </a:extLst>
          </p:cNvPr>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zh-CN" altLang="en-US"/>
          </a:p>
        </p:txBody>
      </p:sp>
      <p:sp>
        <p:nvSpPr>
          <p:cNvPr id="6" name="Shape 3">
            <a:extLst>
              <a:ext uri="{FF2B5EF4-FFF2-40B4-BE49-F238E27FC236}">
                <a16:creationId xmlns:a16="http://schemas.microsoft.com/office/drawing/2014/main" id="{97370AF7-C293-3B91-529D-F2C778C280DD}"/>
              </a:ext>
            </a:extLst>
          </p:cNvPr>
          <p:cNvSpPr/>
          <p:nvPr/>
        </p:nvSpPr>
        <p:spPr>
          <a:xfrm>
            <a:off x="502920" y="6428232"/>
            <a:ext cx="11201400" cy="0"/>
          </a:xfrm>
          <a:prstGeom prst="line">
            <a:avLst/>
          </a:prstGeom>
          <a:noFill/>
          <a:ln w="8890">
            <a:solidFill>
              <a:srgbClr val="D9E2EC"/>
            </a:solidFill>
            <a:prstDash val="solid"/>
          </a:ln>
        </p:spPr>
        <p:txBody>
          <a:bodyPr/>
          <a:lstStyle/>
          <a:p>
            <a:endParaRPr lang="zh-CN" altLang="en-US"/>
          </a:p>
        </p:txBody>
      </p:sp>
      <p:sp>
        <p:nvSpPr>
          <p:cNvPr id="7" name="Text 4">
            <a:extLst>
              <a:ext uri="{FF2B5EF4-FFF2-40B4-BE49-F238E27FC236}">
                <a16:creationId xmlns:a16="http://schemas.microsoft.com/office/drawing/2014/main" id="{52BC75FC-6594-C93E-E534-D241E8A96B5D}"/>
              </a:ext>
            </a:extLst>
          </p:cNvPr>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8" name="Text 5">
            <a:extLst>
              <a:ext uri="{FF2B5EF4-FFF2-40B4-BE49-F238E27FC236}">
                <a16:creationId xmlns:a16="http://schemas.microsoft.com/office/drawing/2014/main" id="{F4286F37-FE9A-D7B1-E94A-5378B691E45B}"/>
              </a:ext>
            </a:extLst>
          </p:cNvPr>
          <p:cNvSpPr/>
          <p:nvPr/>
        </p:nvSpPr>
        <p:spPr>
          <a:xfrm>
            <a:off x="11201400" y="6473952"/>
            <a:ext cx="502920" cy="164592"/>
          </a:xfrm>
          <a:prstGeom prst="rect">
            <a:avLst/>
          </a:prstGeom>
          <a:noFill/>
        </p:spPr>
        <p:txBody>
          <a:bodyPr wrap="square" lIns="0" tIns="0" rIns="0" bIns="0" rtlCol="0" anchor="ctr"/>
          <a:lstStyle/>
          <a:p>
            <a:pPr marL="0" indent="0" algn="r">
              <a:buNone/>
            </a:pPr>
            <a:r>
              <a:rPr lang="en-US" sz="800" b="1">
                <a:solidFill>
                  <a:srgbClr val="6B7280"/>
                </a:solidFill>
              </a:rPr>
              <a:t>02</a:t>
            </a:r>
            <a:endParaRPr lang="en-US" sz="800"/>
          </a:p>
        </p:txBody>
      </p:sp>
      <p:sp>
        <p:nvSpPr>
          <p:cNvPr id="10" name="Rounded Rectangle 8">
            <a:extLst>
              <a:ext uri="{FF2B5EF4-FFF2-40B4-BE49-F238E27FC236}">
                <a16:creationId xmlns:a16="http://schemas.microsoft.com/office/drawing/2014/main" id="{E79787FB-600B-BD06-9172-C72442B96134}"/>
              </a:ext>
            </a:extLst>
          </p:cNvPr>
          <p:cNvSpPr/>
          <p:nvPr>
            <p:custDataLst>
              <p:tags r:id="rId1"/>
            </p:custDataLst>
          </p:nvPr>
        </p:nvSpPr>
        <p:spPr>
          <a:xfrm>
            <a:off x="1081851" y="3560393"/>
            <a:ext cx="1850249" cy="1486554"/>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9">
            <a:extLst>
              <a:ext uri="{FF2B5EF4-FFF2-40B4-BE49-F238E27FC236}">
                <a16:creationId xmlns:a16="http://schemas.microsoft.com/office/drawing/2014/main" id="{DD62F71B-ECF9-BB98-6130-D52D39A088AC}"/>
              </a:ext>
            </a:extLst>
          </p:cNvPr>
          <p:cNvSpPr/>
          <p:nvPr>
            <p:custDataLst>
              <p:tags r:id="rId2"/>
            </p:custDataLst>
          </p:nvPr>
        </p:nvSpPr>
        <p:spPr>
          <a:xfrm>
            <a:off x="1081851" y="3560392"/>
            <a:ext cx="1850249" cy="87866"/>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0">
            <a:extLst>
              <a:ext uri="{FF2B5EF4-FFF2-40B4-BE49-F238E27FC236}">
                <a16:creationId xmlns:a16="http://schemas.microsoft.com/office/drawing/2014/main" id="{16D87F54-0806-438F-9333-A76688C6D5EC}"/>
              </a:ext>
            </a:extLst>
          </p:cNvPr>
          <p:cNvSpPr/>
          <p:nvPr>
            <p:custDataLst>
              <p:tags r:id="rId3"/>
            </p:custDataLst>
          </p:nvPr>
        </p:nvSpPr>
        <p:spPr>
          <a:xfrm>
            <a:off x="1787519" y="3838158"/>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1</a:t>
            </a:r>
          </a:p>
        </p:txBody>
      </p:sp>
      <p:sp>
        <p:nvSpPr>
          <p:cNvPr id="14" name="TextBox 11">
            <a:extLst>
              <a:ext uri="{FF2B5EF4-FFF2-40B4-BE49-F238E27FC236}">
                <a16:creationId xmlns:a16="http://schemas.microsoft.com/office/drawing/2014/main" id="{7D61D531-7EE5-06C1-8FFC-68CC5940806B}"/>
              </a:ext>
            </a:extLst>
          </p:cNvPr>
          <p:cNvSpPr txBox="1"/>
          <p:nvPr>
            <p:custDataLst>
              <p:tags r:id="rId4"/>
            </p:custDataLst>
          </p:nvPr>
        </p:nvSpPr>
        <p:spPr>
          <a:xfrm>
            <a:off x="1750110" y="4583219"/>
            <a:ext cx="513730" cy="187744"/>
          </a:xfrm>
          <a:prstGeom prst="rect">
            <a:avLst/>
          </a:prstGeom>
          <a:noFill/>
        </p:spPr>
        <p:txBody>
          <a:bodyPr wrap="none" lIns="0" tIns="0" rIns="0" bIns="0">
            <a:spAutoFit/>
          </a:bodyPr>
          <a:lstStyle/>
          <a:p>
            <a:pPr algn="l"/>
            <a:r>
              <a:rPr lang="en-US" sz="1220" b="1">
                <a:solidFill>
                  <a:srgbClr val="1F2A33"/>
                </a:solidFill>
                <a:latin typeface="Aptos"/>
              </a:rPr>
              <a:t>Hungry</a:t>
            </a:r>
            <a:endParaRPr sz="1220" b="1">
              <a:solidFill>
                <a:srgbClr val="1F2A33"/>
              </a:solidFill>
              <a:latin typeface="Aptos"/>
            </a:endParaRPr>
          </a:p>
        </p:txBody>
      </p:sp>
      <p:sp>
        <p:nvSpPr>
          <p:cNvPr id="17" name="Rounded Rectangle 13">
            <a:extLst>
              <a:ext uri="{FF2B5EF4-FFF2-40B4-BE49-F238E27FC236}">
                <a16:creationId xmlns:a16="http://schemas.microsoft.com/office/drawing/2014/main" id="{BE00BA69-6D4C-CDDD-3C46-158842CD7749}"/>
              </a:ext>
            </a:extLst>
          </p:cNvPr>
          <p:cNvSpPr/>
          <p:nvPr>
            <p:custDataLst>
              <p:tags r:id="rId5"/>
            </p:custDataLst>
          </p:nvPr>
        </p:nvSpPr>
        <p:spPr>
          <a:xfrm>
            <a:off x="3167866" y="3560390"/>
            <a:ext cx="1850249" cy="1486554"/>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4">
            <a:extLst>
              <a:ext uri="{FF2B5EF4-FFF2-40B4-BE49-F238E27FC236}">
                <a16:creationId xmlns:a16="http://schemas.microsoft.com/office/drawing/2014/main" id="{2CDADD77-68BF-D7AB-36B0-F8475ABC380E}"/>
              </a:ext>
            </a:extLst>
          </p:cNvPr>
          <p:cNvSpPr/>
          <p:nvPr>
            <p:custDataLst>
              <p:tags r:id="rId6"/>
            </p:custDataLst>
          </p:nvPr>
        </p:nvSpPr>
        <p:spPr>
          <a:xfrm>
            <a:off x="3167866" y="3560389"/>
            <a:ext cx="1850249" cy="68164"/>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5">
            <a:extLst>
              <a:ext uri="{FF2B5EF4-FFF2-40B4-BE49-F238E27FC236}">
                <a16:creationId xmlns:a16="http://schemas.microsoft.com/office/drawing/2014/main" id="{C589C1F3-2324-8462-F6D5-7D4E5C8A48FF}"/>
              </a:ext>
            </a:extLst>
          </p:cNvPr>
          <p:cNvSpPr/>
          <p:nvPr>
            <p:custDataLst>
              <p:tags r:id="rId7"/>
            </p:custDataLst>
          </p:nvPr>
        </p:nvSpPr>
        <p:spPr>
          <a:xfrm>
            <a:off x="3873534" y="3838158"/>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2</a:t>
            </a:r>
          </a:p>
        </p:txBody>
      </p:sp>
      <p:sp>
        <p:nvSpPr>
          <p:cNvPr id="21" name="TextBox 16">
            <a:extLst>
              <a:ext uri="{FF2B5EF4-FFF2-40B4-BE49-F238E27FC236}">
                <a16:creationId xmlns:a16="http://schemas.microsoft.com/office/drawing/2014/main" id="{A332C9C5-AD50-1ADE-9590-6490DD90EA08}"/>
              </a:ext>
            </a:extLst>
          </p:cNvPr>
          <p:cNvSpPr txBox="1"/>
          <p:nvPr>
            <p:custDataLst>
              <p:tags r:id="rId8"/>
            </p:custDataLst>
          </p:nvPr>
        </p:nvSpPr>
        <p:spPr>
          <a:xfrm>
            <a:off x="3366252" y="4584909"/>
            <a:ext cx="1453476" cy="187744"/>
          </a:xfrm>
          <a:prstGeom prst="rect">
            <a:avLst/>
          </a:prstGeom>
          <a:noFill/>
        </p:spPr>
        <p:txBody>
          <a:bodyPr wrap="none" lIns="0" tIns="0" rIns="0" bIns="0">
            <a:spAutoFit/>
          </a:bodyPr>
          <a:lstStyle/>
          <a:p>
            <a:pPr algn="ctr"/>
            <a:r>
              <a:rPr lang="en-US" sz="1220" b="1">
                <a:solidFill>
                  <a:srgbClr val="1F2A33"/>
                </a:solidFill>
                <a:latin typeface="Aptos"/>
              </a:rPr>
              <a:t>Customer Obsessed</a:t>
            </a:r>
            <a:endParaRPr sz="1220" b="1">
              <a:solidFill>
                <a:srgbClr val="1F2A33"/>
              </a:solidFill>
              <a:latin typeface="Aptos"/>
            </a:endParaRPr>
          </a:p>
        </p:txBody>
      </p:sp>
      <p:sp>
        <p:nvSpPr>
          <p:cNvPr id="46" name="Rounded Rectangle 18">
            <a:extLst>
              <a:ext uri="{FF2B5EF4-FFF2-40B4-BE49-F238E27FC236}">
                <a16:creationId xmlns:a16="http://schemas.microsoft.com/office/drawing/2014/main" id="{212F0A57-C660-BC9E-F2A5-F987BFF4C3DB}"/>
              </a:ext>
            </a:extLst>
          </p:cNvPr>
          <p:cNvSpPr/>
          <p:nvPr>
            <p:custDataLst>
              <p:tags r:id="rId9"/>
            </p:custDataLst>
          </p:nvPr>
        </p:nvSpPr>
        <p:spPr>
          <a:xfrm>
            <a:off x="5216501" y="3566379"/>
            <a:ext cx="1850249" cy="1480566"/>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19">
            <a:extLst>
              <a:ext uri="{FF2B5EF4-FFF2-40B4-BE49-F238E27FC236}">
                <a16:creationId xmlns:a16="http://schemas.microsoft.com/office/drawing/2014/main" id="{A05EF11C-5563-46E7-9A0D-735D2438BA8B}"/>
              </a:ext>
            </a:extLst>
          </p:cNvPr>
          <p:cNvSpPr/>
          <p:nvPr>
            <p:custDataLst>
              <p:tags r:id="rId10"/>
            </p:custDataLst>
          </p:nvPr>
        </p:nvSpPr>
        <p:spPr>
          <a:xfrm>
            <a:off x="5216501" y="3566378"/>
            <a:ext cx="1850249" cy="81880"/>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20">
            <a:extLst>
              <a:ext uri="{FF2B5EF4-FFF2-40B4-BE49-F238E27FC236}">
                <a16:creationId xmlns:a16="http://schemas.microsoft.com/office/drawing/2014/main" id="{7D6EB6EC-F177-FE29-8E2C-50E06C8C4BDF}"/>
              </a:ext>
            </a:extLst>
          </p:cNvPr>
          <p:cNvSpPr/>
          <p:nvPr>
            <p:custDataLst>
              <p:tags r:id="rId11"/>
            </p:custDataLst>
          </p:nvPr>
        </p:nvSpPr>
        <p:spPr>
          <a:xfrm>
            <a:off x="5922169" y="3838158"/>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3</a:t>
            </a:r>
          </a:p>
        </p:txBody>
      </p:sp>
      <p:sp>
        <p:nvSpPr>
          <p:cNvPr id="49" name="TextBox 21">
            <a:extLst>
              <a:ext uri="{FF2B5EF4-FFF2-40B4-BE49-F238E27FC236}">
                <a16:creationId xmlns:a16="http://schemas.microsoft.com/office/drawing/2014/main" id="{171358B1-632A-6B49-58C6-90997621A398}"/>
              </a:ext>
            </a:extLst>
          </p:cNvPr>
          <p:cNvSpPr txBox="1"/>
          <p:nvPr>
            <p:custDataLst>
              <p:tags r:id="rId12"/>
            </p:custDataLst>
          </p:nvPr>
        </p:nvSpPr>
        <p:spPr>
          <a:xfrm>
            <a:off x="5963980" y="4587599"/>
            <a:ext cx="355290" cy="187744"/>
          </a:xfrm>
          <a:prstGeom prst="rect">
            <a:avLst/>
          </a:prstGeom>
          <a:noFill/>
        </p:spPr>
        <p:txBody>
          <a:bodyPr wrap="none" lIns="0" tIns="0" rIns="0" bIns="0">
            <a:spAutoFit/>
          </a:bodyPr>
          <a:lstStyle/>
          <a:p>
            <a:pPr algn="ctr"/>
            <a:r>
              <a:rPr lang="en-US" sz="1220" b="1">
                <a:solidFill>
                  <a:srgbClr val="1F2A33"/>
                </a:solidFill>
                <a:latin typeface="Aptos"/>
              </a:rPr>
              <a:t>Agile</a:t>
            </a:r>
            <a:endParaRPr sz="1220" b="1">
              <a:solidFill>
                <a:srgbClr val="1F2A33"/>
              </a:solidFill>
              <a:latin typeface="Aptos"/>
            </a:endParaRPr>
          </a:p>
        </p:txBody>
      </p:sp>
      <p:sp>
        <p:nvSpPr>
          <p:cNvPr id="51" name="Rounded Rectangle 23">
            <a:extLst>
              <a:ext uri="{FF2B5EF4-FFF2-40B4-BE49-F238E27FC236}">
                <a16:creationId xmlns:a16="http://schemas.microsoft.com/office/drawing/2014/main" id="{68B7E0F1-8B10-85C6-F21E-1BEC934B0A37}"/>
              </a:ext>
            </a:extLst>
          </p:cNvPr>
          <p:cNvSpPr/>
          <p:nvPr>
            <p:custDataLst>
              <p:tags r:id="rId13"/>
            </p:custDataLst>
          </p:nvPr>
        </p:nvSpPr>
        <p:spPr>
          <a:xfrm>
            <a:off x="7302516" y="3560392"/>
            <a:ext cx="1850249" cy="1480564"/>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24">
            <a:extLst>
              <a:ext uri="{FF2B5EF4-FFF2-40B4-BE49-F238E27FC236}">
                <a16:creationId xmlns:a16="http://schemas.microsoft.com/office/drawing/2014/main" id="{A36FB6FC-6E7B-C156-728C-759175AD2F19}"/>
              </a:ext>
            </a:extLst>
          </p:cNvPr>
          <p:cNvSpPr/>
          <p:nvPr>
            <p:custDataLst>
              <p:tags r:id="rId14"/>
            </p:custDataLst>
          </p:nvPr>
        </p:nvSpPr>
        <p:spPr>
          <a:xfrm>
            <a:off x="7302516" y="3560392"/>
            <a:ext cx="1850249" cy="68161"/>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25">
            <a:extLst>
              <a:ext uri="{FF2B5EF4-FFF2-40B4-BE49-F238E27FC236}">
                <a16:creationId xmlns:a16="http://schemas.microsoft.com/office/drawing/2014/main" id="{E7CF8201-A1AC-4C6A-9AC6-B34377B1B88D}"/>
              </a:ext>
            </a:extLst>
          </p:cNvPr>
          <p:cNvSpPr/>
          <p:nvPr>
            <p:custDataLst>
              <p:tags r:id="rId15"/>
            </p:custDataLst>
          </p:nvPr>
        </p:nvSpPr>
        <p:spPr>
          <a:xfrm>
            <a:off x="8009011" y="3829162"/>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4</a:t>
            </a:r>
          </a:p>
        </p:txBody>
      </p:sp>
      <p:sp>
        <p:nvSpPr>
          <p:cNvPr id="54" name="TextBox 26">
            <a:extLst>
              <a:ext uri="{FF2B5EF4-FFF2-40B4-BE49-F238E27FC236}">
                <a16:creationId xmlns:a16="http://schemas.microsoft.com/office/drawing/2014/main" id="{B7EB9CD2-B308-1703-6E26-C144095747C8}"/>
              </a:ext>
            </a:extLst>
          </p:cNvPr>
          <p:cNvSpPr txBox="1"/>
          <p:nvPr>
            <p:custDataLst>
              <p:tags r:id="rId16"/>
            </p:custDataLst>
          </p:nvPr>
        </p:nvSpPr>
        <p:spPr>
          <a:xfrm>
            <a:off x="7726668" y="4575923"/>
            <a:ext cx="1001941" cy="187744"/>
          </a:xfrm>
          <a:prstGeom prst="rect">
            <a:avLst/>
          </a:prstGeom>
          <a:noFill/>
        </p:spPr>
        <p:txBody>
          <a:bodyPr wrap="none" lIns="0" tIns="0" rIns="0" bIns="0">
            <a:spAutoFit/>
          </a:bodyPr>
          <a:lstStyle/>
          <a:p>
            <a:pPr algn="l"/>
            <a:r>
              <a:rPr lang="en-US" sz="1220" b="1">
                <a:solidFill>
                  <a:srgbClr val="1F2A33"/>
                </a:solidFill>
                <a:latin typeface="Aptos"/>
              </a:rPr>
              <a:t>Impact Driven</a:t>
            </a:r>
            <a:endParaRPr sz="1220" b="1">
              <a:solidFill>
                <a:srgbClr val="1F2A33"/>
              </a:solidFill>
              <a:latin typeface="Aptos"/>
            </a:endParaRPr>
          </a:p>
        </p:txBody>
      </p:sp>
      <p:pic>
        <p:nvPicPr>
          <p:cNvPr id="3" name="Picture 2" descr="Aarti_Mohinani.png">
            <a:extLst>
              <a:ext uri="{FF2B5EF4-FFF2-40B4-BE49-F238E27FC236}">
                <a16:creationId xmlns:a16="http://schemas.microsoft.com/office/drawing/2014/main" id="{40E3238F-0703-9C56-4AFA-2345E94081F9}"/>
              </a:ext>
            </a:extLst>
          </p:cNvPr>
          <p:cNvPicPr>
            <a:picLocks noChangeAspect="1"/>
          </p:cNvPicPr>
          <p:nvPr>
            <p:custDataLst>
              <p:tags r:id="rId17"/>
            </p:custDataLst>
          </p:nvPr>
        </p:nvPicPr>
        <p:blipFill>
          <a:blip r:embed="rId29"/>
          <a:stretch>
            <a:fillRect/>
          </a:stretch>
        </p:blipFill>
        <p:spPr>
          <a:xfrm>
            <a:off x="1438467" y="2475104"/>
            <a:ext cx="804672" cy="804672"/>
          </a:xfrm>
          <a:prstGeom prst="rect">
            <a:avLst/>
          </a:prstGeom>
        </p:spPr>
      </p:pic>
      <p:pic>
        <p:nvPicPr>
          <p:cNvPr id="9" name="Picture 8" descr="Arjun_Anish.png">
            <a:extLst>
              <a:ext uri="{FF2B5EF4-FFF2-40B4-BE49-F238E27FC236}">
                <a16:creationId xmlns:a16="http://schemas.microsoft.com/office/drawing/2014/main" id="{9E6A5994-C883-9776-26AF-D0BE946F3573}"/>
              </a:ext>
            </a:extLst>
          </p:cNvPr>
          <p:cNvPicPr>
            <a:picLocks noChangeAspect="1"/>
          </p:cNvPicPr>
          <p:nvPr>
            <p:custDataLst>
              <p:tags r:id="rId18"/>
            </p:custDataLst>
          </p:nvPr>
        </p:nvPicPr>
        <p:blipFill>
          <a:blip r:embed="rId30"/>
          <a:stretch>
            <a:fillRect/>
          </a:stretch>
        </p:blipFill>
        <p:spPr>
          <a:xfrm>
            <a:off x="3610167" y="2475104"/>
            <a:ext cx="804672" cy="804672"/>
          </a:xfrm>
          <a:prstGeom prst="rect">
            <a:avLst/>
          </a:prstGeom>
        </p:spPr>
      </p:pic>
      <p:pic>
        <p:nvPicPr>
          <p:cNvPr id="11" name="Picture 10" descr="Mengyi_Liu.png">
            <a:extLst>
              <a:ext uri="{FF2B5EF4-FFF2-40B4-BE49-F238E27FC236}">
                <a16:creationId xmlns:a16="http://schemas.microsoft.com/office/drawing/2014/main" id="{3FBA725E-786C-5CE1-7BA3-515BCC2BEFA1}"/>
              </a:ext>
            </a:extLst>
          </p:cNvPr>
          <p:cNvPicPr>
            <a:picLocks noChangeAspect="1"/>
          </p:cNvPicPr>
          <p:nvPr>
            <p:custDataLst>
              <p:tags r:id="rId19"/>
            </p:custDataLst>
          </p:nvPr>
        </p:nvPicPr>
        <p:blipFill>
          <a:blip r:embed="rId31"/>
          <a:stretch>
            <a:fillRect/>
          </a:stretch>
        </p:blipFill>
        <p:spPr>
          <a:xfrm>
            <a:off x="5781867" y="2471153"/>
            <a:ext cx="804672" cy="804672"/>
          </a:xfrm>
          <a:prstGeom prst="rect">
            <a:avLst/>
          </a:prstGeom>
        </p:spPr>
      </p:pic>
      <p:pic>
        <p:nvPicPr>
          <p:cNvPr id="15" name="Picture 14" descr="Rahul_Raj.png">
            <a:extLst>
              <a:ext uri="{FF2B5EF4-FFF2-40B4-BE49-F238E27FC236}">
                <a16:creationId xmlns:a16="http://schemas.microsoft.com/office/drawing/2014/main" id="{03B844A6-D4D6-2E88-1DED-96582745CC44}"/>
              </a:ext>
            </a:extLst>
          </p:cNvPr>
          <p:cNvPicPr>
            <a:picLocks noChangeAspect="1"/>
          </p:cNvPicPr>
          <p:nvPr>
            <p:custDataLst>
              <p:tags r:id="rId20"/>
            </p:custDataLst>
          </p:nvPr>
        </p:nvPicPr>
        <p:blipFill>
          <a:blip r:embed="rId32"/>
          <a:stretch>
            <a:fillRect/>
          </a:stretch>
        </p:blipFill>
        <p:spPr>
          <a:xfrm>
            <a:off x="7825303" y="2510629"/>
            <a:ext cx="804672" cy="804672"/>
          </a:xfrm>
          <a:prstGeom prst="rect">
            <a:avLst/>
          </a:prstGeom>
        </p:spPr>
      </p:pic>
      <p:pic>
        <p:nvPicPr>
          <p:cNvPr id="16" name="Picture 15" descr="Shiron_Lee.png">
            <a:extLst>
              <a:ext uri="{FF2B5EF4-FFF2-40B4-BE49-F238E27FC236}">
                <a16:creationId xmlns:a16="http://schemas.microsoft.com/office/drawing/2014/main" id="{26D038D4-EB29-B833-5228-92AC1B5506FD}"/>
              </a:ext>
            </a:extLst>
          </p:cNvPr>
          <p:cNvPicPr>
            <a:picLocks noChangeAspect="1"/>
          </p:cNvPicPr>
          <p:nvPr>
            <p:custDataLst>
              <p:tags r:id="rId21"/>
            </p:custDataLst>
          </p:nvPr>
        </p:nvPicPr>
        <p:blipFill>
          <a:blip r:embed="rId33"/>
          <a:stretch>
            <a:fillRect/>
          </a:stretch>
        </p:blipFill>
        <p:spPr>
          <a:xfrm>
            <a:off x="9873938" y="2544297"/>
            <a:ext cx="804672" cy="804672"/>
          </a:xfrm>
          <a:prstGeom prst="rect">
            <a:avLst/>
          </a:prstGeom>
        </p:spPr>
      </p:pic>
      <p:sp>
        <p:nvSpPr>
          <p:cNvPr id="25" name="Rounded Rectangle 23">
            <a:extLst>
              <a:ext uri="{FF2B5EF4-FFF2-40B4-BE49-F238E27FC236}">
                <a16:creationId xmlns:a16="http://schemas.microsoft.com/office/drawing/2014/main" id="{E7B98F75-47E1-0BAB-14D5-3FA336CBB4AA}"/>
              </a:ext>
            </a:extLst>
          </p:cNvPr>
          <p:cNvSpPr/>
          <p:nvPr>
            <p:custDataLst>
              <p:tags r:id="rId22"/>
            </p:custDataLst>
          </p:nvPr>
        </p:nvSpPr>
        <p:spPr>
          <a:xfrm>
            <a:off x="9351151" y="3560389"/>
            <a:ext cx="1850249" cy="1480564"/>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4">
            <a:extLst>
              <a:ext uri="{FF2B5EF4-FFF2-40B4-BE49-F238E27FC236}">
                <a16:creationId xmlns:a16="http://schemas.microsoft.com/office/drawing/2014/main" id="{8A9FE8BA-D8E5-6454-D874-42476DDC4493}"/>
              </a:ext>
            </a:extLst>
          </p:cNvPr>
          <p:cNvSpPr/>
          <p:nvPr>
            <p:custDataLst>
              <p:tags r:id="rId23"/>
            </p:custDataLst>
          </p:nvPr>
        </p:nvSpPr>
        <p:spPr>
          <a:xfrm>
            <a:off x="9351151" y="3560389"/>
            <a:ext cx="1850249" cy="68161"/>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5">
            <a:extLst>
              <a:ext uri="{FF2B5EF4-FFF2-40B4-BE49-F238E27FC236}">
                <a16:creationId xmlns:a16="http://schemas.microsoft.com/office/drawing/2014/main" id="{D69A332E-A251-B89A-9C16-7173BA7C6AEE}"/>
              </a:ext>
            </a:extLst>
          </p:cNvPr>
          <p:cNvSpPr/>
          <p:nvPr>
            <p:custDataLst>
              <p:tags r:id="rId24"/>
            </p:custDataLst>
          </p:nvPr>
        </p:nvSpPr>
        <p:spPr>
          <a:xfrm>
            <a:off x="10057646" y="3806859"/>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300" b="1">
                <a:solidFill>
                  <a:srgbClr val="0B2F4A"/>
                </a:solidFill>
                <a:latin typeface="Aptos"/>
              </a:rPr>
              <a:t>5</a:t>
            </a:r>
            <a:endParaRPr sz="1300" b="1">
              <a:solidFill>
                <a:srgbClr val="0B2F4A"/>
              </a:solidFill>
              <a:latin typeface="Aptos"/>
            </a:endParaRPr>
          </a:p>
        </p:txBody>
      </p:sp>
      <p:sp>
        <p:nvSpPr>
          <p:cNvPr id="28" name="TextBox 26">
            <a:extLst>
              <a:ext uri="{FF2B5EF4-FFF2-40B4-BE49-F238E27FC236}">
                <a16:creationId xmlns:a16="http://schemas.microsoft.com/office/drawing/2014/main" id="{BE98DCA0-B962-41F8-AE9B-370DDD6CC41A}"/>
              </a:ext>
            </a:extLst>
          </p:cNvPr>
          <p:cNvSpPr txBox="1"/>
          <p:nvPr>
            <p:custDataLst>
              <p:tags r:id="rId25"/>
            </p:custDataLst>
          </p:nvPr>
        </p:nvSpPr>
        <p:spPr>
          <a:xfrm>
            <a:off x="10103406" y="4584219"/>
            <a:ext cx="345736" cy="187744"/>
          </a:xfrm>
          <a:prstGeom prst="rect">
            <a:avLst/>
          </a:prstGeom>
          <a:noFill/>
        </p:spPr>
        <p:txBody>
          <a:bodyPr wrap="none" lIns="0" tIns="0" rIns="0" bIns="0">
            <a:spAutoFit/>
          </a:bodyPr>
          <a:lstStyle/>
          <a:p>
            <a:pPr algn="l"/>
            <a:r>
              <a:rPr lang="en-US" sz="1220" b="1">
                <a:solidFill>
                  <a:srgbClr val="1F2A33"/>
                </a:solidFill>
                <a:latin typeface="Aptos"/>
              </a:rPr>
              <a:t>Lean</a:t>
            </a:r>
            <a:endParaRPr sz="1220" b="1">
              <a:solidFill>
                <a:srgbClr val="1F2A33"/>
              </a:solidFill>
              <a:latin typeface="Aptos"/>
            </a:endParaRPr>
          </a:p>
        </p:txBody>
      </p:sp>
    </p:spTree>
    <p:extLst>
      <p:ext uri="{BB962C8B-B14F-4D97-AF65-F5344CB8AC3E}">
        <p14:creationId xmlns:p14="http://schemas.microsoft.com/office/powerpoint/2010/main" val="277539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dissolve">
                                      <p:cBhvr>
                                        <p:cTn id="21" dur="500"/>
                                        <p:tgtEl>
                                          <p:spTgt spid="1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dissolve">
                                      <p:cBhvr>
                                        <p:cTn id="24" dur="500"/>
                                        <p:tgtEl>
                                          <p:spTgt spid="18"/>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dissolve">
                                      <p:cBhvr>
                                        <p:cTn id="35" dur="500"/>
                                        <p:tgtEl>
                                          <p:spTgt spid="46"/>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dissolve">
                                      <p:cBhvr>
                                        <p:cTn id="38" dur="500"/>
                                        <p:tgtEl>
                                          <p:spTgt spid="47"/>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dissolve">
                                      <p:cBhvr>
                                        <p:cTn id="41" dur="500"/>
                                        <p:tgtEl>
                                          <p:spTgt spid="48"/>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dissolve">
                                      <p:cBhvr>
                                        <p:cTn id="44" dur="500"/>
                                        <p:tgtEl>
                                          <p:spTgt spid="49"/>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dissolve">
                                      <p:cBhvr>
                                        <p:cTn id="49" dur="500"/>
                                        <p:tgtEl>
                                          <p:spTgt spid="5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dissolve">
                                      <p:cBhvr>
                                        <p:cTn id="52" dur="500"/>
                                        <p:tgtEl>
                                          <p:spTgt spid="5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animEffect transition="in" filter="dissolve">
                                      <p:cBhvr>
                                        <p:cTn id="55" dur="500"/>
                                        <p:tgtEl>
                                          <p:spTgt spid="53"/>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dissolve">
                                      <p:cBhvr>
                                        <p:cTn id="58" dur="500"/>
                                        <p:tgtEl>
                                          <p:spTgt spid="54"/>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dissolve">
                                      <p:cBhvr>
                                        <p:cTn id="63" dur="500"/>
                                        <p:tgtEl>
                                          <p:spTgt spid="25"/>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dissolve">
                                      <p:cBhvr>
                                        <p:cTn id="66" dur="500"/>
                                        <p:tgtEl>
                                          <p:spTgt spid="26"/>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dissolve">
                                      <p:cBhvr>
                                        <p:cTn id="69" dur="500"/>
                                        <p:tgtEl>
                                          <p:spTgt spid="27"/>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dissolve">
                                      <p:cBhvr>
                                        <p:cTn id="7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p:bldP spid="17" grpId="0" animBg="1"/>
      <p:bldP spid="18" grpId="0" animBg="1"/>
      <p:bldP spid="20" grpId="0" animBg="1"/>
      <p:bldP spid="21" grpId="0"/>
      <p:bldP spid="46" grpId="0" animBg="1"/>
      <p:bldP spid="47" grpId="0" animBg="1"/>
      <p:bldP spid="48" grpId="0" animBg="1"/>
      <p:bldP spid="49" grpId="0"/>
      <p:bldP spid="51" grpId="0" animBg="1"/>
      <p:bldP spid="52" grpId="0" animBg="1"/>
      <p:bldP spid="53" grpId="0" animBg="1"/>
      <p:bldP spid="54" grpId="0"/>
      <p:bldP spid="25" grpId="0" animBg="1"/>
      <p:bldP spid="26" grpId="0" animBg="1"/>
      <p:bldP spid="27" grpId="0" animBg="1"/>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A4E0-2C2C-DB53-DB79-767816844DC5}"/>
            </a:ext>
          </a:extLst>
        </p:cNvPr>
        <p:cNvGrpSpPr/>
        <p:nvPr/>
      </p:nvGrpSpPr>
      <p:grpSpPr>
        <a:xfrm>
          <a:off x="0" y="0"/>
          <a:ext cx="0" cy="0"/>
          <a:chOff x="0" y="0"/>
          <a:chExt cx="0" cy="0"/>
        </a:xfrm>
      </p:grpSpPr>
      <p:pic>
        <p:nvPicPr>
          <p:cNvPr id="2" name="Image 0" descr="/mnt/data/ppt_assets/old_image2.png">
            <a:extLst>
              <a:ext uri="{FF2B5EF4-FFF2-40B4-BE49-F238E27FC236}">
                <a16:creationId xmlns:a16="http://schemas.microsoft.com/office/drawing/2014/main" id="{3FB450FA-7DA6-876C-46A2-C2CFB4AFFBE9}"/>
              </a:ext>
            </a:extLst>
          </p:cNvPr>
          <p:cNvPicPr>
            <a:picLocks noChangeAspect="1"/>
          </p:cNvPicPr>
          <p:nvPr/>
        </p:nvPicPr>
        <p:blipFill>
          <a:blip r:embed="rId19"/>
          <a:stretch>
            <a:fillRect/>
          </a:stretch>
        </p:blipFill>
        <p:spPr>
          <a:xfrm>
            <a:off x="502920" y="292608"/>
            <a:ext cx="1417320" cy="519684"/>
          </a:xfrm>
          <a:prstGeom prst="rect">
            <a:avLst/>
          </a:prstGeom>
        </p:spPr>
      </p:pic>
      <p:sp>
        <p:nvSpPr>
          <p:cNvPr id="4" name="Text 1">
            <a:extLst>
              <a:ext uri="{FF2B5EF4-FFF2-40B4-BE49-F238E27FC236}">
                <a16:creationId xmlns:a16="http://schemas.microsoft.com/office/drawing/2014/main" id="{986D0775-FFAB-6655-6F78-0EF3D43F52B0}"/>
              </a:ext>
            </a:extLst>
          </p:cNvPr>
          <p:cNvSpPr/>
          <p:nvPr/>
        </p:nvSpPr>
        <p:spPr>
          <a:xfrm>
            <a:off x="640080" y="1097280"/>
            <a:ext cx="8778240" cy="438912"/>
          </a:xfrm>
          <a:prstGeom prst="rect">
            <a:avLst/>
          </a:prstGeom>
          <a:noFill/>
        </p:spPr>
        <p:txBody>
          <a:bodyPr wrap="square" lIns="0" tIns="0" rIns="0" bIns="0" rtlCol="0" anchor="ctr"/>
          <a:lstStyle/>
          <a:p>
            <a:r>
              <a:rPr lang="en-US" altLang="zh-CN" sz="2400" b="1">
                <a:solidFill>
                  <a:srgbClr val="133B5C"/>
                </a:solidFill>
                <a:latin typeface="Aptos"/>
                <a:sym typeface="+mn-ea"/>
              </a:rPr>
              <a:t>Why Impact Consulting ?</a:t>
            </a:r>
            <a:endParaRPr lang="en-US" altLang="zh-CN" sz="2400" b="1">
              <a:solidFill>
                <a:srgbClr val="133B5C"/>
              </a:solidFill>
              <a:latin typeface="Aptos"/>
            </a:endParaRPr>
          </a:p>
        </p:txBody>
      </p:sp>
      <p:sp>
        <p:nvSpPr>
          <p:cNvPr id="5" name="Shape 2">
            <a:extLst>
              <a:ext uri="{FF2B5EF4-FFF2-40B4-BE49-F238E27FC236}">
                <a16:creationId xmlns:a16="http://schemas.microsoft.com/office/drawing/2014/main" id="{E886C822-D2D3-BD77-598D-6F059E8409F7}"/>
              </a:ext>
            </a:extLst>
          </p:cNvPr>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zh-CN" altLang="en-US"/>
          </a:p>
        </p:txBody>
      </p:sp>
      <p:sp>
        <p:nvSpPr>
          <p:cNvPr id="6" name="Shape 3">
            <a:extLst>
              <a:ext uri="{FF2B5EF4-FFF2-40B4-BE49-F238E27FC236}">
                <a16:creationId xmlns:a16="http://schemas.microsoft.com/office/drawing/2014/main" id="{16159537-2E58-1B87-EF47-8FBFE7F926A8}"/>
              </a:ext>
            </a:extLst>
          </p:cNvPr>
          <p:cNvSpPr/>
          <p:nvPr/>
        </p:nvSpPr>
        <p:spPr>
          <a:xfrm>
            <a:off x="502920" y="6428232"/>
            <a:ext cx="11201400" cy="0"/>
          </a:xfrm>
          <a:prstGeom prst="line">
            <a:avLst/>
          </a:prstGeom>
          <a:noFill/>
          <a:ln w="8890">
            <a:solidFill>
              <a:srgbClr val="D9E2EC"/>
            </a:solidFill>
            <a:prstDash val="solid"/>
          </a:ln>
        </p:spPr>
        <p:txBody>
          <a:bodyPr/>
          <a:lstStyle/>
          <a:p>
            <a:endParaRPr lang="zh-CN" altLang="en-US"/>
          </a:p>
        </p:txBody>
      </p:sp>
      <p:sp>
        <p:nvSpPr>
          <p:cNvPr id="7" name="Text 4">
            <a:extLst>
              <a:ext uri="{FF2B5EF4-FFF2-40B4-BE49-F238E27FC236}">
                <a16:creationId xmlns:a16="http://schemas.microsoft.com/office/drawing/2014/main" id="{4E63F468-1804-1BA3-7BE4-A09A90771AD5}"/>
              </a:ext>
            </a:extLst>
          </p:cNvPr>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8" name="Text 5">
            <a:extLst>
              <a:ext uri="{FF2B5EF4-FFF2-40B4-BE49-F238E27FC236}">
                <a16:creationId xmlns:a16="http://schemas.microsoft.com/office/drawing/2014/main" id="{23A4AB05-44FF-4AB9-5FA4-E6CA9C06262A}"/>
              </a:ext>
            </a:extLst>
          </p:cNvPr>
          <p:cNvSpPr/>
          <p:nvPr/>
        </p:nvSpPr>
        <p:spPr>
          <a:xfrm>
            <a:off x="11201400" y="6473952"/>
            <a:ext cx="502920" cy="164592"/>
          </a:xfrm>
          <a:prstGeom prst="rect">
            <a:avLst/>
          </a:prstGeom>
          <a:noFill/>
        </p:spPr>
        <p:txBody>
          <a:bodyPr wrap="square" lIns="0" tIns="0" rIns="0" bIns="0" rtlCol="0" anchor="ctr"/>
          <a:lstStyle/>
          <a:p>
            <a:pPr marL="0" indent="0" algn="r">
              <a:buNone/>
            </a:pPr>
            <a:r>
              <a:rPr lang="en-US" sz="800" b="1">
                <a:solidFill>
                  <a:srgbClr val="6B7280"/>
                </a:solidFill>
              </a:rPr>
              <a:t>02</a:t>
            </a:r>
            <a:endParaRPr lang="en-US" sz="800"/>
          </a:p>
        </p:txBody>
      </p:sp>
      <p:sp>
        <p:nvSpPr>
          <p:cNvPr id="10" name="Rounded Rectangle 8">
            <a:extLst>
              <a:ext uri="{FF2B5EF4-FFF2-40B4-BE49-F238E27FC236}">
                <a16:creationId xmlns:a16="http://schemas.microsoft.com/office/drawing/2014/main" id="{83235300-4D1B-FFC1-8485-9E72DFC0B8E6}"/>
              </a:ext>
            </a:extLst>
          </p:cNvPr>
          <p:cNvSpPr/>
          <p:nvPr>
            <p:custDataLst>
              <p:tags r:id="rId1"/>
            </p:custDataLst>
          </p:nvPr>
        </p:nvSpPr>
        <p:spPr>
          <a:xfrm>
            <a:off x="749808" y="3103347"/>
            <a:ext cx="2331720" cy="1926893"/>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9">
            <a:extLst>
              <a:ext uri="{FF2B5EF4-FFF2-40B4-BE49-F238E27FC236}">
                <a16:creationId xmlns:a16="http://schemas.microsoft.com/office/drawing/2014/main" id="{65C74573-2956-28E7-AEBB-9A2965E7653B}"/>
              </a:ext>
            </a:extLst>
          </p:cNvPr>
          <p:cNvSpPr/>
          <p:nvPr>
            <p:custDataLst>
              <p:tags r:id="rId2"/>
            </p:custDataLst>
          </p:nvPr>
        </p:nvSpPr>
        <p:spPr>
          <a:xfrm>
            <a:off x="749808" y="3103347"/>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0">
            <a:extLst>
              <a:ext uri="{FF2B5EF4-FFF2-40B4-BE49-F238E27FC236}">
                <a16:creationId xmlns:a16="http://schemas.microsoft.com/office/drawing/2014/main" id="{E81A67F5-DF44-FAA2-15D5-0DF5F1B1EB5C}"/>
              </a:ext>
            </a:extLst>
          </p:cNvPr>
          <p:cNvSpPr/>
          <p:nvPr>
            <p:custDataLst>
              <p:tags r:id="rId3"/>
            </p:custDataLst>
          </p:nvPr>
        </p:nvSpPr>
        <p:spPr>
          <a:xfrm>
            <a:off x="1696212" y="3353283"/>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1</a:t>
            </a:r>
          </a:p>
        </p:txBody>
      </p:sp>
      <p:sp>
        <p:nvSpPr>
          <p:cNvPr id="14" name="TextBox 11">
            <a:extLst>
              <a:ext uri="{FF2B5EF4-FFF2-40B4-BE49-F238E27FC236}">
                <a16:creationId xmlns:a16="http://schemas.microsoft.com/office/drawing/2014/main" id="{7D259765-B94B-5F4D-74AF-7170664A4EA2}"/>
              </a:ext>
            </a:extLst>
          </p:cNvPr>
          <p:cNvSpPr txBox="1"/>
          <p:nvPr>
            <p:custDataLst>
              <p:tags r:id="rId4"/>
            </p:custDataLst>
          </p:nvPr>
        </p:nvSpPr>
        <p:spPr>
          <a:xfrm>
            <a:off x="1444752" y="4135942"/>
            <a:ext cx="1000787" cy="187744"/>
          </a:xfrm>
          <a:prstGeom prst="rect">
            <a:avLst/>
          </a:prstGeom>
          <a:noFill/>
        </p:spPr>
        <p:txBody>
          <a:bodyPr wrap="none" lIns="0" tIns="0" rIns="0" bIns="0">
            <a:spAutoFit/>
          </a:bodyPr>
          <a:lstStyle/>
          <a:p>
            <a:pPr algn="l"/>
            <a:r>
              <a:rPr lang="en-US" sz="1220" b="1">
                <a:solidFill>
                  <a:srgbClr val="1F2A33"/>
                </a:solidFill>
                <a:latin typeface="Aptos"/>
              </a:rPr>
              <a:t>Fresh Outlook</a:t>
            </a:r>
            <a:endParaRPr sz="1220" b="1">
              <a:solidFill>
                <a:srgbClr val="1F2A33"/>
              </a:solidFill>
              <a:latin typeface="Aptos"/>
            </a:endParaRPr>
          </a:p>
        </p:txBody>
      </p:sp>
      <p:sp>
        <p:nvSpPr>
          <p:cNvPr id="17" name="Rounded Rectangle 13">
            <a:extLst>
              <a:ext uri="{FF2B5EF4-FFF2-40B4-BE49-F238E27FC236}">
                <a16:creationId xmlns:a16="http://schemas.microsoft.com/office/drawing/2014/main" id="{0389B361-5E69-B7F0-315A-6D96EF344CDA}"/>
              </a:ext>
            </a:extLst>
          </p:cNvPr>
          <p:cNvSpPr/>
          <p:nvPr>
            <p:custDataLst>
              <p:tags r:id="rId5"/>
            </p:custDataLst>
          </p:nvPr>
        </p:nvSpPr>
        <p:spPr>
          <a:xfrm>
            <a:off x="3456432" y="3103347"/>
            <a:ext cx="2331720" cy="1926893"/>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4">
            <a:extLst>
              <a:ext uri="{FF2B5EF4-FFF2-40B4-BE49-F238E27FC236}">
                <a16:creationId xmlns:a16="http://schemas.microsoft.com/office/drawing/2014/main" id="{85F11A9C-55B0-BA71-E848-A6E43EAFA237}"/>
              </a:ext>
            </a:extLst>
          </p:cNvPr>
          <p:cNvSpPr/>
          <p:nvPr>
            <p:custDataLst>
              <p:tags r:id="rId6"/>
            </p:custDataLst>
          </p:nvPr>
        </p:nvSpPr>
        <p:spPr>
          <a:xfrm>
            <a:off x="3456432" y="3103347"/>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5">
            <a:extLst>
              <a:ext uri="{FF2B5EF4-FFF2-40B4-BE49-F238E27FC236}">
                <a16:creationId xmlns:a16="http://schemas.microsoft.com/office/drawing/2014/main" id="{A316DBB1-90C5-0245-34E8-B6BD03E9200C}"/>
              </a:ext>
            </a:extLst>
          </p:cNvPr>
          <p:cNvSpPr/>
          <p:nvPr>
            <p:custDataLst>
              <p:tags r:id="rId7"/>
            </p:custDataLst>
          </p:nvPr>
        </p:nvSpPr>
        <p:spPr>
          <a:xfrm>
            <a:off x="4401845" y="3343582"/>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2</a:t>
            </a:r>
          </a:p>
        </p:txBody>
      </p:sp>
      <p:sp>
        <p:nvSpPr>
          <p:cNvPr id="21" name="TextBox 16">
            <a:extLst>
              <a:ext uri="{FF2B5EF4-FFF2-40B4-BE49-F238E27FC236}">
                <a16:creationId xmlns:a16="http://schemas.microsoft.com/office/drawing/2014/main" id="{17A659AF-FAC1-0828-BD63-FF5467437F2A}"/>
              </a:ext>
            </a:extLst>
          </p:cNvPr>
          <p:cNvSpPr txBox="1"/>
          <p:nvPr>
            <p:custDataLst>
              <p:tags r:id="rId8"/>
            </p:custDataLst>
          </p:nvPr>
        </p:nvSpPr>
        <p:spPr>
          <a:xfrm>
            <a:off x="3978240" y="4066791"/>
            <a:ext cx="1286122" cy="187744"/>
          </a:xfrm>
          <a:prstGeom prst="rect">
            <a:avLst/>
          </a:prstGeom>
          <a:noFill/>
        </p:spPr>
        <p:txBody>
          <a:bodyPr wrap="none" lIns="0" tIns="0" rIns="0" bIns="0">
            <a:spAutoFit/>
          </a:bodyPr>
          <a:lstStyle/>
          <a:p>
            <a:pPr algn="ctr"/>
            <a:r>
              <a:rPr lang="en-US" sz="1220" b="1">
                <a:solidFill>
                  <a:srgbClr val="1F2A33"/>
                </a:solidFill>
                <a:latin typeface="Aptos"/>
              </a:rPr>
              <a:t>Low Investments </a:t>
            </a:r>
            <a:endParaRPr sz="1220" b="1">
              <a:solidFill>
                <a:srgbClr val="1F2A33"/>
              </a:solidFill>
              <a:latin typeface="Aptos"/>
            </a:endParaRPr>
          </a:p>
        </p:txBody>
      </p:sp>
      <p:sp>
        <p:nvSpPr>
          <p:cNvPr id="46" name="Rounded Rectangle 18">
            <a:extLst>
              <a:ext uri="{FF2B5EF4-FFF2-40B4-BE49-F238E27FC236}">
                <a16:creationId xmlns:a16="http://schemas.microsoft.com/office/drawing/2014/main" id="{750C8831-2DBA-93A7-28A3-36C7BDC5DAE6}"/>
              </a:ext>
            </a:extLst>
          </p:cNvPr>
          <p:cNvSpPr/>
          <p:nvPr>
            <p:custDataLst>
              <p:tags r:id="rId9"/>
            </p:custDataLst>
          </p:nvPr>
        </p:nvSpPr>
        <p:spPr>
          <a:xfrm>
            <a:off x="6163056" y="3103347"/>
            <a:ext cx="2331720" cy="1926893"/>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19">
            <a:extLst>
              <a:ext uri="{FF2B5EF4-FFF2-40B4-BE49-F238E27FC236}">
                <a16:creationId xmlns:a16="http://schemas.microsoft.com/office/drawing/2014/main" id="{312DF411-E728-417B-75DD-DCF0B7DA2445}"/>
              </a:ext>
            </a:extLst>
          </p:cNvPr>
          <p:cNvSpPr/>
          <p:nvPr>
            <p:custDataLst>
              <p:tags r:id="rId10"/>
            </p:custDataLst>
          </p:nvPr>
        </p:nvSpPr>
        <p:spPr>
          <a:xfrm>
            <a:off x="6163056" y="3103347"/>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20">
            <a:extLst>
              <a:ext uri="{FF2B5EF4-FFF2-40B4-BE49-F238E27FC236}">
                <a16:creationId xmlns:a16="http://schemas.microsoft.com/office/drawing/2014/main" id="{F2F4DE79-7BD6-4D2E-5B1E-DF9F802F8242}"/>
              </a:ext>
            </a:extLst>
          </p:cNvPr>
          <p:cNvSpPr/>
          <p:nvPr>
            <p:custDataLst>
              <p:tags r:id="rId11"/>
            </p:custDataLst>
          </p:nvPr>
        </p:nvSpPr>
        <p:spPr>
          <a:xfrm>
            <a:off x="7109460" y="3364752"/>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3</a:t>
            </a:r>
          </a:p>
        </p:txBody>
      </p:sp>
      <p:sp>
        <p:nvSpPr>
          <p:cNvPr id="49" name="TextBox 21">
            <a:extLst>
              <a:ext uri="{FF2B5EF4-FFF2-40B4-BE49-F238E27FC236}">
                <a16:creationId xmlns:a16="http://schemas.microsoft.com/office/drawing/2014/main" id="{58BF5749-D6A6-AC02-AC87-98DD9B04A536}"/>
              </a:ext>
            </a:extLst>
          </p:cNvPr>
          <p:cNvSpPr txBox="1"/>
          <p:nvPr>
            <p:custDataLst>
              <p:tags r:id="rId12"/>
            </p:custDataLst>
          </p:nvPr>
        </p:nvSpPr>
        <p:spPr>
          <a:xfrm>
            <a:off x="6589675" y="4066791"/>
            <a:ext cx="1478482" cy="375487"/>
          </a:xfrm>
          <a:prstGeom prst="rect">
            <a:avLst/>
          </a:prstGeom>
          <a:noFill/>
        </p:spPr>
        <p:txBody>
          <a:bodyPr wrap="none" lIns="0" tIns="0" rIns="0" bIns="0">
            <a:spAutoFit/>
          </a:bodyPr>
          <a:lstStyle/>
          <a:p>
            <a:pPr algn="ctr"/>
            <a:r>
              <a:rPr lang="en-US" sz="1220" b="1">
                <a:solidFill>
                  <a:srgbClr val="1F2A33"/>
                </a:solidFill>
                <a:latin typeface="Aptos"/>
              </a:rPr>
              <a:t>Upfront- Time Saving</a:t>
            </a:r>
            <a:br>
              <a:rPr lang="en-US" sz="1220" b="1">
                <a:solidFill>
                  <a:srgbClr val="1F2A33"/>
                </a:solidFill>
                <a:latin typeface="Aptos"/>
              </a:rPr>
            </a:br>
            <a:r>
              <a:rPr lang="en-US" sz="1220" b="1">
                <a:solidFill>
                  <a:srgbClr val="1F2A33"/>
                </a:solidFill>
                <a:latin typeface="Aptos"/>
              </a:rPr>
              <a:t>Quick Turnarounds</a:t>
            </a:r>
            <a:endParaRPr sz="1220" b="1">
              <a:solidFill>
                <a:srgbClr val="1F2A33"/>
              </a:solidFill>
              <a:latin typeface="Aptos"/>
            </a:endParaRPr>
          </a:p>
        </p:txBody>
      </p:sp>
      <p:sp>
        <p:nvSpPr>
          <p:cNvPr id="51" name="Rounded Rectangle 23">
            <a:extLst>
              <a:ext uri="{FF2B5EF4-FFF2-40B4-BE49-F238E27FC236}">
                <a16:creationId xmlns:a16="http://schemas.microsoft.com/office/drawing/2014/main" id="{AA19D417-220E-CDFC-9E66-69BF8CFD2595}"/>
              </a:ext>
            </a:extLst>
          </p:cNvPr>
          <p:cNvSpPr/>
          <p:nvPr>
            <p:custDataLst>
              <p:tags r:id="rId13"/>
            </p:custDataLst>
          </p:nvPr>
        </p:nvSpPr>
        <p:spPr>
          <a:xfrm>
            <a:off x="8869680" y="3103347"/>
            <a:ext cx="2331720" cy="1926890"/>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24">
            <a:extLst>
              <a:ext uri="{FF2B5EF4-FFF2-40B4-BE49-F238E27FC236}">
                <a16:creationId xmlns:a16="http://schemas.microsoft.com/office/drawing/2014/main" id="{EFFE491E-91CD-8D30-045F-B9CFB8F9C24D}"/>
              </a:ext>
            </a:extLst>
          </p:cNvPr>
          <p:cNvSpPr/>
          <p:nvPr>
            <p:custDataLst>
              <p:tags r:id="rId14"/>
            </p:custDataLst>
          </p:nvPr>
        </p:nvSpPr>
        <p:spPr>
          <a:xfrm>
            <a:off x="8869680" y="3103347"/>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25">
            <a:extLst>
              <a:ext uri="{FF2B5EF4-FFF2-40B4-BE49-F238E27FC236}">
                <a16:creationId xmlns:a16="http://schemas.microsoft.com/office/drawing/2014/main" id="{50533F4B-0B9D-FE0D-BE09-6F2981465008}"/>
              </a:ext>
            </a:extLst>
          </p:cNvPr>
          <p:cNvSpPr/>
          <p:nvPr>
            <p:custDataLst>
              <p:tags r:id="rId15"/>
            </p:custDataLst>
          </p:nvPr>
        </p:nvSpPr>
        <p:spPr>
          <a:xfrm>
            <a:off x="9816083" y="3359379"/>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4</a:t>
            </a:r>
          </a:p>
        </p:txBody>
      </p:sp>
      <p:sp>
        <p:nvSpPr>
          <p:cNvPr id="54" name="TextBox 26">
            <a:extLst>
              <a:ext uri="{FF2B5EF4-FFF2-40B4-BE49-F238E27FC236}">
                <a16:creationId xmlns:a16="http://schemas.microsoft.com/office/drawing/2014/main" id="{B3F6CBC9-31D4-3BE1-01FD-18B4E94770D4}"/>
              </a:ext>
            </a:extLst>
          </p:cNvPr>
          <p:cNvSpPr txBox="1"/>
          <p:nvPr>
            <p:custDataLst>
              <p:tags r:id="rId16"/>
            </p:custDataLst>
          </p:nvPr>
        </p:nvSpPr>
        <p:spPr>
          <a:xfrm>
            <a:off x="9248464" y="4108242"/>
            <a:ext cx="1574149" cy="215444"/>
          </a:xfrm>
          <a:prstGeom prst="rect">
            <a:avLst/>
          </a:prstGeom>
          <a:noFill/>
        </p:spPr>
        <p:txBody>
          <a:bodyPr wrap="none" lIns="0" tIns="0" rIns="0" bIns="0">
            <a:spAutoFit/>
          </a:bodyPr>
          <a:lstStyle/>
          <a:p>
            <a:r>
              <a:rPr lang="en-GB" sz="1220" b="1">
                <a:solidFill>
                  <a:srgbClr val="1F2A33"/>
                </a:solidFill>
                <a:latin typeface="Aptos"/>
              </a:rPr>
              <a:t>Unbiased</a:t>
            </a:r>
            <a:r>
              <a:rPr lang="en-GB" sz="1400"/>
              <a:t> </a:t>
            </a:r>
            <a:r>
              <a:rPr lang="en-GB" sz="1220" b="1">
                <a:solidFill>
                  <a:srgbClr val="1F2A33"/>
                </a:solidFill>
                <a:latin typeface="Aptos"/>
              </a:rPr>
              <a:t>perspective</a:t>
            </a:r>
            <a:endParaRPr sz="1220" b="1">
              <a:solidFill>
                <a:srgbClr val="1F2A33"/>
              </a:solidFill>
              <a:latin typeface="Aptos"/>
            </a:endParaRPr>
          </a:p>
        </p:txBody>
      </p:sp>
      <p:pic>
        <p:nvPicPr>
          <p:cNvPr id="15" name="Graphic 14" descr="Money with solid fill">
            <a:extLst>
              <a:ext uri="{FF2B5EF4-FFF2-40B4-BE49-F238E27FC236}">
                <a16:creationId xmlns:a16="http://schemas.microsoft.com/office/drawing/2014/main" id="{90A988D0-CECF-0EA4-6906-8811EED59E3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386337" y="2327642"/>
            <a:ext cx="692164" cy="692164"/>
          </a:xfrm>
          <a:prstGeom prst="rect">
            <a:avLst/>
          </a:prstGeom>
        </p:spPr>
      </p:pic>
      <p:pic>
        <p:nvPicPr>
          <p:cNvPr id="24" name="Graphic 23" descr="Handshake with solid fill">
            <a:extLst>
              <a:ext uri="{FF2B5EF4-FFF2-40B4-BE49-F238E27FC236}">
                <a16:creationId xmlns:a16="http://schemas.microsoft.com/office/drawing/2014/main" id="{07CBE261-4C7C-A106-6B17-0C6983FB843C}"/>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575054" y="2357264"/>
            <a:ext cx="690372" cy="690372"/>
          </a:xfrm>
          <a:prstGeom prst="rect">
            <a:avLst/>
          </a:prstGeom>
        </p:spPr>
      </p:pic>
      <p:pic>
        <p:nvPicPr>
          <p:cNvPr id="26" name="Graphic 25" descr="Sunglasses outline">
            <a:extLst>
              <a:ext uri="{FF2B5EF4-FFF2-40B4-BE49-F238E27FC236}">
                <a16:creationId xmlns:a16="http://schemas.microsoft.com/office/drawing/2014/main" id="{92E851BA-9DD9-BAC3-3DC0-A9043DB053EB}"/>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686276" y="2357264"/>
            <a:ext cx="692164" cy="692164"/>
          </a:xfrm>
          <a:prstGeom prst="rect">
            <a:avLst/>
          </a:prstGeom>
        </p:spPr>
      </p:pic>
      <p:pic>
        <p:nvPicPr>
          <p:cNvPr id="30" name="Graphic 29" descr="Lightning bolt with solid fill">
            <a:extLst>
              <a:ext uri="{FF2B5EF4-FFF2-40B4-BE49-F238E27FC236}">
                <a16:creationId xmlns:a16="http://schemas.microsoft.com/office/drawing/2014/main" id="{BD07987A-6E25-5308-F818-C3DF221AF5F4}"/>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109460" y="2346329"/>
            <a:ext cx="692164" cy="692164"/>
          </a:xfrm>
          <a:prstGeom prst="rect">
            <a:avLst/>
          </a:prstGeom>
        </p:spPr>
      </p:pic>
    </p:spTree>
    <p:extLst>
      <p:ext uri="{BB962C8B-B14F-4D97-AF65-F5344CB8AC3E}">
        <p14:creationId xmlns:p14="http://schemas.microsoft.com/office/powerpoint/2010/main" val="110081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par>
                                <p:cTn id="17" presetID="9"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dissolv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dissolve">
                                      <p:cBhvr>
                                        <p:cTn id="30" dur="500"/>
                                        <p:tgtEl>
                                          <p:spTgt spid="20"/>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dissolve">
                                      <p:cBhvr>
                                        <p:cTn id="33" dur="500"/>
                                        <p:tgtEl>
                                          <p:spTgt spid="21"/>
                                        </p:tgtEl>
                                      </p:cBhvr>
                                    </p:animEffect>
                                  </p:childTnLst>
                                </p:cTn>
                              </p:par>
                              <p:par>
                                <p:cTn id="34" presetID="9"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dissolv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dissolve">
                                      <p:cBhvr>
                                        <p:cTn id="41" dur="500"/>
                                        <p:tgtEl>
                                          <p:spTgt spid="46"/>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dissolve">
                                      <p:cBhvr>
                                        <p:cTn id="44" dur="500"/>
                                        <p:tgtEl>
                                          <p:spTgt spid="47"/>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dissolve">
                                      <p:cBhvr>
                                        <p:cTn id="47" dur="500"/>
                                        <p:tgtEl>
                                          <p:spTgt spid="48"/>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dissolve">
                                      <p:cBhvr>
                                        <p:cTn id="50" dur="500"/>
                                        <p:tgtEl>
                                          <p:spTgt spid="49"/>
                                        </p:tgtEl>
                                      </p:cBhvr>
                                    </p:animEffect>
                                  </p:childTnLst>
                                </p:cTn>
                              </p:par>
                              <p:par>
                                <p:cTn id="51" presetID="9"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dissolve">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dissolve">
                                      <p:cBhvr>
                                        <p:cTn id="58" dur="500"/>
                                        <p:tgtEl>
                                          <p:spTgt spid="5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dissolve">
                                      <p:cBhvr>
                                        <p:cTn id="61" dur="500"/>
                                        <p:tgtEl>
                                          <p:spTgt spid="52"/>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dissolve">
                                      <p:cBhvr>
                                        <p:cTn id="64" dur="500"/>
                                        <p:tgtEl>
                                          <p:spTgt spid="5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dissolve">
                                      <p:cBhvr>
                                        <p:cTn id="67" dur="500"/>
                                        <p:tgtEl>
                                          <p:spTgt spid="54"/>
                                        </p:tgtEl>
                                      </p:cBhvr>
                                    </p:animEffect>
                                  </p:childTnLst>
                                </p:cTn>
                              </p:par>
                              <p:par>
                                <p:cTn id="68" presetID="9"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dissolve">
                                      <p:cBhvr>
                                        <p:cTn id="7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p:bldP spid="17" grpId="0" animBg="1"/>
      <p:bldP spid="18" grpId="0" animBg="1"/>
      <p:bldP spid="20" grpId="0" animBg="1"/>
      <p:bldP spid="21" grpId="0"/>
      <p:bldP spid="46" grpId="0" animBg="1"/>
      <p:bldP spid="47" grpId="0" animBg="1"/>
      <p:bldP spid="48" grpId="0" animBg="1"/>
      <p:bldP spid="49" grpId="0"/>
      <p:bldP spid="51" grpId="0" animBg="1"/>
      <p:bldP spid="52" grpId="0" animBg="1"/>
      <p:bldP spid="53" grpId="0" animBg="1"/>
      <p:bldP spid="5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8"/>
          <p:cNvSpPr/>
          <p:nvPr>
            <p:custDataLst>
              <p:tags r:id="rId1"/>
            </p:custDataLst>
          </p:nvPr>
        </p:nvSpPr>
        <p:spPr>
          <a:xfrm>
            <a:off x="658368" y="2788920"/>
            <a:ext cx="2331720" cy="1781774"/>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mnt/data/ppt_assets/old_image2.png"/>
          <p:cNvPicPr>
            <a:picLocks noChangeAspect="1"/>
          </p:cNvPicPr>
          <p:nvPr/>
        </p:nvPicPr>
        <p:blipFill>
          <a:blip r:embed="rId19"/>
          <a:stretch>
            <a:fillRect/>
          </a:stretch>
        </p:blipFill>
        <p:spPr>
          <a:xfrm>
            <a:off x="502920" y="292608"/>
            <a:ext cx="1417320" cy="519684"/>
          </a:xfrm>
          <a:prstGeom prst="rect">
            <a:avLst/>
          </a:prstGeom>
        </p:spPr>
      </p:pic>
      <p:sp>
        <p:nvSpPr>
          <p:cNvPr id="4" name="Text 1"/>
          <p:cNvSpPr/>
          <p:nvPr/>
        </p:nvSpPr>
        <p:spPr>
          <a:xfrm>
            <a:off x="640080" y="1097280"/>
            <a:ext cx="8778240" cy="438912"/>
          </a:xfrm>
          <a:prstGeom prst="rect">
            <a:avLst/>
          </a:prstGeom>
          <a:noFill/>
        </p:spPr>
        <p:txBody>
          <a:bodyPr wrap="square" lIns="0" tIns="0" rIns="0" bIns="0" rtlCol="0" anchor="ctr"/>
          <a:lstStyle/>
          <a:p>
            <a:r>
              <a:rPr lang="en-US" altLang="zh-CN" sz="2400" b="1">
                <a:solidFill>
                  <a:srgbClr val="133B5C"/>
                </a:solidFill>
                <a:latin typeface="Aptos"/>
                <a:sym typeface="+mn-ea"/>
              </a:rPr>
              <a:t>Market &amp; Growth Questions We Can Structure</a:t>
            </a:r>
            <a:endParaRPr lang="en-US" altLang="zh-CN" sz="2400" b="1">
              <a:solidFill>
                <a:srgbClr val="133B5C"/>
              </a:solidFill>
              <a:latin typeface="Aptos"/>
            </a:endParaRPr>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zh-CN" altLang="en-US"/>
          </a:p>
        </p:txBody>
      </p:sp>
      <p:sp>
        <p:nvSpPr>
          <p:cNvPr id="6" name="Shape 3"/>
          <p:cNvSpPr/>
          <p:nvPr/>
        </p:nvSpPr>
        <p:spPr>
          <a:xfrm>
            <a:off x="502920" y="6428232"/>
            <a:ext cx="11201400" cy="0"/>
          </a:xfrm>
          <a:prstGeom prst="line">
            <a:avLst/>
          </a:prstGeom>
          <a:noFill/>
          <a:ln w="8890">
            <a:solidFill>
              <a:srgbClr val="D9E2EC"/>
            </a:solidFill>
            <a:prstDash val="solid"/>
          </a:ln>
        </p:spPr>
        <p:txBody>
          <a:bodyPr/>
          <a:lstStyle/>
          <a:p>
            <a:endParaRPr lang="zh-CN" alt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8" name="Text 5"/>
          <p:cNvSpPr/>
          <p:nvPr/>
        </p:nvSpPr>
        <p:spPr>
          <a:xfrm>
            <a:off x="11201400" y="6473952"/>
            <a:ext cx="502920" cy="164592"/>
          </a:xfrm>
          <a:prstGeom prst="rect">
            <a:avLst/>
          </a:prstGeom>
          <a:noFill/>
        </p:spPr>
        <p:txBody>
          <a:bodyPr wrap="square" lIns="0" tIns="0" rIns="0" bIns="0" rtlCol="0" anchor="ctr"/>
          <a:lstStyle/>
          <a:p>
            <a:pPr marL="0" indent="0" algn="r">
              <a:buNone/>
            </a:pPr>
            <a:r>
              <a:rPr lang="en-US" sz="800" b="1">
                <a:solidFill>
                  <a:srgbClr val="6B7280"/>
                </a:solidFill>
              </a:rPr>
              <a:t>02</a:t>
            </a:r>
            <a:endParaRPr lang="en-US" sz="800"/>
          </a:p>
        </p:txBody>
      </p:sp>
      <p:sp>
        <p:nvSpPr>
          <p:cNvPr id="9" name="Text 6"/>
          <p:cNvSpPr/>
          <p:nvPr/>
        </p:nvSpPr>
        <p:spPr>
          <a:xfrm>
            <a:off x="640079" y="1939834"/>
            <a:ext cx="10291899" cy="347472"/>
          </a:xfrm>
          <a:prstGeom prst="rect">
            <a:avLst/>
          </a:prstGeom>
          <a:noFill/>
        </p:spPr>
        <p:txBody>
          <a:bodyPr wrap="square" lIns="0" tIns="0" rIns="0" bIns="0" rtlCol="0" anchor="ctr"/>
          <a:lstStyle/>
          <a:p>
            <a:pPr marL="0" indent="0">
              <a:buNone/>
            </a:pPr>
            <a:r>
              <a:rPr lang="en-US" altLang="zh-CN" sz="1500" b="1">
                <a:solidFill>
                  <a:srgbClr val="000000"/>
                </a:solidFill>
                <a:latin typeface="Arial" panose="020B0604020202020204"/>
                <a:sym typeface="+mn-ea"/>
              </a:rPr>
              <a:t>Where we can help?</a:t>
            </a:r>
          </a:p>
        </p:txBody>
      </p:sp>
      <p:sp>
        <p:nvSpPr>
          <p:cNvPr id="12" name="Rectangle 9"/>
          <p:cNvSpPr/>
          <p:nvPr>
            <p:custDataLst>
              <p:tags r:id="rId2"/>
            </p:custDataLst>
          </p:nvPr>
        </p:nvSpPr>
        <p:spPr>
          <a:xfrm>
            <a:off x="658368" y="2788920"/>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0"/>
          <p:cNvSpPr/>
          <p:nvPr>
            <p:custDataLst>
              <p:tags r:id="rId3"/>
            </p:custDataLst>
          </p:nvPr>
        </p:nvSpPr>
        <p:spPr>
          <a:xfrm>
            <a:off x="777240" y="3499322"/>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1</a:t>
            </a:r>
          </a:p>
        </p:txBody>
      </p:sp>
      <p:sp>
        <p:nvSpPr>
          <p:cNvPr id="14" name="TextBox 11"/>
          <p:cNvSpPr txBox="1"/>
          <p:nvPr>
            <p:custDataLst>
              <p:tags r:id="rId4"/>
            </p:custDataLst>
          </p:nvPr>
        </p:nvSpPr>
        <p:spPr>
          <a:xfrm>
            <a:off x="1353312" y="3516882"/>
            <a:ext cx="1104020" cy="375487"/>
          </a:xfrm>
          <a:prstGeom prst="rect">
            <a:avLst/>
          </a:prstGeom>
          <a:noFill/>
        </p:spPr>
        <p:txBody>
          <a:bodyPr wrap="none" lIns="0" tIns="0" rIns="0" bIns="0">
            <a:spAutoFit/>
          </a:bodyPr>
          <a:lstStyle/>
          <a:p>
            <a:pPr algn="ctr"/>
            <a:r>
              <a:rPr sz="1220" b="1">
                <a:solidFill>
                  <a:srgbClr val="1F2A33"/>
                </a:solidFill>
                <a:latin typeface="Aptos"/>
              </a:rPr>
              <a:t>Market sizing &amp;
entry feasibility</a:t>
            </a:r>
          </a:p>
        </p:txBody>
      </p:sp>
      <p:sp>
        <p:nvSpPr>
          <p:cNvPr id="17" name="Rounded Rectangle 13"/>
          <p:cNvSpPr/>
          <p:nvPr>
            <p:custDataLst>
              <p:tags r:id="rId5"/>
            </p:custDataLst>
          </p:nvPr>
        </p:nvSpPr>
        <p:spPr>
          <a:xfrm>
            <a:off x="3364992" y="2788920"/>
            <a:ext cx="2331720" cy="2240280"/>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4"/>
          <p:cNvSpPr/>
          <p:nvPr>
            <p:custDataLst>
              <p:tags r:id="rId6"/>
            </p:custDataLst>
          </p:nvPr>
        </p:nvSpPr>
        <p:spPr>
          <a:xfrm>
            <a:off x="3364992" y="2788920"/>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5"/>
          <p:cNvSpPr/>
          <p:nvPr>
            <p:custDataLst>
              <p:tags r:id="rId7"/>
            </p:custDataLst>
          </p:nvPr>
        </p:nvSpPr>
        <p:spPr>
          <a:xfrm>
            <a:off x="3529584" y="3044952"/>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2</a:t>
            </a:r>
          </a:p>
        </p:txBody>
      </p:sp>
      <p:sp>
        <p:nvSpPr>
          <p:cNvPr id="21" name="TextBox 16"/>
          <p:cNvSpPr txBox="1"/>
          <p:nvPr>
            <p:custDataLst>
              <p:tags r:id="rId8"/>
            </p:custDataLst>
          </p:nvPr>
        </p:nvSpPr>
        <p:spPr>
          <a:xfrm>
            <a:off x="4041648" y="3017520"/>
            <a:ext cx="1527048" cy="502920"/>
          </a:xfrm>
          <a:prstGeom prst="rect">
            <a:avLst/>
          </a:prstGeom>
          <a:noFill/>
        </p:spPr>
        <p:txBody>
          <a:bodyPr wrap="none" lIns="0" tIns="0" rIns="0" bIns="0">
            <a:spAutoFit/>
          </a:bodyPr>
          <a:lstStyle/>
          <a:p>
            <a:pPr algn="l"/>
            <a:r>
              <a:rPr sz="1220" b="1">
                <a:solidFill>
                  <a:srgbClr val="1F2A33"/>
                </a:solidFill>
                <a:latin typeface="Aptos"/>
              </a:rPr>
              <a:t>Customer
segmentation</a:t>
            </a:r>
          </a:p>
        </p:txBody>
      </p:sp>
      <p:sp>
        <p:nvSpPr>
          <p:cNvPr id="46" name="Rounded Rectangle 18"/>
          <p:cNvSpPr/>
          <p:nvPr>
            <p:custDataLst>
              <p:tags r:id="rId9"/>
            </p:custDataLst>
          </p:nvPr>
        </p:nvSpPr>
        <p:spPr>
          <a:xfrm>
            <a:off x="6071616" y="2788920"/>
            <a:ext cx="2331720" cy="2240280"/>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19"/>
          <p:cNvSpPr/>
          <p:nvPr>
            <p:custDataLst>
              <p:tags r:id="rId10"/>
            </p:custDataLst>
          </p:nvPr>
        </p:nvSpPr>
        <p:spPr>
          <a:xfrm>
            <a:off x="6071616" y="2788920"/>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20"/>
          <p:cNvSpPr/>
          <p:nvPr>
            <p:custDataLst>
              <p:tags r:id="rId11"/>
            </p:custDataLst>
          </p:nvPr>
        </p:nvSpPr>
        <p:spPr>
          <a:xfrm>
            <a:off x="6236207" y="3044952"/>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3</a:t>
            </a:r>
          </a:p>
        </p:txBody>
      </p:sp>
      <p:sp>
        <p:nvSpPr>
          <p:cNvPr id="49" name="TextBox 21"/>
          <p:cNvSpPr txBox="1"/>
          <p:nvPr>
            <p:custDataLst>
              <p:tags r:id="rId12"/>
            </p:custDataLst>
          </p:nvPr>
        </p:nvSpPr>
        <p:spPr>
          <a:xfrm>
            <a:off x="6748272" y="3017520"/>
            <a:ext cx="1527048" cy="502920"/>
          </a:xfrm>
          <a:prstGeom prst="rect">
            <a:avLst/>
          </a:prstGeom>
          <a:noFill/>
        </p:spPr>
        <p:txBody>
          <a:bodyPr wrap="none" lIns="0" tIns="0" rIns="0" bIns="0">
            <a:spAutoFit/>
          </a:bodyPr>
          <a:lstStyle/>
          <a:p>
            <a:pPr algn="l"/>
            <a:r>
              <a:rPr sz="1220" b="1">
                <a:solidFill>
                  <a:srgbClr val="1F2A33"/>
                </a:solidFill>
                <a:latin typeface="Aptos"/>
              </a:rPr>
              <a:t>Competitor
benchmarking</a:t>
            </a:r>
          </a:p>
        </p:txBody>
      </p:sp>
      <p:sp>
        <p:nvSpPr>
          <p:cNvPr id="51" name="Rounded Rectangle 23"/>
          <p:cNvSpPr/>
          <p:nvPr>
            <p:custDataLst>
              <p:tags r:id="rId13"/>
            </p:custDataLst>
          </p:nvPr>
        </p:nvSpPr>
        <p:spPr>
          <a:xfrm>
            <a:off x="8778240" y="2788920"/>
            <a:ext cx="2331720" cy="2240280"/>
          </a:xfrm>
          <a:prstGeom prst="roundRect">
            <a:avLst>
              <a:gd name="adj" fmla="val 8000"/>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24"/>
          <p:cNvSpPr/>
          <p:nvPr>
            <p:custDataLst>
              <p:tags r:id="rId14"/>
            </p:custDataLst>
          </p:nvPr>
        </p:nvSpPr>
        <p:spPr>
          <a:xfrm>
            <a:off x="8778240" y="2788920"/>
            <a:ext cx="2331720" cy="73152"/>
          </a:xfrm>
          <a:prstGeom prst="rect">
            <a:avLst/>
          </a:prstGeom>
          <a:solidFill>
            <a:srgbClr val="0B2F4A"/>
          </a:solidFill>
          <a:ln>
            <a:solidFill>
              <a:srgbClr val="0B2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25"/>
          <p:cNvSpPr/>
          <p:nvPr>
            <p:custDataLst>
              <p:tags r:id="rId15"/>
            </p:custDataLst>
          </p:nvPr>
        </p:nvSpPr>
        <p:spPr>
          <a:xfrm>
            <a:off x="8942832" y="3044952"/>
            <a:ext cx="438912" cy="438912"/>
          </a:xfrm>
          <a:prstGeom prst="ellipse">
            <a:avLst/>
          </a:prstGeom>
          <a:solidFill>
            <a:srgbClr val="FFFFFF"/>
          </a:solidFill>
          <a:ln w="13970">
            <a:solidFill>
              <a:srgbClr val="0B2F4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F4A"/>
                </a:solidFill>
                <a:latin typeface="Aptos"/>
              </a:rPr>
              <a:t>4</a:t>
            </a:r>
          </a:p>
        </p:txBody>
      </p:sp>
      <p:sp>
        <p:nvSpPr>
          <p:cNvPr id="54" name="TextBox 26"/>
          <p:cNvSpPr txBox="1"/>
          <p:nvPr>
            <p:custDataLst>
              <p:tags r:id="rId16"/>
            </p:custDataLst>
          </p:nvPr>
        </p:nvSpPr>
        <p:spPr>
          <a:xfrm>
            <a:off x="9454896" y="3017520"/>
            <a:ext cx="1527048" cy="502920"/>
          </a:xfrm>
          <a:prstGeom prst="rect">
            <a:avLst/>
          </a:prstGeom>
          <a:noFill/>
        </p:spPr>
        <p:txBody>
          <a:bodyPr wrap="none" lIns="0" tIns="0" rIns="0" bIns="0">
            <a:spAutoFit/>
          </a:bodyPr>
          <a:lstStyle/>
          <a:p>
            <a:pPr algn="l"/>
            <a:r>
              <a:rPr sz="1220" b="1">
                <a:solidFill>
                  <a:srgbClr val="1F2A33"/>
                </a:solidFill>
                <a:latin typeface="Aptos"/>
              </a:rPr>
              <a:t>Go-to-market
recommendation</a:t>
            </a:r>
          </a:p>
        </p:txBody>
      </p:sp>
      <p:sp>
        <p:nvSpPr>
          <p:cNvPr id="56" name="Rectangle 28"/>
          <p:cNvSpPr/>
          <p:nvPr/>
        </p:nvSpPr>
        <p:spPr>
          <a:xfrm>
            <a:off x="1143000" y="5413248"/>
            <a:ext cx="9921240" cy="566928"/>
          </a:xfrm>
          <a:prstGeom prst="rect">
            <a:avLst/>
          </a:prstGeom>
          <a:solidFill>
            <a:srgbClr val="FFFFFF"/>
          </a:solidFill>
          <a:ln w="12700">
            <a:solidFill>
              <a:srgbClr val="D6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29"/>
          <p:cNvSpPr txBox="1"/>
          <p:nvPr/>
        </p:nvSpPr>
        <p:spPr>
          <a:xfrm>
            <a:off x="4199580" y="5559552"/>
            <a:ext cx="4578660" cy="215444"/>
          </a:xfrm>
          <a:prstGeom prst="rect">
            <a:avLst/>
          </a:prstGeom>
          <a:noFill/>
        </p:spPr>
        <p:txBody>
          <a:bodyPr wrap="square" lIns="0" tIns="0" rIns="0" bIns="0">
            <a:spAutoFit/>
          </a:bodyPr>
          <a:lstStyle/>
          <a:p>
            <a:r>
              <a:rPr lang="en-GB" sz="1400" b="1">
                <a:solidFill>
                  <a:srgbClr val="3A4455"/>
                </a:solidFill>
                <a:latin typeface="Aptos"/>
              </a:rPr>
              <a:t>“Your Challenges. Our Favourite Kind of Homework.”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26720" y="97536"/>
            <a:ext cx="7924800" cy="609600"/>
          </a:xfrm>
          <a:prstGeom prst="rect">
            <a:avLst/>
          </a:prstGeom>
          <a:noFill/>
        </p:spPr>
        <p:txBody>
          <a:bodyPr wrap="square" lIns="0" tIns="0" rIns="0" bIns="0" rtlCol="0" anchor="ctr"/>
          <a:lstStyle/>
          <a:p>
            <a:r>
              <a:rPr lang="en-US" sz="2800" err="1">
                <a:solidFill>
                  <a:srgbClr val="0B2F4A"/>
                </a:solidFill>
                <a:latin typeface="Aptos Display" pitchFamily="34" charset="0"/>
                <a:ea typeface="Aptos Display" pitchFamily="34" charset="-122"/>
                <a:cs typeface="Aptos Display" pitchFamily="34" charset="-120"/>
              </a:rPr>
              <a:t>Sassafraz</a:t>
            </a:r>
            <a:endParaRPr lang="en-US" sz="2800">
              <a:solidFill>
                <a:srgbClr val="0B2F4A"/>
              </a:solidFill>
              <a:latin typeface="Aptos Display" pitchFamily="34" charset="0"/>
              <a:ea typeface="Aptos Display" pitchFamily="34" charset="-122"/>
              <a:cs typeface="Aptos Display" pitchFamily="34" charset="-120"/>
            </a:endParaRPr>
          </a:p>
        </p:txBody>
      </p:sp>
      <p:sp>
        <p:nvSpPr>
          <p:cNvPr id="5" name="Text 3"/>
          <p:cNvSpPr/>
          <p:nvPr/>
        </p:nvSpPr>
        <p:spPr>
          <a:xfrm>
            <a:off x="426720" y="707136"/>
            <a:ext cx="7924800" cy="426720"/>
          </a:xfrm>
          <a:prstGeom prst="rect">
            <a:avLst/>
          </a:prstGeom>
          <a:noFill/>
        </p:spPr>
        <p:txBody>
          <a:bodyPr wrap="square" lIns="0" tIns="0" rIns="0" bIns="0" rtlCol="0" anchor="ctr"/>
          <a:lstStyle/>
          <a:p>
            <a:r>
              <a:rPr lang="en-US" sz="1200" i="1">
                <a:solidFill>
                  <a:srgbClr val="0B2F4A"/>
                </a:solidFill>
                <a:latin typeface="Aptos Display" pitchFamily="34" charset="0"/>
                <a:ea typeface="Aptos Display" pitchFamily="34" charset="-122"/>
                <a:cs typeface="Aptos Display" pitchFamily="34" charset="-120"/>
              </a:rPr>
              <a:t>Iconic Yorkville restaurant &amp; hospitality brand · Toronto, ON</a:t>
            </a:r>
          </a:p>
        </p:txBody>
      </p:sp>
      <p:sp>
        <p:nvSpPr>
          <p:cNvPr id="7" name="Shape 5"/>
          <p:cNvSpPr/>
          <p:nvPr>
            <p:custDataLst>
              <p:tags r:id="rId1"/>
            </p:custDataLst>
          </p:nvPr>
        </p:nvSpPr>
        <p:spPr>
          <a:xfrm>
            <a:off x="329184" y="1395560"/>
            <a:ext cx="5608320" cy="2316480"/>
          </a:xfrm>
          <a:prstGeom prst="roundRect">
            <a:avLst/>
          </a:prstGeom>
          <a:ln>
            <a:solidFill>
              <a:srgbClr val="0B2F4A"/>
            </a:solidFill>
          </a:ln>
        </p:spPr>
        <p:style>
          <a:lnRef idx="2">
            <a:schemeClr val="accent1"/>
          </a:lnRef>
          <a:fillRef idx="1">
            <a:schemeClr val="lt1"/>
          </a:fillRef>
          <a:effectRef idx="0">
            <a:schemeClr val="accent1"/>
          </a:effectRef>
          <a:fontRef idx="minor">
            <a:schemeClr val="dk1"/>
          </a:fontRef>
        </p:style>
        <p:txBody>
          <a:bodyPr/>
          <a:lstStyle/>
          <a:p>
            <a:endParaRPr lang="en-IN" sz="2400"/>
          </a:p>
        </p:txBody>
      </p:sp>
      <p:sp>
        <p:nvSpPr>
          <p:cNvPr id="9" name="Text 7"/>
          <p:cNvSpPr/>
          <p:nvPr>
            <p:custDataLst>
              <p:tags r:id="rId2"/>
            </p:custDataLst>
          </p:nvPr>
        </p:nvSpPr>
        <p:spPr>
          <a:xfrm>
            <a:off x="475488" y="1517480"/>
            <a:ext cx="5315712" cy="304800"/>
          </a:xfrm>
          <a:prstGeom prst="rect">
            <a:avLst/>
          </a:prstGeom>
          <a:noFill/>
        </p:spPr>
        <p:txBody>
          <a:bodyPr wrap="square" lIns="0" tIns="0" rIns="0" bIns="0" rtlCol="0" anchor="ctr"/>
          <a:lstStyle/>
          <a:p>
            <a:pPr algn="ctr"/>
            <a:r>
              <a:rPr lang="en-US" altLang="zh-CN" sz="1200" b="1">
                <a:solidFill>
                  <a:srgbClr val="133B5C"/>
                </a:solidFill>
                <a:latin typeface="Aptos"/>
              </a:rPr>
              <a:t>01 · CLIENT OVERVIEW</a:t>
            </a:r>
          </a:p>
        </p:txBody>
      </p:sp>
      <p:sp>
        <p:nvSpPr>
          <p:cNvPr id="10" name="Text 8"/>
          <p:cNvSpPr/>
          <p:nvPr>
            <p:custDataLst>
              <p:tags r:id="rId3"/>
            </p:custDataLst>
          </p:nvPr>
        </p:nvSpPr>
        <p:spPr>
          <a:xfrm>
            <a:off x="475615" y="1858645"/>
            <a:ext cx="5223510" cy="1706880"/>
          </a:xfrm>
          <a:prstGeom prst="rect">
            <a:avLst/>
          </a:prstGeom>
          <a:noFill/>
        </p:spPr>
        <p:txBody>
          <a:bodyPr wrap="square" lIns="0" tIns="0" rIns="0" bIns="0" rtlCol="0" anchor="t"/>
          <a:lstStyle/>
          <a:p>
            <a:pPr fontAlgn="auto">
              <a:lnSpc>
                <a:spcPct val="135000"/>
              </a:lnSpc>
              <a:spcBef>
                <a:spcPts val="600"/>
              </a:spcBef>
              <a:spcAft>
                <a:spcPts val="600"/>
              </a:spcAft>
            </a:pPr>
            <a:r>
              <a:rPr lang="en-US" altLang="zh-CN" sz="1200">
                <a:solidFill>
                  <a:srgbClr val="3A4455"/>
                </a:solidFill>
                <a:latin typeface="Aptos"/>
              </a:rPr>
              <a:t>Diversify revenue by expanding into the wellness hospitality space.</a:t>
            </a:r>
          </a:p>
        </p:txBody>
      </p:sp>
      <p:sp>
        <p:nvSpPr>
          <p:cNvPr id="11" name="Shape 9"/>
          <p:cNvSpPr/>
          <p:nvPr>
            <p:custDataLst>
              <p:tags r:id="rId4"/>
            </p:custDataLst>
          </p:nvPr>
        </p:nvSpPr>
        <p:spPr>
          <a:xfrm>
            <a:off x="6144768" y="1395560"/>
            <a:ext cx="5608320" cy="2316480"/>
          </a:xfrm>
          <a:prstGeom prst="roundRect">
            <a:avLst/>
          </a:prstGeom>
          <a:ln>
            <a:solidFill>
              <a:srgbClr val="0B2F4A"/>
            </a:solidFill>
          </a:ln>
        </p:spPr>
        <p:style>
          <a:lnRef idx="2">
            <a:schemeClr val="accent1"/>
          </a:lnRef>
          <a:fillRef idx="1">
            <a:schemeClr val="lt1"/>
          </a:fillRef>
          <a:effectRef idx="0">
            <a:schemeClr val="accent1"/>
          </a:effectRef>
          <a:fontRef idx="minor">
            <a:schemeClr val="dk1"/>
          </a:fontRef>
        </p:style>
        <p:txBody>
          <a:bodyPr/>
          <a:lstStyle/>
          <a:p>
            <a:endParaRPr lang="en-IN" sz="2400"/>
          </a:p>
        </p:txBody>
      </p:sp>
      <p:sp>
        <p:nvSpPr>
          <p:cNvPr id="13" name="Text 11"/>
          <p:cNvSpPr/>
          <p:nvPr>
            <p:custDataLst>
              <p:tags r:id="rId5"/>
            </p:custDataLst>
          </p:nvPr>
        </p:nvSpPr>
        <p:spPr>
          <a:xfrm>
            <a:off x="6291072" y="1517480"/>
            <a:ext cx="5315712" cy="304800"/>
          </a:xfrm>
          <a:prstGeom prst="rect">
            <a:avLst/>
          </a:prstGeom>
          <a:noFill/>
        </p:spPr>
        <p:txBody>
          <a:bodyPr wrap="square" lIns="0" tIns="0" rIns="0" bIns="0" rtlCol="0" anchor="ctr"/>
          <a:lstStyle/>
          <a:p>
            <a:pPr algn="ctr"/>
            <a:r>
              <a:rPr lang="en-US" altLang="zh-CN" sz="1200" b="1">
                <a:solidFill>
                  <a:srgbClr val="133B5C"/>
                </a:solidFill>
                <a:latin typeface="Aptos"/>
              </a:rPr>
              <a:t>02 · CHALLENGE</a:t>
            </a:r>
          </a:p>
        </p:txBody>
      </p:sp>
      <p:sp>
        <p:nvSpPr>
          <p:cNvPr id="14" name="Text 12"/>
          <p:cNvSpPr/>
          <p:nvPr>
            <p:custDataLst>
              <p:tags r:id="rId6"/>
            </p:custDataLst>
          </p:nvPr>
        </p:nvSpPr>
        <p:spPr>
          <a:xfrm>
            <a:off x="6290945" y="1858645"/>
            <a:ext cx="5223510" cy="1706880"/>
          </a:xfrm>
          <a:prstGeom prst="rect">
            <a:avLst/>
          </a:prstGeom>
          <a:noFill/>
        </p:spPr>
        <p:txBody>
          <a:bodyPr wrap="square" lIns="0" tIns="0" rIns="0" bIns="0" rtlCol="0" anchor="t"/>
          <a:lstStyle/>
          <a:p>
            <a:pPr>
              <a:lnSpc>
                <a:spcPct val="135000"/>
              </a:lnSpc>
            </a:pPr>
            <a:r>
              <a:rPr lang="en-US" altLang="zh-CN" sz="1200">
                <a:solidFill>
                  <a:srgbClr val="3A4455"/>
                </a:solidFill>
                <a:latin typeface="Aptos"/>
              </a:rPr>
              <a:t>The leadership team needed to determine:</a:t>
            </a:r>
          </a:p>
          <a:p>
            <a:pPr marL="171450" indent="-171450">
              <a:lnSpc>
                <a:spcPct val="135000"/>
              </a:lnSpc>
              <a:buFont typeface="Arial" panose="020B0604020202020204" pitchFamily="34" charset="0"/>
              <a:buChar char="•"/>
            </a:pPr>
            <a:r>
              <a:rPr lang="en-US" altLang="zh-CN" sz="1200">
                <a:solidFill>
                  <a:srgbClr val="3A4455"/>
                </a:solidFill>
                <a:latin typeface="Aptos"/>
              </a:rPr>
              <a:t>Expansion feasibility check, </a:t>
            </a:r>
          </a:p>
          <a:p>
            <a:pPr marL="171450" indent="-171450">
              <a:lnSpc>
                <a:spcPct val="135000"/>
              </a:lnSpc>
              <a:buFont typeface="Arial" panose="020B0604020202020204" pitchFamily="34" charset="0"/>
              <a:buChar char="•"/>
            </a:pPr>
            <a:r>
              <a:rPr lang="en-US" altLang="zh-CN" sz="1200">
                <a:solidFill>
                  <a:srgbClr val="3A4455"/>
                </a:solidFill>
                <a:latin typeface="Aptos"/>
              </a:rPr>
              <a:t>Strategic alignment to current business</a:t>
            </a:r>
          </a:p>
          <a:p>
            <a:pPr marL="171450" indent="-171450">
              <a:lnSpc>
                <a:spcPct val="135000"/>
              </a:lnSpc>
              <a:buFont typeface="Arial" panose="020B0604020202020204" pitchFamily="34" charset="0"/>
              <a:buChar char="•"/>
            </a:pPr>
            <a:r>
              <a:rPr lang="en-US" altLang="zh-CN" sz="1200">
                <a:solidFill>
                  <a:srgbClr val="3A4455"/>
                </a:solidFill>
                <a:latin typeface="Aptos"/>
              </a:rPr>
              <a:t>Brand perception and customer sentiment. </a:t>
            </a:r>
          </a:p>
          <a:p>
            <a:pPr marL="171450" indent="-171450">
              <a:lnSpc>
                <a:spcPct val="135000"/>
              </a:lnSpc>
              <a:buFont typeface="Arial" panose="020B0604020202020204" pitchFamily="34" charset="0"/>
              <a:buChar char="•"/>
            </a:pPr>
            <a:r>
              <a:rPr lang="en-US" altLang="zh-CN" sz="1200">
                <a:solidFill>
                  <a:srgbClr val="3A4455"/>
                </a:solidFill>
                <a:latin typeface="Aptos"/>
              </a:rPr>
              <a:t>Competitive positioning</a:t>
            </a:r>
          </a:p>
        </p:txBody>
      </p:sp>
      <p:sp>
        <p:nvSpPr>
          <p:cNvPr id="15" name="Shape 13"/>
          <p:cNvSpPr/>
          <p:nvPr>
            <p:custDataLst>
              <p:tags r:id="rId7"/>
            </p:custDataLst>
          </p:nvPr>
        </p:nvSpPr>
        <p:spPr>
          <a:xfrm>
            <a:off x="329184" y="3872060"/>
            <a:ext cx="5608320" cy="2316480"/>
          </a:xfrm>
          <a:prstGeom prst="roundRect">
            <a:avLst/>
          </a:prstGeom>
          <a:ln>
            <a:solidFill>
              <a:srgbClr val="0B2F4A"/>
            </a:solidFill>
          </a:ln>
        </p:spPr>
        <p:style>
          <a:lnRef idx="2">
            <a:schemeClr val="accent1"/>
          </a:lnRef>
          <a:fillRef idx="1">
            <a:schemeClr val="lt1"/>
          </a:fillRef>
          <a:effectRef idx="0">
            <a:schemeClr val="accent1"/>
          </a:effectRef>
          <a:fontRef idx="minor">
            <a:schemeClr val="dk1"/>
          </a:fontRef>
        </p:style>
        <p:txBody>
          <a:bodyPr/>
          <a:lstStyle/>
          <a:p>
            <a:endParaRPr lang="en-IN" sz="2400"/>
          </a:p>
        </p:txBody>
      </p:sp>
      <p:sp>
        <p:nvSpPr>
          <p:cNvPr id="17" name="Text 15"/>
          <p:cNvSpPr/>
          <p:nvPr>
            <p:custDataLst>
              <p:tags r:id="rId8"/>
            </p:custDataLst>
          </p:nvPr>
        </p:nvSpPr>
        <p:spPr>
          <a:xfrm>
            <a:off x="475488" y="3993980"/>
            <a:ext cx="5315712" cy="304800"/>
          </a:xfrm>
          <a:prstGeom prst="rect">
            <a:avLst/>
          </a:prstGeom>
          <a:noFill/>
        </p:spPr>
        <p:txBody>
          <a:bodyPr wrap="square" lIns="0" tIns="0" rIns="0" bIns="0" rtlCol="0" anchor="ctr"/>
          <a:lstStyle/>
          <a:p>
            <a:pPr algn="ctr"/>
            <a:r>
              <a:rPr lang="en-US" altLang="zh-CN" sz="1200" b="1">
                <a:solidFill>
                  <a:srgbClr val="133B5C"/>
                </a:solidFill>
                <a:latin typeface="Aptos"/>
              </a:rPr>
              <a:t>03 · WHAT IMPACT DID</a:t>
            </a:r>
          </a:p>
        </p:txBody>
      </p:sp>
      <p:sp>
        <p:nvSpPr>
          <p:cNvPr id="18" name="Text 16"/>
          <p:cNvSpPr/>
          <p:nvPr>
            <p:custDataLst>
              <p:tags r:id="rId9"/>
            </p:custDataLst>
          </p:nvPr>
        </p:nvSpPr>
        <p:spPr>
          <a:xfrm>
            <a:off x="475615" y="4335145"/>
            <a:ext cx="5223510" cy="1706880"/>
          </a:xfrm>
          <a:prstGeom prst="rect">
            <a:avLst/>
          </a:prstGeom>
          <a:noFill/>
        </p:spPr>
        <p:txBody>
          <a:bodyPr wrap="square" lIns="0" tIns="0" rIns="0" bIns="0" rtlCol="0" anchor="t"/>
          <a:lstStyle/>
          <a:p>
            <a:pPr marL="304800" indent="-304800">
              <a:lnSpc>
                <a:spcPct val="135000"/>
              </a:lnSpc>
              <a:buAutoNum type="arabicPeriod"/>
            </a:pPr>
            <a:r>
              <a:rPr lang="en-US" altLang="zh-CN" sz="1200">
                <a:solidFill>
                  <a:srgbClr val="3A4455"/>
                </a:solidFill>
                <a:latin typeface="Aptos"/>
              </a:rPr>
              <a:t>Conducted secondary research: competitor analysis, brand perception, and consumer sentiment on the proof of concept. </a:t>
            </a:r>
          </a:p>
          <a:p>
            <a:pPr marL="304800" indent="-304800">
              <a:lnSpc>
                <a:spcPct val="135000"/>
              </a:lnSpc>
              <a:buAutoNum type="arabicPeriod"/>
            </a:pPr>
            <a:r>
              <a:rPr lang="en-US" altLang="zh-CN" sz="1200">
                <a:solidFill>
                  <a:srgbClr val="3A4455"/>
                </a:solidFill>
                <a:latin typeface="Aptos"/>
              </a:rPr>
              <a:t>Identified a need for a Gap Analysis and built required feature specs. Conducted interviews within companies ICP</a:t>
            </a:r>
          </a:p>
          <a:p>
            <a:pPr marL="304800" indent="-304800">
              <a:lnSpc>
                <a:spcPct val="135000"/>
              </a:lnSpc>
              <a:buAutoNum type="arabicPeriod"/>
            </a:pPr>
            <a:r>
              <a:rPr lang="en-US" altLang="zh-CN" sz="1200">
                <a:solidFill>
                  <a:srgbClr val="3A4455"/>
                </a:solidFill>
                <a:latin typeface="Aptos"/>
              </a:rPr>
              <a:t>Proceeded to a location analysis phase.</a:t>
            </a:r>
          </a:p>
        </p:txBody>
      </p:sp>
      <p:sp>
        <p:nvSpPr>
          <p:cNvPr id="19" name="Shape 17"/>
          <p:cNvSpPr/>
          <p:nvPr>
            <p:custDataLst>
              <p:tags r:id="rId10"/>
            </p:custDataLst>
          </p:nvPr>
        </p:nvSpPr>
        <p:spPr>
          <a:xfrm>
            <a:off x="6144768" y="3872060"/>
            <a:ext cx="5608320" cy="2316480"/>
          </a:xfrm>
          <a:prstGeom prst="roundRect">
            <a:avLst/>
          </a:prstGeom>
          <a:ln>
            <a:solidFill>
              <a:srgbClr val="0B2F4A"/>
            </a:solidFill>
          </a:ln>
        </p:spPr>
        <p:style>
          <a:lnRef idx="2">
            <a:schemeClr val="accent1"/>
          </a:lnRef>
          <a:fillRef idx="1">
            <a:schemeClr val="lt1"/>
          </a:fillRef>
          <a:effectRef idx="0">
            <a:schemeClr val="accent1"/>
          </a:effectRef>
          <a:fontRef idx="minor">
            <a:schemeClr val="dk1"/>
          </a:fontRef>
        </p:style>
        <p:txBody>
          <a:bodyPr/>
          <a:lstStyle/>
          <a:p>
            <a:endParaRPr lang="en-IN" sz="2400"/>
          </a:p>
        </p:txBody>
      </p:sp>
      <p:sp>
        <p:nvSpPr>
          <p:cNvPr id="21" name="Text 19"/>
          <p:cNvSpPr/>
          <p:nvPr>
            <p:custDataLst>
              <p:tags r:id="rId11"/>
            </p:custDataLst>
          </p:nvPr>
        </p:nvSpPr>
        <p:spPr>
          <a:xfrm>
            <a:off x="6291072" y="3993980"/>
            <a:ext cx="5315712" cy="304800"/>
          </a:xfrm>
          <a:prstGeom prst="rect">
            <a:avLst/>
          </a:prstGeom>
          <a:noFill/>
        </p:spPr>
        <p:txBody>
          <a:bodyPr wrap="square" lIns="0" tIns="0" rIns="0" bIns="0" rtlCol="0" anchor="ctr"/>
          <a:lstStyle/>
          <a:p>
            <a:pPr algn="ctr">
              <a:buClrTx/>
              <a:buSzTx/>
              <a:buFontTx/>
            </a:pPr>
            <a:r>
              <a:rPr lang="en-US" altLang="zh-CN" sz="1200" b="1">
                <a:solidFill>
                  <a:srgbClr val="133B5C"/>
                </a:solidFill>
                <a:latin typeface="Aptos"/>
              </a:rPr>
              <a:t>04 · EXPECTED OUTCOMES</a:t>
            </a:r>
          </a:p>
        </p:txBody>
      </p:sp>
      <p:sp>
        <p:nvSpPr>
          <p:cNvPr id="22" name="Text 20"/>
          <p:cNvSpPr/>
          <p:nvPr>
            <p:custDataLst>
              <p:tags r:id="rId12"/>
            </p:custDataLst>
          </p:nvPr>
        </p:nvSpPr>
        <p:spPr>
          <a:xfrm>
            <a:off x="6290945" y="4335145"/>
            <a:ext cx="5223510" cy="1706880"/>
          </a:xfrm>
          <a:prstGeom prst="rect">
            <a:avLst/>
          </a:prstGeom>
          <a:noFill/>
        </p:spPr>
        <p:txBody>
          <a:bodyPr wrap="square" lIns="0" tIns="0" rIns="0" bIns="0" rtlCol="0" anchor="t"/>
          <a:lstStyle/>
          <a:p>
            <a:pPr>
              <a:lnSpc>
                <a:spcPct val="135000"/>
              </a:lnSpc>
            </a:pPr>
            <a:r>
              <a:rPr lang="en-US" altLang="zh-CN" sz="1200">
                <a:solidFill>
                  <a:srgbClr val="3A4455"/>
                </a:solidFill>
                <a:latin typeface="Aptos"/>
              </a:rPr>
              <a:t>The gap analysis and location study provided a clear roadmap to next-stage investment decisions. Not a generic feasibility report. </a:t>
            </a:r>
          </a:p>
        </p:txBody>
      </p:sp>
      <p:sp>
        <p:nvSpPr>
          <p:cNvPr id="6" name="Shape 2"/>
          <p:cNvSpPr/>
          <p:nvPr/>
        </p:nvSpPr>
        <p:spPr>
          <a:xfrm>
            <a:off x="9881088" y="266407"/>
            <a:ext cx="1828800" cy="685800"/>
          </a:xfrm>
          <a:prstGeom prst="rect">
            <a:avLst/>
          </a:prstGeom>
          <a:solidFill>
            <a:srgbClr val="FFFFFF"/>
          </a:solidFill>
          <a:ln w="12700">
            <a:solidFill>
              <a:srgbClr val="FFFFFF"/>
            </a:solidFill>
            <a:prstDash val="solid"/>
          </a:ln>
        </p:spPr>
        <p:txBody>
          <a:bodyPr/>
          <a:lstStyle/>
          <a:p>
            <a:endParaRPr lang="zh-CN" altLang="en-US"/>
          </a:p>
        </p:txBody>
      </p:sp>
      <p:pic>
        <p:nvPicPr>
          <p:cNvPr id="25" name="Image 0" descr="/mnt/data/ppt_assets/old_image2.png"/>
          <p:cNvPicPr>
            <a:picLocks noChangeAspect="1"/>
          </p:cNvPicPr>
          <p:nvPr/>
        </p:nvPicPr>
        <p:blipFill>
          <a:blip r:embed="rId16"/>
          <a:stretch>
            <a:fillRect/>
          </a:stretch>
        </p:blipFill>
        <p:spPr>
          <a:xfrm>
            <a:off x="10096968" y="352972"/>
            <a:ext cx="1417320" cy="521208"/>
          </a:xfrm>
          <a:prstGeom prst="rect">
            <a:avLst/>
          </a:prstGeom>
        </p:spPr>
      </p:pic>
      <p:sp>
        <p:nvSpPr>
          <p:cNvPr id="23" name="Shape 3"/>
          <p:cNvSpPr/>
          <p:nvPr/>
        </p:nvSpPr>
        <p:spPr>
          <a:xfrm>
            <a:off x="502920" y="6428232"/>
            <a:ext cx="11201400" cy="0"/>
          </a:xfrm>
          <a:prstGeom prst="line">
            <a:avLst/>
          </a:prstGeom>
          <a:noFill/>
          <a:ln w="8890">
            <a:solidFill>
              <a:srgbClr val="D9E2EC"/>
            </a:solidFill>
            <a:prstDash val="solid"/>
          </a:ln>
        </p:spPr>
        <p:txBody>
          <a:bodyPr/>
          <a:lstStyle/>
          <a:p>
            <a:endParaRPr lang="zh-CN" altLang="en-US"/>
          </a:p>
        </p:txBody>
      </p:sp>
      <p:sp>
        <p:nvSpPr>
          <p:cNvPr id="24"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26" name="Text 5"/>
          <p:cNvSpPr/>
          <p:nvPr/>
        </p:nvSpPr>
        <p:spPr>
          <a:xfrm>
            <a:off x="11201400" y="6473952"/>
            <a:ext cx="502920" cy="164592"/>
          </a:xfrm>
          <a:prstGeom prst="rect">
            <a:avLst/>
          </a:prstGeom>
          <a:noFill/>
        </p:spPr>
        <p:txBody>
          <a:bodyPr wrap="square" lIns="0" tIns="0" rIns="0" bIns="0" rtlCol="0" anchor="ctr"/>
          <a:lstStyle/>
          <a:p>
            <a:pPr marL="0" indent="0" algn="r">
              <a:buNone/>
            </a:pPr>
            <a:r>
              <a:rPr lang="en-US" sz="800" b="1">
                <a:solidFill>
                  <a:srgbClr val="6B7280"/>
                </a:solidFill>
              </a:rPr>
              <a:t>03</a:t>
            </a:r>
            <a:endParaRPr lang="en-US" sz="800"/>
          </a:p>
        </p:txBody>
      </p:sp>
      <p:pic>
        <p:nvPicPr>
          <p:cNvPr id="3" name="Picture 2">
            <a:extLst>
              <a:ext uri="{FF2B5EF4-FFF2-40B4-BE49-F238E27FC236}">
                <a16:creationId xmlns:a16="http://schemas.microsoft.com/office/drawing/2014/main" id="{E2670927-62E4-10DF-0F3B-203BB3B4F562}"/>
              </a:ext>
            </a:extLst>
          </p:cNvPr>
          <p:cNvPicPr>
            <a:picLocks noChangeAspect="1"/>
          </p:cNvPicPr>
          <p:nvPr/>
        </p:nvPicPr>
        <p:blipFill>
          <a:blip r:embed="rId17"/>
          <a:stretch>
            <a:fillRect/>
          </a:stretch>
        </p:blipFill>
        <p:spPr>
          <a:xfrm>
            <a:off x="7603079" y="303063"/>
            <a:ext cx="2278009" cy="522044"/>
          </a:xfrm>
          <a:prstGeom prst="rect">
            <a:avLst/>
          </a:prstGeom>
        </p:spPr>
      </p:pic>
    </p:spTree>
  </p:cSld>
  <p:clrMapOvr>
    <a:masterClrMapping/>
  </p:clrMapOvr>
  <p:extLst>
    <p:ext uri="{6950BFC3-D8DA-4A85-94F7-54DA5524770B}">
      <p188:commentRel xmlns:p188="http://schemas.microsoft.com/office/powerpoint/2018/8/main" r:id="rId15"/>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3"/>
          <a:stretch>
            <a:fillRect/>
          </a:stretch>
        </p:blipFill>
        <p:spPr>
          <a:xfrm>
            <a:off x="502920" y="292608"/>
            <a:ext cx="1417320" cy="519684"/>
          </a:xfrm>
          <a:prstGeom prst="rect">
            <a:avLst/>
          </a:prstGeom>
        </p:spPr>
      </p:pic>
      <p:sp>
        <p:nvSpPr>
          <p:cNvPr id="4" name="Text 1"/>
          <p:cNvSpPr/>
          <p:nvPr/>
        </p:nvSpPr>
        <p:spPr>
          <a:xfrm>
            <a:off x="640080" y="1097280"/>
            <a:ext cx="8778240" cy="438912"/>
          </a:xfrm>
          <a:prstGeom prst="rect">
            <a:avLst/>
          </a:prstGeom>
          <a:noFill/>
        </p:spPr>
        <p:txBody>
          <a:bodyPr wrap="square" lIns="0" tIns="0" rIns="0" bIns="0" rtlCol="0" anchor="ctr"/>
          <a:lstStyle/>
          <a:p>
            <a:r>
              <a:rPr lang="en-GB" sz="2300" b="1">
                <a:solidFill>
                  <a:srgbClr val="123B5D"/>
                </a:solidFill>
                <a:latin typeface="Aptos Display" pitchFamily="34" charset="0"/>
              </a:rPr>
              <a:t>Where We’ve Stepped In So Far</a:t>
            </a:r>
            <a:endParaRPr lang="en-US" sz="2300"/>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zh-CN" altLang="en-US"/>
          </a:p>
        </p:txBody>
      </p:sp>
      <p:sp>
        <p:nvSpPr>
          <p:cNvPr id="6" name="Shape 3"/>
          <p:cNvSpPr/>
          <p:nvPr/>
        </p:nvSpPr>
        <p:spPr>
          <a:xfrm>
            <a:off x="568960" y="6423152"/>
            <a:ext cx="11201400" cy="0"/>
          </a:xfrm>
          <a:prstGeom prst="line">
            <a:avLst/>
          </a:prstGeom>
          <a:noFill/>
          <a:ln w="8890">
            <a:solidFill>
              <a:srgbClr val="D9E2EC"/>
            </a:solidFill>
            <a:prstDash val="solid"/>
          </a:ln>
        </p:spPr>
        <p:txBody>
          <a:bodyPr/>
          <a:lstStyle/>
          <a:p>
            <a:endParaRPr lang="zh-CN" alt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8" name="Text 5"/>
          <p:cNvSpPr/>
          <p:nvPr/>
        </p:nvSpPr>
        <p:spPr>
          <a:xfrm>
            <a:off x="11201400" y="6473952"/>
            <a:ext cx="502920" cy="164592"/>
          </a:xfrm>
          <a:prstGeom prst="rect">
            <a:avLst/>
          </a:prstGeom>
          <a:noFill/>
        </p:spPr>
        <p:txBody>
          <a:bodyPr wrap="square" lIns="0" tIns="0" rIns="0" bIns="0" rtlCol="0" anchor="ctr"/>
          <a:lstStyle/>
          <a:p>
            <a:pPr marL="0" indent="0" algn="r">
              <a:buNone/>
            </a:pPr>
            <a:r>
              <a:rPr lang="en-US" sz="800" b="1">
                <a:solidFill>
                  <a:srgbClr val="6B7280"/>
                </a:solidFill>
              </a:rPr>
              <a:t>05</a:t>
            </a:r>
            <a:endParaRPr lang="en-US" sz="800"/>
          </a:p>
        </p:txBody>
      </p:sp>
      <p:cxnSp>
        <p:nvCxnSpPr>
          <p:cNvPr id="10" name="Connector 9"/>
          <p:cNvCxnSpPr/>
          <p:nvPr/>
        </p:nvCxnSpPr>
        <p:spPr>
          <a:xfrm>
            <a:off x="1325880" y="3237302"/>
            <a:ext cx="9418320" cy="0"/>
          </a:xfrm>
          <a:prstGeom prst="line">
            <a:avLst/>
          </a:prstGeom>
          <a:ln>
            <a:gradFill>
              <a:gsLst>
                <a:gs pos="0">
                  <a:schemeClr val="accent1">
                    <a:lumMod val="5000"/>
                    <a:lumOff val="95000"/>
                  </a:schemeClr>
                </a:gs>
                <a:gs pos="74000">
                  <a:srgbClr val="F6F9FC"/>
                </a:gs>
                <a:gs pos="83000">
                  <a:srgbClr val="F6F9FC"/>
                </a:gs>
                <a:gs pos="100000">
                  <a:srgbClr val="F6F9FC"/>
                </a:gs>
              </a:gsLst>
              <a:lin ang="5400000" scaled="1"/>
            </a:gradFill>
          </a:ln>
        </p:spPr>
        <p:style>
          <a:lnRef idx="2">
            <a:schemeClr val="accent1"/>
          </a:lnRef>
          <a:fillRef idx="0">
            <a:srgbClr val="FFFFFF"/>
          </a:fillRef>
          <a:effectRef idx="0">
            <a:srgbClr val="FFFFFF"/>
          </a:effectRef>
          <a:fontRef idx="minor">
            <a:schemeClr val="tx1"/>
          </a:fontRef>
        </p:style>
      </p:cxnSp>
      <p:cxnSp>
        <p:nvCxnSpPr>
          <p:cNvPr id="11" name="Connector 10"/>
          <p:cNvCxnSpPr/>
          <p:nvPr/>
        </p:nvCxnSpPr>
        <p:spPr>
          <a:xfrm>
            <a:off x="1325880" y="4005398"/>
            <a:ext cx="9418320" cy="0"/>
          </a:xfrm>
          <a:prstGeom prst="line">
            <a:avLst/>
          </a:prstGeom>
          <a:ln>
            <a:gradFill>
              <a:gsLst>
                <a:gs pos="0">
                  <a:schemeClr val="accent1">
                    <a:lumMod val="5000"/>
                    <a:lumOff val="95000"/>
                  </a:schemeClr>
                </a:gs>
                <a:gs pos="74000">
                  <a:srgbClr val="F6F9FC"/>
                </a:gs>
                <a:gs pos="83000">
                  <a:srgbClr val="F6F9FC"/>
                </a:gs>
                <a:gs pos="100000">
                  <a:srgbClr val="F6F9FC"/>
                </a:gs>
              </a:gsLst>
              <a:lin ang="5400000" scaled="1"/>
            </a:gradFill>
          </a:ln>
        </p:spPr>
        <p:style>
          <a:lnRef idx="2">
            <a:schemeClr val="accent1"/>
          </a:lnRef>
          <a:fillRef idx="0">
            <a:srgbClr val="FFFFFF"/>
          </a:fillRef>
          <a:effectRef idx="0">
            <a:srgbClr val="FFFFFF"/>
          </a:effectRef>
          <a:fontRef idx="minor">
            <a:schemeClr val="tx1"/>
          </a:fontRef>
        </p:style>
      </p:cxnSp>
      <p:cxnSp>
        <p:nvCxnSpPr>
          <p:cNvPr id="12" name="Connector 11"/>
          <p:cNvCxnSpPr/>
          <p:nvPr/>
        </p:nvCxnSpPr>
        <p:spPr>
          <a:xfrm>
            <a:off x="1325880" y="4773494"/>
            <a:ext cx="9418320" cy="0"/>
          </a:xfrm>
          <a:prstGeom prst="line">
            <a:avLst/>
          </a:prstGeom>
          <a:ln>
            <a:gradFill>
              <a:gsLst>
                <a:gs pos="0">
                  <a:schemeClr val="accent1">
                    <a:lumMod val="5000"/>
                    <a:lumOff val="95000"/>
                  </a:schemeClr>
                </a:gs>
                <a:gs pos="74000">
                  <a:srgbClr val="F6F9FC"/>
                </a:gs>
                <a:gs pos="83000">
                  <a:srgbClr val="F6F9FC"/>
                </a:gs>
                <a:gs pos="100000">
                  <a:srgbClr val="F6F9FC"/>
                </a:gs>
              </a:gsLst>
              <a:lin ang="5400000" scaled="1"/>
            </a:gradFill>
          </a:ln>
        </p:spPr>
        <p:style>
          <a:lnRef idx="2">
            <a:schemeClr val="accent1"/>
          </a:lnRef>
          <a:fillRef idx="0">
            <a:srgbClr val="FFFFFF"/>
          </a:fillRef>
          <a:effectRef idx="0">
            <a:srgbClr val="FFFFFF"/>
          </a:effectRef>
          <a:fontRef idx="minor">
            <a:schemeClr val="tx1"/>
          </a:fontRef>
        </p:style>
      </p:cxnSp>
      <p:cxnSp>
        <p:nvCxnSpPr>
          <p:cNvPr id="13" name="Connector 12"/>
          <p:cNvCxnSpPr/>
          <p:nvPr/>
        </p:nvCxnSpPr>
        <p:spPr>
          <a:xfrm>
            <a:off x="3209544" y="2469206"/>
            <a:ext cx="0" cy="3072384"/>
          </a:xfrm>
          <a:prstGeom prst="line">
            <a:avLst/>
          </a:prstGeom>
          <a:ln>
            <a:gradFill>
              <a:gsLst>
                <a:gs pos="0">
                  <a:schemeClr val="accent1">
                    <a:lumMod val="5000"/>
                    <a:lumOff val="95000"/>
                  </a:schemeClr>
                </a:gs>
                <a:gs pos="74000">
                  <a:srgbClr val="F6F9FC"/>
                </a:gs>
                <a:gs pos="83000">
                  <a:srgbClr val="F6F9FC"/>
                </a:gs>
                <a:gs pos="100000">
                  <a:srgbClr val="F6F9FC"/>
                </a:gs>
              </a:gsLst>
              <a:lin ang="5400000" scaled="1"/>
            </a:gradFill>
          </a:ln>
        </p:spPr>
        <p:style>
          <a:lnRef idx="2">
            <a:schemeClr val="accent1"/>
          </a:lnRef>
          <a:fillRef idx="0">
            <a:srgbClr val="FFFFFF"/>
          </a:fillRef>
          <a:effectRef idx="0">
            <a:srgbClr val="FFFFFF"/>
          </a:effectRef>
          <a:fontRef idx="minor">
            <a:schemeClr val="tx1"/>
          </a:fontRef>
        </p:style>
      </p:cxnSp>
      <p:cxnSp>
        <p:nvCxnSpPr>
          <p:cNvPr id="14" name="Connector 13"/>
          <p:cNvCxnSpPr/>
          <p:nvPr/>
        </p:nvCxnSpPr>
        <p:spPr>
          <a:xfrm>
            <a:off x="5093208" y="2469206"/>
            <a:ext cx="0" cy="3072384"/>
          </a:xfrm>
          <a:prstGeom prst="line">
            <a:avLst/>
          </a:prstGeom>
          <a:ln>
            <a:gradFill>
              <a:gsLst>
                <a:gs pos="0">
                  <a:schemeClr val="accent1">
                    <a:lumMod val="5000"/>
                    <a:lumOff val="95000"/>
                  </a:schemeClr>
                </a:gs>
                <a:gs pos="74000">
                  <a:srgbClr val="F6F9FC"/>
                </a:gs>
                <a:gs pos="83000">
                  <a:srgbClr val="F6F9FC"/>
                </a:gs>
                <a:gs pos="100000">
                  <a:srgbClr val="F6F9FC"/>
                </a:gs>
              </a:gsLst>
              <a:lin ang="5400000" scaled="1"/>
            </a:gradFill>
          </a:ln>
        </p:spPr>
        <p:style>
          <a:lnRef idx="2">
            <a:schemeClr val="accent1"/>
          </a:lnRef>
          <a:fillRef idx="0">
            <a:srgbClr val="FFFFFF"/>
          </a:fillRef>
          <a:effectRef idx="0">
            <a:srgbClr val="FFFFFF"/>
          </a:effectRef>
          <a:fontRef idx="minor">
            <a:schemeClr val="tx1"/>
          </a:fontRef>
        </p:style>
      </p:cxnSp>
      <p:cxnSp>
        <p:nvCxnSpPr>
          <p:cNvPr id="15" name="Connector 14"/>
          <p:cNvCxnSpPr/>
          <p:nvPr/>
        </p:nvCxnSpPr>
        <p:spPr>
          <a:xfrm>
            <a:off x="6976872" y="2469206"/>
            <a:ext cx="0" cy="3072384"/>
          </a:xfrm>
          <a:prstGeom prst="line">
            <a:avLst/>
          </a:prstGeom>
          <a:ln>
            <a:gradFill>
              <a:gsLst>
                <a:gs pos="0">
                  <a:schemeClr val="accent1">
                    <a:lumMod val="5000"/>
                    <a:lumOff val="95000"/>
                  </a:schemeClr>
                </a:gs>
                <a:gs pos="74000">
                  <a:srgbClr val="F6F9FC"/>
                </a:gs>
                <a:gs pos="83000">
                  <a:srgbClr val="F6F9FC"/>
                </a:gs>
                <a:gs pos="100000">
                  <a:srgbClr val="F6F9FC"/>
                </a:gs>
              </a:gsLst>
              <a:lin ang="5400000" scaled="1"/>
            </a:gradFill>
          </a:ln>
        </p:spPr>
        <p:style>
          <a:lnRef idx="2">
            <a:schemeClr val="accent1"/>
          </a:lnRef>
          <a:fillRef idx="0">
            <a:srgbClr val="FFFFFF"/>
          </a:fillRef>
          <a:effectRef idx="0">
            <a:srgbClr val="FFFFFF"/>
          </a:effectRef>
          <a:fontRef idx="minor">
            <a:schemeClr val="tx1"/>
          </a:fontRef>
        </p:style>
      </p:cxnSp>
      <p:cxnSp>
        <p:nvCxnSpPr>
          <p:cNvPr id="16" name="Connector 15"/>
          <p:cNvCxnSpPr/>
          <p:nvPr/>
        </p:nvCxnSpPr>
        <p:spPr>
          <a:xfrm>
            <a:off x="8860536" y="2469206"/>
            <a:ext cx="0" cy="3072384"/>
          </a:xfrm>
          <a:prstGeom prst="line">
            <a:avLst/>
          </a:prstGeom>
          <a:ln>
            <a:gradFill>
              <a:gsLst>
                <a:gs pos="0">
                  <a:schemeClr val="accent1">
                    <a:lumMod val="5000"/>
                    <a:lumOff val="95000"/>
                  </a:schemeClr>
                </a:gs>
                <a:gs pos="74000">
                  <a:srgbClr val="F6F9FC"/>
                </a:gs>
                <a:gs pos="83000">
                  <a:srgbClr val="F6F9FC"/>
                </a:gs>
                <a:gs pos="100000">
                  <a:srgbClr val="F6F9FC"/>
                </a:gs>
              </a:gsLst>
              <a:lin ang="5400000" scaled="1"/>
            </a:gradFill>
          </a:ln>
        </p:spPr>
        <p:style>
          <a:lnRef idx="2">
            <a:schemeClr val="accent1"/>
          </a:lnRef>
          <a:fillRef idx="0">
            <a:srgbClr val="FFFFFF"/>
          </a:fillRef>
          <a:effectRef idx="0">
            <a:srgbClr val="FFFFFF"/>
          </a:effectRef>
          <a:fontRef idx="minor">
            <a:schemeClr val="tx1"/>
          </a:fontRef>
        </p:style>
      </p:cxnSp>
      <p:pic>
        <p:nvPicPr>
          <p:cNvPr id="17" name="Picture 16" descr="image.png"/>
          <p:cNvPicPr>
            <a:picLocks noChangeAspect="1"/>
          </p:cNvPicPr>
          <p:nvPr/>
        </p:nvPicPr>
        <p:blipFill>
          <a:blip r:embed="rId4"/>
          <a:stretch>
            <a:fillRect/>
          </a:stretch>
        </p:blipFill>
        <p:spPr>
          <a:xfrm>
            <a:off x="1658307" y="2630506"/>
            <a:ext cx="1218808" cy="445495"/>
          </a:xfrm>
          <a:prstGeom prst="rect">
            <a:avLst/>
          </a:prstGeom>
        </p:spPr>
      </p:pic>
      <p:pic>
        <p:nvPicPr>
          <p:cNvPr id="18" name="Picture 17" descr="image.png"/>
          <p:cNvPicPr>
            <a:picLocks noChangeAspect="1"/>
          </p:cNvPicPr>
          <p:nvPr/>
        </p:nvPicPr>
        <p:blipFill>
          <a:blip r:embed="rId5"/>
          <a:stretch>
            <a:fillRect/>
          </a:stretch>
        </p:blipFill>
        <p:spPr>
          <a:xfrm>
            <a:off x="3510930" y="2667249"/>
            <a:ext cx="1280891" cy="372008"/>
          </a:xfrm>
          <a:prstGeom prst="rect">
            <a:avLst/>
          </a:prstGeom>
        </p:spPr>
      </p:pic>
      <p:pic>
        <p:nvPicPr>
          <p:cNvPr id="19" name="Picture 18" descr="image.png"/>
          <p:cNvPicPr>
            <a:picLocks noChangeAspect="1"/>
          </p:cNvPicPr>
          <p:nvPr/>
        </p:nvPicPr>
        <p:blipFill>
          <a:blip r:embed="rId6"/>
          <a:stretch>
            <a:fillRect/>
          </a:stretch>
        </p:blipFill>
        <p:spPr>
          <a:xfrm>
            <a:off x="5394594" y="2659084"/>
            <a:ext cx="1280891" cy="388338"/>
          </a:xfrm>
          <a:prstGeom prst="rect">
            <a:avLst/>
          </a:prstGeom>
        </p:spPr>
      </p:pic>
      <p:pic>
        <p:nvPicPr>
          <p:cNvPr id="20" name="Picture 19" descr="image.png"/>
          <p:cNvPicPr>
            <a:picLocks noChangeAspect="1"/>
          </p:cNvPicPr>
          <p:nvPr/>
        </p:nvPicPr>
        <p:blipFill>
          <a:blip r:embed="rId7"/>
          <a:stretch>
            <a:fillRect/>
          </a:stretch>
        </p:blipFill>
        <p:spPr>
          <a:xfrm>
            <a:off x="7278258" y="2687100"/>
            <a:ext cx="1280891" cy="332306"/>
          </a:xfrm>
          <a:prstGeom prst="rect">
            <a:avLst/>
          </a:prstGeom>
        </p:spPr>
      </p:pic>
      <p:pic>
        <p:nvPicPr>
          <p:cNvPr id="21" name="Picture 20" descr="image.png"/>
          <p:cNvPicPr>
            <a:picLocks noChangeAspect="1"/>
          </p:cNvPicPr>
          <p:nvPr/>
        </p:nvPicPr>
        <p:blipFill>
          <a:blip r:embed="rId8"/>
          <a:stretch>
            <a:fillRect/>
          </a:stretch>
        </p:blipFill>
        <p:spPr>
          <a:xfrm>
            <a:off x="9161922" y="2662482"/>
            <a:ext cx="1280891" cy="381542"/>
          </a:xfrm>
          <a:prstGeom prst="rect">
            <a:avLst/>
          </a:prstGeom>
        </p:spPr>
      </p:pic>
      <p:pic>
        <p:nvPicPr>
          <p:cNvPr id="22" name="Picture 21" descr="image.png"/>
          <p:cNvPicPr>
            <a:picLocks noChangeAspect="1"/>
          </p:cNvPicPr>
          <p:nvPr/>
        </p:nvPicPr>
        <p:blipFill>
          <a:blip r:embed="rId9"/>
          <a:stretch>
            <a:fillRect/>
          </a:stretch>
        </p:blipFill>
        <p:spPr>
          <a:xfrm>
            <a:off x="1627266" y="3435038"/>
            <a:ext cx="1280891" cy="372622"/>
          </a:xfrm>
          <a:prstGeom prst="rect">
            <a:avLst/>
          </a:prstGeom>
        </p:spPr>
      </p:pic>
      <p:pic>
        <p:nvPicPr>
          <p:cNvPr id="23" name="Picture 22" descr="image.png"/>
          <p:cNvPicPr>
            <a:picLocks noChangeAspect="1"/>
          </p:cNvPicPr>
          <p:nvPr/>
        </p:nvPicPr>
        <p:blipFill>
          <a:blip r:embed="rId10"/>
          <a:stretch>
            <a:fillRect/>
          </a:stretch>
        </p:blipFill>
        <p:spPr>
          <a:xfrm>
            <a:off x="3399155" y="3289753"/>
            <a:ext cx="1496695" cy="659765"/>
          </a:xfrm>
          <a:prstGeom prst="rect">
            <a:avLst/>
          </a:prstGeom>
        </p:spPr>
      </p:pic>
      <p:pic>
        <p:nvPicPr>
          <p:cNvPr id="24" name="Picture 23" descr="image.png"/>
          <p:cNvPicPr>
            <a:picLocks noChangeAspect="1"/>
          </p:cNvPicPr>
          <p:nvPr/>
        </p:nvPicPr>
        <p:blipFill>
          <a:blip r:embed="rId11"/>
          <a:stretch>
            <a:fillRect/>
          </a:stretch>
        </p:blipFill>
        <p:spPr>
          <a:xfrm>
            <a:off x="5261610" y="3284673"/>
            <a:ext cx="1372870" cy="708660"/>
          </a:xfrm>
          <a:prstGeom prst="rect">
            <a:avLst/>
          </a:prstGeom>
        </p:spPr>
      </p:pic>
      <p:pic>
        <p:nvPicPr>
          <p:cNvPr id="25" name="Picture 24" descr="image.png"/>
          <p:cNvPicPr>
            <a:picLocks noChangeAspect="1"/>
          </p:cNvPicPr>
          <p:nvPr/>
        </p:nvPicPr>
        <p:blipFill>
          <a:blip r:embed="rId12"/>
          <a:stretch>
            <a:fillRect/>
          </a:stretch>
        </p:blipFill>
        <p:spPr>
          <a:xfrm>
            <a:off x="7319010" y="3308803"/>
            <a:ext cx="1228090" cy="610870"/>
          </a:xfrm>
          <a:prstGeom prst="rect">
            <a:avLst/>
          </a:prstGeom>
        </p:spPr>
      </p:pic>
      <p:pic>
        <p:nvPicPr>
          <p:cNvPr id="26" name="Picture 25" descr="image.png"/>
          <p:cNvPicPr>
            <a:picLocks noChangeAspect="1"/>
          </p:cNvPicPr>
          <p:nvPr/>
        </p:nvPicPr>
        <p:blipFill>
          <a:blip r:embed="rId13"/>
          <a:stretch>
            <a:fillRect/>
          </a:stretch>
        </p:blipFill>
        <p:spPr>
          <a:xfrm>
            <a:off x="9161922" y="3446510"/>
            <a:ext cx="1280891" cy="349679"/>
          </a:xfrm>
          <a:prstGeom prst="rect">
            <a:avLst/>
          </a:prstGeom>
        </p:spPr>
      </p:pic>
      <p:pic>
        <p:nvPicPr>
          <p:cNvPr id="27" name="Picture 26" descr="image.png"/>
          <p:cNvPicPr>
            <a:picLocks noChangeAspect="1"/>
          </p:cNvPicPr>
          <p:nvPr/>
        </p:nvPicPr>
        <p:blipFill>
          <a:blip r:embed="rId14"/>
          <a:stretch>
            <a:fillRect/>
          </a:stretch>
        </p:blipFill>
        <p:spPr>
          <a:xfrm>
            <a:off x="1627266" y="4200870"/>
            <a:ext cx="1280891" cy="377151"/>
          </a:xfrm>
          <a:prstGeom prst="rect">
            <a:avLst/>
          </a:prstGeom>
        </p:spPr>
      </p:pic>
      <p:pic>
        <p:nvPicPr>
          <p:cNvPr id="28" name="Picture 27" descr="image.png"/>
          <p:cNvPicPr>
            <a:picLocks noChangeAspect="1"/>
          </p:cNvPicPr>
          <p:nvPr/>
        </p:nvPicPr>
        <p:blipFill>
          <a:blip r:embed="rId15"/>
          <a:stretch>
            <a:fillRect/>
          </a:stretch>
        </p:blipFill>
        <p:spPr>
          <a:xfrm>
            <a:off x="3647840" y="4166698"/>
            <a:ext cx="1007071" cy="445495"/>
          </a:xfrm>
          <a:prstGeom prst="rect">
            <a:avLst/>
          </a:prstGeom>
        </p:spPr>
      </p:pic>
      <p:pic>
        <p:nvPicPr>
          <p:cNvPr id="29" name="Picture 28" descr="image.png"/>
          <p:cNvPicPr>
            <a:picLocks noChangeAspect="1"/>
          </p:cNvPicPr>
          <p:nvPr/>
        </p:nvPicPr>
        <p:blipFill>
          <a:blip r:embed="rId16"/>
          <a:stretch>
            <a:fillRect/>
          </a:stretch>
        </p:blipFill>
        <p:spPr>
          <a:xfrm>
            <a:off x="5664200" y="4020003"/>
            <a:ext cx="713740" cy="737870"/>
          </a:xfrm>
          <a:prstGeom prst="rect">
            <a:avLst/>
          </a:prstGeom>
        </p:spPr>
      </p:pic>
      <p:pic>
        <p:nvPicPr>
          <p:cNvPr id="30" name="Picture 29" descr="image.png"/>
          <p:cNvPicPr>
            <a:picLocks noChangeAspect="1"/>
          </p:cNvPicPr>
          <p:nvPr/>
        </p:nvPicPr>
        <p:blipFill>
          <a:blip r:embed="rId17"/>
          <a:stretch>
            <a:fillRect/>
          </a:stretch>
        </p:blipFill>
        <p:spPr>
          <a:xfrm>
            <a:off x="7713303" y="4128293"/>
            <a:ext cx="410801" cy="522305"/>
          </a:xfrm>
          <a:prstGeom prst="rect">
            <a:avLst/>
          </a:prstGeom>
        </p:spPr>
      </p:pic>
      <p:pic>
        <p:nvPicPr>
          <p:cNvPr id="31" name="Picture 30" descr="image.png"/>
          <p:cNvPicPr>
            <a:picLocks noChangeAspect="1"/>
          </p:cNvPicPr>
          <p:nvPr/>
        </p:nvPicPr>
        <p:blipFill>
          <a:blip r:embed="rId18"/>
          <a:stretch>
            <a:fillRect/>
          </a:stretch>
        </p:blipFill>
        <p:spPr>
          <a:xfrm>
            <a:off x="9498901" y="4139814"/>
            <a:ext cx="606933" cy="499262"/>
          </a:xfrm>
          <a:prstGeom prst="rect">
            <a:avLst/>
          </a:prstGeom>
        </p:spPr>
      </p:pic>
      <p:pic>
        <p:nvPicPr>
          <p:cNvPr id="32" name="Picture 31" descr="image.png"/>
          <p:cNvPicPr>
            <a:picLocks noChangeAspect="1"/>
          </p:cNvPicPr>
          <p:nvPr/>
        </p:nvPicPr>
        <p:blipFill>
          <a:blip r:embed="rId19"/>
          <a:stretch>
            <a:fillRect/>
          </a:stretch>
        </p:blipFill>
        <p:spPr>
          <a:xfrm>
            <a:off x="1979740" y="4907910"/>
            <a:ext cx="575943" cy="499262"/>
          </a:xfrm>
          <a:prstGeom prst="rect">
            <a:avLst/>
          </a:prstGeom>
        </p:spPr>
      </p:pic>
      <p:pic>
        <p:nvPicPr>
          <p:cNvPr id="33" name="Picture 32" descr="image.png"/>
          <p:cNvPicPr>
            <a:picLocks noChangeAspect="1"/>
          </p:cNvPicPr>
          <p:nvPr/>
        </p:nvPicPr>
        <p:blipFill>
          <a:blip r:embed="rId20"/>
          <a:stretch>
            <a:fillRect/>
          </a:stretch>
        </p:blipFill>
        <p:spPr>
          <a:xfrm>
            <a:off x="3510930" y="4964530"/>
            <a:ext cx="1280891" cy="386022"/>
          </a:xfrm>
          <a:prstGeom prst="rect">
            <a:avLst/>
          </a:prstGeom>
        </p:spPr>
      </p:pic>
      <p:pic>
        <p:nvPicPr>
          <p:cNvPr id="34" name="Picture 33" descr="image.png"/>
          <p:cNvPicPr>
            <a:picLocks noChangeAspect="1"/>
          </p:cNvPicPr>
          <p:nvPr/>
        </p:nvPicPr>
        <p:blipFill>
          <a:blip r:embed="rId21"/>
          <a:stretch>
            <a:fillRect/>
          </a:stretch>
        </p:blipFill>
        <p:spPr>
          <a:xfrm>
            <a:off x="5283114" y="4984720"/>
            <a:ext cx="1503851" cy="345643"/>
          </a:xfrm>
          <a:prstGeom prst="rect">
            <a:avLst/>
          </a:prstGeom>
        </p:spPr>
      </p:pic>
      <p:pic>
        <p:nvPicPr>
          <p:cNvPr id="35" name="Picture 34" descr="image.png"/>
          <p:cNvPicPr>
            <a:picLocks noChangeAspect="1"/>
          </p:cNvPicPr>
          <p:nvPr/>
        </p:nvPicPr>
        <p:blipFill>
          <a:blip r:embed="rId22"/>
          <a:stretch>
            <a:fillRect/>
          </a:stretch>
        </p:blipFill>
        <p:spPr>
          <a:xfrm>
            <a:off x="7278258" y="4964199"/>
            <a:ext cx="1280891" cy="386684"/>
          </a:xfrm>
          <a:prstGeom prst="rect">
            <a:avLst/>
          </a:prstGeom>
        </p:spPr>
      </p:pic>
      <p:pic>
        <p:nvPicPr>
          <p:cNvPr id="36" name="Picture 35" descr="image.png"/>
          <p:cNvPicPr>
            <a:picLocks noChangeAspect="1"/>
          </p:cNvPicPr>
          <p:nvPr/>
        </p:nvPicPr>
        <p:blipFill>
          <a:blip r:embed="rId23"/>
          <a:stretch>
            <a:fillRect/>
          </a:stretch>
        </p:blipFill>
        <p:spPr>
          <a:xfrm>
            <a:off x="9398635" y="4788988"/>
            <a:ext cx="796290" cy="7950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8"/>
          <a:stretch>
            <a:fillRect/>
          </a:stretch>
        </p:blipFill>
        <p:spPr>
          <a:xfrm>
            <a:off x="502920" y="292608"/>
            <a:ext cx="1417320" cy="519684"/>
          </a:xfrm>
          <a:prstGeom prst="rect">
            <a:avLst/>
          </a:prstGeom>
        </p:spPr>
      </p:pic>
      <p:sp>
        <p:nvSpPr>
          <p:cNvPr id="3" name="Text 0"/>
          <p:cNvSpPr/>
          <p:nvPr/>
        </p:nvSpPr>
        <p:spPr>
          <a:xfrm>
            <a:off x="658368" y="868680"/>
            <a:ext cx="3291840" cy="201168"/>
          </a:xfrm>
          <a:prstGeom prst="rect">
            <a:avLst/>
          </a:prstGeom>
          <a:noFill/>
        </p:spPr>
        <p:txBody>
          <a:bodyPr wrap="square" lIns="0" tIns="0" rIns="0" bIns="0" rtlCol="0" anchor="ctr"/>
          <a:lstStyle/>
          <a:p>
            <a:pPr marL="0" indent="0">
              <a:buNone/>
            </a:pPr>
            <a:r>
              <a:rPr lang="en-US" sz="750" b="1">
                <a:solidFill>
                  <a:srgbClr val="5B7892"/>
                </a:solidFill>
              </a:rPr>
              <a:t>WHY IMPACT</a:t>
            </a:r>
          </a:p>
        </p:txBody>
      </p:sp>
      <p:sp>
        <p:nvSpPr>
          <p:cNvPr id="4" name="Text 1"/>
          <p:cNvSpPr/>
          <p:nvPr/>
        </p:nvSpPr>
        <p:spPr>
          <a:xfrm>
            <a:off x="640080" y="1097280"/>
            <a:ext cx="8778240" cy="438912"/>
          </a:xfrm>
          <a:prstGeom prst="rect">
            <a:avLst/>
          </a:prstGeom>
          <a:noFill/>
        </p:spPr>
        <p:txBody>
          <a:bodyPr wrap="square" lIns="0" tIns="0" rIns="0" bIns="0" rtlCol="0" anchor="ctr"/>
          <a:lstStyle/>
          <a:p>
            <a:r>
              <a:rPr lang="en-US" altLang="zh-CN" sz="2400" b="1">
                <a:solidFill>
                  <a:srgbClr val="133B5C"/>
                </a:solidFill>
                <a:latin typeface="Aptos"/>
              </a:rPr>
              <a:t>A Win-Win Value Exchange</a:t>
            </a:r>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zh-CN" altLang="en-US"/>
          </a:p>
        </p:txBody>
      </p:sp>
      <p:sp>
        <p:nvSpPr>
          <p:cNvPr id="6" name="Shape 3"/>
          <p:cNvSpPr/>
          <p:nvPr/>
        </p:nvSpPr>
        <p:spPr>
          <a:xfrm>
            <a:off x="502920" y="6428232"/>
            <a:ext cx="11201400" cy="0"/>
          </a:xfrm>
          <a:prstGeom prst="line">
            <a:avLst/>
          </a:prstGeom>
          <a:noFill/>
          <a:ln w="8890">
            <a:solidFill>
              <a:srgbClr val="D9E2EC"/>
            </a:solidFill>
            <a:prstDash val="solid"/>
          </a:ln>
        </p:spPr>
        <p:txBody>
          <a:bodyPr/>
          <a:lstStyle/>
          <a:p>
            <a:endParaRPr lang="zh-CN" alt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8" name="Text 5"/>
          <p:cNvSpPr/>
          <p:nvPr/>
        </p:nvSpPr>
        <p:spPr>
          <a:xfrm>
            <a:off x="11201400" y="6473952"/>
            <a:ext cx="502920" cy="164592"/>
          </a:xfrm>
          <a:prstGeom prst="rect">
            <a:avLst/>
          </a:prstGeom>
          <a:noFill/>
        </p:spPr>
        <p:txBody>
          <a:bodyPr wrap="square" lIns="0" tIns="0" rIns="0" bIns="0" rtlCol="0" anchor="ctr"/>
          <a:lstStyle/>
          <a:p>
            <a:pPr marL="0" indent="0" algn="r">
              <a:buNone/>
            </a:pPr>
            <a:r>
              <a:rPr lang="en-US" sz="800" b="1">
                <a:solidFill>
                  <a:srgbClr val="6B7280"/>
                </a:solidFill>
              </a:rPr>
              <a:t>04</a:t>
            </a:r>
            <a:endParaRPr lang="en-US" sz="800"/>
          </a:p>
        </p:txBody>
      </p:sp>
      <p:sp>
        <p:nvSpPr>
          <p:cNvPr id="9" name="Text 6"/>
          <p:cNvSpPr/>
          <p:nvPr/>
        </p:nvSpPr>
        <p:spPr>
          <a:xfrm>
            <a:off x="640079" y="1939834"/>
            <a:ext cx="10291899" cy="347472"/>
          </a:xfrm>
          <a:prstGeom prst="rect">
            <a:avLst/>
          </a:prstGeom>
          <a:noFill/>
        </p:spPr>
        <p:txBody>
          <a:bodyPr wrap="square" lIns="0" tIns="0" rIns="0" bIns="0" rtlCol="0" anchor="ctr"/>
          <a:lstStyle/>
          <a:p>
            <a:r>
              <a:rPr lang="en-US" altLang="zh-CN" sz="1500" b="1">
                <a:solidFill>
                  <a:srgbClr val="000000"/>
                </a:solidFill>
                <a:latin typeface="Arial" panose="020B0604020202020204"/>
              </a:rPr>
              <a:t>Impact creates value when organizations need a solution to real business questions, and experienced MBA students secure meaningful consulting opportunities to apply and grow their skills.</a:t>
            </a:r>
          </a:p>
          <a:p>
            <a:pPr marL="0" indent="0">
              <a:buNone/>
            </a:pPr>
            <a:endParaRPr lang="en-US" sz="1550" b="1">
              <a:solidFill>
                <a:srgbClr val="111827"/>
              </a:solidFill>
            </a:endParaRPr>
          </a:p>
        </p:txBody>
      </p:sp>
      <p:sp>
        <p:nvSpPr>
          <p:cNvPr id="11" name="Rounded Rectangle 12"/>
          <p:cNvSpPr/>
          <p:nvPr/>
        </p:nvSpPr>
        <p:spPr>
          <a:xfrm>
            <a:off x="822960" y="2568488"/>
            <a:ext cx="3181858" cy="2150714"/>
          </a:xfrm>
          <a:prstGeom prst="roundRect">
            <a:avLst/>
          </a:prstGeom>
          <a:solidFill>
            <a:srgbClr val="FFFFFF"/>
          </a:solidFill>
          <a:ln w="13970">
            <a:solidFill>
              <a:srgbClr val="D4E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3"/>
          <p:cNvSpPr/>
          <p:nvPr/>
        </p:nvSpPr>
        <p:spPr>
          <a:xfrm>
            <a:off x="4633117" y="2614208"/>
            <a:ext cx="2873853" cy="2060210"/>
          </a:xfrm>
          <a:prstGeom prst="roundRect">
            <a:avLst/>
          </a:prstGeom>
          <a:solidFill>
            <a:srgbClr val="F6F9FC"/>
          </a:solidFill>
          <a:ln w="13970">
            <a:solidFill>
              <a:srgbClr val="D4E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4"/>
          <p:cNvSpPr/>
          <p:nvPr/>
        </p:nvSpPr>
        <p:spPr>
          <a:xfrm>
            <a:off x="8135269" y="2568488"/>
            <a:ext cx="3259806" cy="2150711"/>
          </a:xfrm>
          <a:prstGeom prst="roundRect">
            <a:avLst/>
          </a:prstGeom>
          <a:solidFill>
            <a:srgbClr val="FFFFFF"/>
          </a:solidFill>
          <a:ln w="13970">
            <a:solidFill>
              <a:srgbClr val="D4E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15"/>
          <p:cNvSpPr txBox="1"/>
          <p:nvPr/>
        </p:nvSpPr>
        <p:spPr>
          <a:xfrm>
            <a:off x="1449126" y="2797088"/>
            <a:ext cx="2743200" cy="266065"/>
          </a:xfrm>
          <a:prstGeom prst="rect">
            <a:avLst/>
          </a:prstGeom>
          <a:noFill/>
        </p:spPr>
        <p:txBody>
          <a:bodyPr wrap="square" lIns="18288" tIns="18288" rIns="18288" bIns="18288">
            <a:spAutoFit/>
          </a:bodyPr>
          <a:lstStyle/>
          <a:p>
            <a:pPr algn="l"/>
            <a:r>
              <a:rPr lang="en-US" altLang="zh-CN" sz="1500" b="1">
                <a:solidFill>
                  <a:srgbClr val="133B5C"/>
                </a:solidFill>
                <a:latin typeface="Aptos"/>
              </a:rPr>
              <a:t>What organizations need</a:t>
            </a:r>
          </a:p>
        </p:txBody>
      </p:sp>
      <p:sp>
        <p:nvSpPr>
          <p:cNvPr id="23" name="TextBox 16"/>
          <p:cNvSpPr txBox="1"/>
          <p:nvPr/>
        </p:nvSpPr>
        <p:spPr>
          <a:xfrm>
            <a:off x="1051560" y="3119120"/>
            <a:ext cx="2899410" cy="1555298"/>
          </a:xfrm>
          <a:prstGeom prst="rect">
            <a:avLst/>
          </a:prstGeom>
          <a:noFill/>
        </p:spPr>
        <p:txBody>
          <a:bodyPr wrap="square" lIns="18288" tIns="18288" rIns="18288" bIns="18288">
            <a:spAutoFit/>
          </a:bodyPr>
          <a:lstStyle/>
          <a:p>
            <a:pPr>
              <a:spcAft>
                <a:spcPts val="400"/>
              </a:spcAft>
            </a:pPr>
            <a:r>
              <a:rPr lang="en-US" altLang="zh-CN" sz="1150" b="1">
                <a:solidFill>
                  <a:srgbClr val="3A4455"/>
                </a:solidFill>
                <a:latin typeface="Aptos"/>
              </a:rPr>
              <a:t>Support</a:t>
            </a:r>
            <a:r>
              <a:rPr lang="en-US" altLang="zh-CN" sz="1150">
                <a:solidFill>
                  <a:srgbClr val="3A4455"/>
                </a:solidFill>
                <a:latin typeface="Aptos"/>
              </a:rPr>
              <a:t> to explore strategic or tactical questions that are real, but early, small, or unclear</a:t>
            </a:r>
          </a:p>
          <a:p>
            <a:pPr>
              <a:spcAft>
                <a:spcPts val="400"/>
              </a:spcAft>
            </a:pPr>
            <a:r>
              <a:rPr lang="en-US" altLang="zh-CN" sz="1150" b="1">
                <a:solidFill>
                  <a:srgbClr val="3A4455"/>
                </a:solidFill>
                <a:latin typeface="Aptos"/>
              </a:rPr>
              <a:t>Faster</a:t>
            </a:r>
            <a:r>
              <a:rPr lang="en-US" altLang="zh-CN" sz="1150">
                <a:solidFill>
                  <a:srgbClr val="3A4455"/>
                </a:solidFill>
                <a:latin typeface="Aptos"/>
              </a:rPr>
              <a:t>, more accessible analysis than a full consulting engagement</a:t>
            </a:r>
          </a:p>
          <a:p>
            <a:pPr>
              <a:spcAft>
                <a:spcPts val="400"/>
              </a:spcAft>
            </a:pPr>
            <a:r>
              <a:rPr lang="en-US" altLang="zh-CN" sz="1150" b="1">
                <a:solidFill>
                  <a:srgbClr val="3A4455"/>
                </a:solidFill>
                <a:latin typeface="Aptos"/>
              </a:rPr>
              <a:t>Fresh </a:t>
            </a:r>
            <a:r>
              <a:rPr lang="en-US" altLang="zh-CN" sz="1150">
                <a:solidFill>
                  <a:srgbClr val="3A4455"/>
                </a:solidFill>
                <a:latin typeface="Aptos"/>
              </a:rPr>
              <a:t>Rotman thinking on growth, Go To Market approaches, marketing, operations, digital, or AI questions</a:t>
            </a:r>
          </a:p>
        </p:txBody>
      </p:sp>
      <p:sp>
        <p:nvSpPr>
          <p:cNvPr id="24" name="TextBox 17"/>
          <p:cNvSpPr txBox="1"/>
          <p:nvPr/>
        </p:nvSpPr>
        <p:spPr>
          <a:xfrm>
            <a:off x="5230368" y="2861096"/>
            <a:ext cx="1691640" cy="189230"/>
          </a:xfrm>
          <a:prstGeom prst="rect">
            <a:avLst/>
          </a:prstGeom>
          <a:noFill/>
        </p:spPr>
        <p:txBody>
          <a:bodyPr wrap="square" lIns="18288" tIns="18288" rIns="18288" bIns="18288">
            <a:spAutoFit/>
          </a:bodyPr>
          <a:lstStyle/>
          <a:p>
            <a:pPr algn="ctr"/>
            <a:r>
              <a:rPr sz="1000" b="1">
                <a:solidFill>
                  <a:srgbClr val="5F768C"/>
                </a:solidFill>
                <a:latin typeface="Aptos"/>
              </a:rPr>
              <a:t>THE CHEMISTRY</a:t>
            </a:r>
          </a:p>
        </p:txBody>
      </p:sp>
      <p:sp>
        <p:nvSpPr>
          <p:cNvPr id="25" name="Rectangle 18"/>
          <p:cNvSpPr/>
          <p:nvPr/>
        </p:nvSpPr>
        <p:spPr>
          <a:xfrm>
            <a:off x="5532120" y="3144560"/>
            <a:ext cx="1097280" cy="18288"/>
          </a:xfrm>
          <a:prstGeom prst="rect">
            <a:avLst/>
          </a:prstGeom>
          <a:solidFill>
            <a:srgbClr val="749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19"/>
          <p:cNvSpPr txBox="1"/>
          <p:nvPr/>
        </p:nvSpPr>
        <p:spPr>
          <a:xfrm>
            <a:off x="4956048" y="3215680"/>
            <a:ext cx="2194560" cy="497205"/>
          </a:xfrm>
          <a:prstGeom prst="rect">
            <a:avLst/>
          </a:prstGeom>
          <a:noFill/>
        </p:spPr>
        <p:txBody>
          <a:bodyPr wrap="square" lIns="18288" tIns="18288" rIns="18288" bIns="18288">
            <a:spAutoFit/>
          </a:bodyPr>
          <a:lstStyle/>
          <a:p>
            <a:pPr algn="ctr"/>
            <a:r>
              <a:rPr sz="1500" b="1">
                <a:solidFill>
                  <a:srgbClr val="133B5C"/>
                </a:solidFill>
                <a:latin typeface="Aptos"/>
              </a:rPr>
              <a:t>Focused scope +
mutual commitment</a:t>
            </a:r>
          </a:p>
        </p:txBody>
      </p:sp>
      <p:sp>
        <p:nvSpPr>
          <p:cNvPr id="27" name="TextBox 20"/>
          <p:cNvSpPr txBox="1"/>
          <p:nvPr/>
        </p:nvSpPr>
        <p:spPr>
          <a:xfrm>
            <a:off x="4805680" y="3804833"/>
            <a:ext cx="2554605" cy="566420"/>
          </a:xfrm>
          <a:prstGeom prst="rect">
            <a:avLst/>
          </a:prstGeom>
          <a:noFill/>
        </p:spPr>
        <p:txBody>
          <a:bodyPr wrap="square" lIns="18288" tIns="18288" rIns="18288" bIns="18288">
            <a:spAutoFit/>
          </a:bodyPr>
          <a:lstStyle/>
          <a:p>
            <a:pPr algn="ctr"/>
            <a:r>
              <a:rPr lang="en-US" altLang="zh-CN" sz="1150" b="0">
                <a:solidFill>
                  <a:srgbClr val="3A4455"/>
                </a:solidFill>
                <a:latin typeface="Aptos"/>
              </a:rPr>
              <a:t>turns exploratory business questions
into practical learning and
decision support</a:t>
            </a:r>
          </a:p>
        </p:txBody>
      </p:sp>
      <p:sp>
        <p:nvSpPr>
          <p:cNvPr id="28" name="TextBox 21"/>
          <p:cNvSpPr txBox="1"/>
          <p:nvPr/>
        </p:nvSpPr>
        <p:spPr>
          <a:xfrm>
            <a:off x="8713140" y="2797088"/>
            <a:ext cx="2336368" cy="266065"/>
          </a:xfrm>
          <a:prstGeom prst="rect">
            <a:avLst/>
          </a:prstGeom>
          <a:noFill/>
        </p:spPr>
        <p:txBody>
          <a:bodyPr wrap="square" lIns="18288" tIns="18288" rIns="18288" bIns="18288">
            <a:spAutoFit/>
          </a:bodyPr>
          <a:lstStyle/>
          <a:p>
            <a:pPr algn="l">
              <a:buClrTx/>
              <a:buSzTx/>
              <a:buFontTx/>
            </a:pPr>
            <a:r>
              <a:rPr lang="en-US" altLang="zh-CN" sz="1500" b="1">
                <a:solidFill>
                  <a:srgbClr val="133B5C"/>
                </a:solidFill>
                <a:latin typeface="Aptos"/>
              </a:rPr>
              <a:t>Rotman MBA perspective</a:t>
            </a:r>
          </a:p>
        </p:txBody>
      </p:sp>
      <p:sp>
        <p:nvSpPr>
          <p:cNvPr id="29" name="TextBox 22"/>
          <p:cNvSpPr txBox="1"/>
          <p:nvPr/>
        </p:nvSpPr>
        <p:spPr>
          <a:xfrm>
            <a:off x="8355330" y="3190153"/>
            <a:ext cx="2910840" cy="1199515"/>
          </a:xfrm>
          <a:prstGeom prst="rect">
            <a:avLst/>
          </a:prstGeom>
          <a:noFill/>
        </p:spPr>
        <p:txBody>
          <a:bodyPr wrap="square" lIns="18288" tIns="18288" rIns="18288" bIns="18288">
            <a:spAutoFit/>
          </a:bodyPr>
          <a:lstStyle/>
          <a:p>
            <a:pPr algn="l">
              <a:spcAft>
                <a:spcPts val="400"/>
              </a:spcAft>
              <a:buClrTx/>
              <a:buSzTx/>
              <a:buNone/>
            </a:pPr>
            <a:r>
              <a:rPr lang="en-US" altLang="zh-CN" sz="1150" b="1">
                <a:solidFill>
                  <a:srgbClr val="3A4455"/>
                </a:solidFill>
                <a:latin typeface="Aptos"/>
              </a:rPr>
              <a:t>Real</a:t>
            </a:r>
            <a:r>
              <a:rPr lang="en-US" altLang="zh-CN" sz="1150">
                <a:solidFill>
                  <a:srgbClr val="3A4455"/>
                </a:solidFill>
                <a:latin typeface="Aptos"/>
              </a:rPr>
              <a:t> client problems to apply prior professional experience</a:t>
            </a:r>
          </a:p>
          <a:p>
            <a:pPr algn="l">
              <a:spcAft>
                <a:spcPts val="400"/>
              </a:spcAft>
              <a:buClrTx/>
              <a:buSzTx/>
              <a:buNone/>
            </a:pPr>
            <a:r>
              <a:rPr lang="en-US" altLang="zh-CN" sz="1150" b="1">
                <a:solidFill>
                  <a:srgbClr val="3A4455"/>
                </a:solidFill>
                <a:latin typeface="Aptos"/>
              </a:rPr>
              <a:t>A way</a:t>
            </a:r>
            <a:r>
              <a:rPr lang="en-US" altLang="zh-CN" sz="1150">
                <a:solidFill>
                  <a:srgbClr val="3A4455"/>
                </a:solidFill>
                <a:latin typeface="Aptos"/>
              </a:rPr>
              <a:t> to enhance consulting judgment, client management, and problem-solving skills</a:t>
            </a:r>
          </a:p>
          <a:p>
            <a:pPr algn="l">
              <a:spcAft>
                <a:spcPts val="400"/>
              </a:spcAft>
              <a:buClrTx/>
              <a:buSzTx/>
              <a:buNone/>
            </a:pPr>
            <a:r>
              <a:rPr lang="en-US" altLang="zh-CN" sz="1150" b="1">
                <a:solidFill>
                  <a:srgbClr val="3A4455"/>
                </a:solidFill>
                <a:latin typeface="Aptos"/>
              </a:rPr>
              <a:t>Opportunities</a:t>
            </a:r>
            <a:r>
              <a:rPr lang="en-US" altLang="zh-CN" sz="1150">
                <a:solidFill>
                  <a:srgbClr val="3A4455"/>
                </a:solidFill>
                <a:latin typeface="Aptos"/>
              </a:rPr>
              <a:t> to explore or pivot into consulting through hands-on experience</a:t>
            </a:r>
          </a:p>
        </p:txBody>
      </p:sp>
      <p:sp>
        <p:nvSpPr>
          <p:cNvPr id="30" name="Right Arrow 23"/>
          <p:cNvSpPr/>
          <p:nvPr/>
        </p:nvSpPr>
        <p:spPr>
          <a:xfrm>
            <a:off x="4133723" y="3400592"/>
            <a:ext cx="292608" cy="146304"/>
          </a:xfrm>
          <a:prstGeom prst="rightArrow">
            <a:avLst/>
          </a:prstGeom>
          <a:solidFill>
            <a:srgbClr val="0C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Left Arrow 24"/>
          <p:cNvSpPr/>
          <p:nvPr/>
        </p:nvSpPr>
        <p:spPr>
          <a:xfrm>
            <a:off x="7663180" y="3400592"/>
            <a:ext cx="292608" cy="146304"/>
          </a:xfrm>
          <a:prstGeom prst="leftArrow">
            <a:avLst/>
          </a:prstGeom>
          <a:solidFill>
            <a:srgbClr val="0C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wn Arrow 25"/>
          <p:cNvSpPr/>
          <p:nvPr/>
        </p:nvSpPr>
        <p:spPr>
          <a:xfrm>
            <a:off x="5998464" y="4662464"/>
            <a:ext cx="164592" cy="310896"/>
          </a:xfrm>
          <a:prstGeom prst="downArrow">
            <a:avLst/>
          </a:prstGeom>
          <a:solidFill>
            <a:srgbClr val="0C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26"/>
          <p:cNvSpPr txBox="1"/>
          <p:nvPr/>
        </p:nvSpPr>
        <p:spPr>
          <a:xfrm>
            <a:off x="3970655" y="3162848"/>
            <a:ext cx="626745" cy="219710"/>
          </a:xfrm>
          <a:prstGeom prst="rect">
            <a:avLst/>
          </a:prstGeom>
          <a:noFill/>
        </p:spPr>
        <p:txBody>
          <a:bodyPr wrap="square" lIns="18288" tIns="18288" rIns="18288" bIns="18288">
            <a:spAutoFit/>
          </a:bodyPr>
          <a:lstStyle/>
          <a:p>
            <a:pPr algn="ctr"/>
            <a:r>
              <a:rPr sz="1200" b="1">
                <a:solidFill>
                  <a:srgbClr val="566C80"/>
                </a:solidFill>
                <a:latin typeface="Arial" panose="020B0604020202020204"/>
              </a:rPr>
              <a:t>context</a:t>
            </a:r>
          </a:p>
        </p:txBody>
      </p:sp>
      <p:sp>
        <p:nvSpPr>
          <p:cNvPr id="34" name="TextBox 27"/>
          <p:cNvSpPr txBox="1"/>
          <p:nvPr/>
        </p:nvSpPr>
        <p:spPr>
          <a:xfrm>
            <a:off x="7501255" y="3162848"/>
            <a:ext cx="626745" cy="219710"/>
          </a:xfrm>
          <a:prstGeom prst="rect">
            <a:avLst/>
          </a:prstGeom>
          <a:noFill/>
        </p:spPr>
        <p:txBody>
          <a:bodyPr wrap="square" lIns="18288" tIns="18288" rIns="18288" bIns="18288">
            <a:spAutoFit/>
          </a:bodyPr>
          <a:lstStyle/>
          <a:p>
            <a:pPr algn="ctr"/>
            <a:r>
              <a:rPr sz="1200" b="1">
                <a:solidFill>
                  <a:srgbClr val="566C80"/>
                </a:solidFill>
                <a:latin typeface="Arial" panose="020B0604020202020204"/>
              </a:rPr>
              <a:t>talent</a:t>
            </a:r>
          </a:p>
        </p:txBody>
      </p:sp>
      <p:sp>
        <p:nvSpPr>
          <p:cNvPr id="35" name="Rounded Rectangle 28"/>
          <p:cNvSpPr/>
          <p:nvPr/>
        </p:nvSpPr>
        <p:spPr>
          <a:xfrm>
            <a:off x="1188720" y="5101376"/>
            <a:ext cx="9738360" cy="786384"/>
          </a:xfrm>
          <a:prstGeom prst="roundRect">
            <a:avLst/>
          </a:prstGeom>
          <a:solidFill>
            <a:srgbClr val="F6F9FC"/>
          </a:solidFill>
          <a:ln w="13970">
            <a:solidFill>
              <a:srgbClr val="D4E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29"/>
          <p:cNvSpPr/>
          <p:nvPr/>
        </p:nvSpPr>
        <p:spPr>
          <a:xfrm>
            <a:off x="6053328" y="5247680"/>
            <a:ext cx="10972" cy="475488"/>
          </a:xfrm>
          <a:prstGeom prst="rect">
            <a:avLst/>
          </a:prstGeom>
          <a:solidFill>
            <a:srgbClr val="749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0"/>
          <p:cNvSpPr txBox="1"/>
          <p:nvPr/>
        </p:nvSpPr>
        <p:spPr>
          <a:xfrm>
            <a:off x="2004695" y="5190530"/>
            <a:ext cx="1965960" cy="266065"/>
          </a:xfrm>
          <a:prstGeom prst="rect">
            <a:avLst/>
          </a:prstGeom>
          <a:noFill/>
        </p:spPr>
        <p:txBody>
          <a:bodyPr wrap="square" lIns="18288" tIns="18288" rIns="18288" bIns="18288">
            <a:spAutoFit/>
          </a:bodyPr>
          <a:lstStyle/>
          <a:p>
            <a:pPr algn="l"/>
            <a:r>
              <a:rPr sz="1500" b="1">
                <a:solidFill>
                  <a:srgbClr val="133B5C"/>
                </a:solidFill>
                <a:latin typeface="Aptos"/>
              </a:rPr>
              <a:t>Organizations receive</a:t>
            </a:r>
          </a:p>
        </p:txBody>
      </p:sp>
      <p:sp>
        <p:nvSpPr>
          <p:cNvPr id="38" name="TextBox 31"/>
          <p:cNvSpPr txBox="1"/>
          <p:nvPr/>
        </p:nvSpPr>
        <p:spPr>
          <a:xfrm>
            <a:off x="1600200" y="5497743"/>
            <a:ext cx="4138295" cy="212090"/>
          </a:xfrm>
          <a:prstGeom prst="rect">
            <a:avLst/>
          </a:prstGeom>
          <a:noFill/>
        </p:spPr>
        <p:txBody>
          <a:bodyPr wrap="square" lIns="18288" tIns="18288" rIns="18288" bIns="18288">
            <a:spAutoFit/>
          </a:bodyPr>
          <a:lstStyle/>
          <a:p>
            <a:pPr algn="l"/>
            <a:r>
              <a:rPr lang="en-US" altLang="zh-CN" sz="1150" b="0">
                <a:solidFill>
                  <a:srgbClr val="3A4455"/>
                </a:solidFill>
                <a:latin typeface="Aptos"/>
              </a:rPr>
              <a:t> </a:t>
            </a:r>
            <a:r>
              <a:rPr lang="en-US" altLang="zh-CN" sz="1150">
                <a:solidFill>
                  <a:srgbClr val="3A4455"/>
                </a:solidFill>
                <a:latin typeface="Aptos"/>
              </a:rPr>
              <a:t>I</a:t>
            </a:r>
            <a:r>
              <a:rPr lang="en-US" altLang="zh-CN" sz="1150" b="0">
                <a:solidFill>
                  <a:srgbClr val="3A4455"/>
                </a:solidFill>
                <a:latin typeface="Aptos"/>
              </a:rPr>
              <a:t>nsight, fresh perspective, and practical next steps</a:t>
            </a:r>
          </a:p>
        </p:txBody>
      </p:sp>
      <p:sp>
        <p:nvSpPr>
          <p:cNvPr id="39" name="TextBox 32"/>
          <p:cNvSpPr txBox="1"/>
          <p:nvPr/>
        </p:nvSpPr>
        <p:spPr>
          <a:xfrm>
            <a:off x="6895084" y="5197388"/>
            <a:ext cx="1828800" cy="266065"/>
          </a:xfrm>
          <a:prstGeom prst="rect">
            <a:avLst/>
          </a:prstGeom>
          <a:noFill/>
        </p:spPr>
        <p:txBody>
          <a:bodyPr wrap="square" lIns="18288" tIns="18288" rIns="18288" bIns="18288">
            <a:spAutoFit/>
          </a:bodyPr>
          <a:lstStyle/>
          <a:p>
            <a:pPr algn="l"/>
            <a:r>
              <a:rPr sz="1500" b="1">
                <a:solidFill>
                  <a:srgbClr val="133B5C"/>
                </a:solidFill>
                <a:latin typeface="Aptos"/>
              </a:rPr>
              <a:t>MBA students gain</a:t>
            </a:r>
          </a:p>
        </p:txBody>
      </p:sp>
      <p:sp>
        <p:nvSpPr>
          <p:cNvPr id="40" name="TextBox 33"/>
          <p:cNvSpPr txBox="1"/>
          <p:nvPr/>
        </p:nvSpPr>
        <p:spPr>
          <a:xfrm>
            <a:off x="6492240" y="5497743"/>
            <a:ext cx="4438650" cy="212090"/>
          </a:xfrm>
          <a:prstGeom prst="rect">
            <a:avLst/>
          </a:prstGeom>
          <a:noFill/>
        </p:spPr>
        <p:txBody>
          <a:bodyPr wrap="square" lIns="18288" tIns="18288" rIns="18288" bIns="18288">
            <a:spAutoFit/>
          </a:bodyPr>
          <a:lstStyle/>
          <a:p>
            <a:pPr algn="l">
              <a:buClrTx/>
              <a:buSzTx/>
              <a:buFontTx/>
            </a:pPr>
            <a:r>
              <a:rPr lang="en-US" altLang="zh-CN" sz="1150">
                <a:solidFill>
                  <a:srgbClr val="3A4455"/>
                </a:solidFill>
                <a:latin typeface="Aptos"/>
              </a:rPr>
              <a:t>S</a:t>
            </a:r>
            <a:r>
              <a:rPr lang="en-US" altLang="zh-CN" sz="1150" b="0">
                <a:solidFill>
                  <a:srgbClr val="3A4455"/>
                </a:solidFill>
                <a:latin typeface="Aptos"/>
              </a:rPr>
              <a:t>kill development, a strong bridge into future careers</a:t>
            </a:r>
          </a:p>
        </p:txBody>
      </p:sp>
      <p:pic>
        <p:nvPicPr>
          <p:cNvPr id="41" name="Graphic 40"/>
          <p:cNvPicPr>
            <a:picLocks noChangeAspect="1"/>
          </p:cNvPicPr>
          <p:nvPr>
            <p:custDataLst>
              <p:tags r:id="rId1"/>
            </p:custDataLst>
          </p:nvPr>
        </p:nvPicPr>
        <p:blipFill>
          <a:blip>
            <a:extLst>
              <a:ext uri="{96DAC541-7B7A-43D3-8B79-37D633B846F1}">
                <asvg:svgBlip xmlns:asvg="http://schemas.microsoft.com/office/drawing/2016/SVG/main" r:embed="rId9"/>
              </a:ext>
            </a:extLst>
          </a:blip>
          <a:stretch>
            <a:fillRect/>
          </a:stretch>
        </p:blipFill>
        <p:spPr>
          <a:xfrm>
            <a:off x="1073824" y="2752447"/>
            <a:ext cx="322093" cy="322093"/>
          </a:xfrm>
          <a:prstGeom prst="rect">
            <a:avLst/>
          </a:prstGeom>
        </p:spPr>
      </p:pic>
      <p:pic>
        <p:nvPicPr>
          <p:cNvPr id="42" name="Graphic 41"/>
          <p:cNvPicPr>
            <a:picLocks noChangeAspect="1"/>
          </p:cNvPicPr>
          <p:nvPr>
            <p:custDataLst>
              <p:tags r:id="rId2"/>
            </p:custDataLst>
          </p:nvPr>
        </p:nvPicPr>
        <p:blipFill>
          <a:blip>
            <a:extLst>
              <a:ext uri="{96DAC541-7B7A-43D3-8B79-37D633B846F1}">
                <asvg:svgBlip xmlns:asvg="http://schemas.microsoft.com/office/drawing/2016/SVG/main" r:embed="rId10"/>
              </a:ext>
            </a:extLst>
          </a:blip>
          <a:stretch>
            <a:fillRect/>
          </a:stretch>
        </p:blipFill>
        <p:spPr>
          <a:xfrm>
            <a:off x="8355330" y="2758459"/>
            <a:ext cx="322093" cy="322093"/>
          </a:xfrm>
          <a:prstGeom prst="rect">
            <a:avLst/>
          </a:prstGeom>
        </p:spPr>
      </p:pic>
      <p:pic>
        <p:nvPicPr>
          <p:cNvPr id="43" name="Graphic 42"/>
          <p:cNvPicPr>
            <a:picLocks noChangeAspect="1"/>
          </p:cNvPicPr>
          <p:nvPr>
            <p:custDataLst>
              <p:tags r:id="rId3"/>
            </p:custDataLst>
          </p:nvPr>
        </p:nvPicPr>
        <p:blipFill>
          <a:blip>
            <a:extLst>
              <a:ext uri="{96DAC541-7B7A-43D3-8B79-37D633B846F1}">
                <asvg:svgBlip xmlns:asvg="http://schemas.microsoft.com/office/drawing/2016/SVG/main" r:embed="rId11"/>
              </a:ext>
            </a:extLst>
          </a:blip>
          <a:stretch>
            <a:fillRect/>
          </a:stretch>
        </p:blipFill>
        <p:spPr>
          <a:xfrm>
            <a:off x="1596390" y="5177844"/>
            <a:ext cx="327748" cy="327748"/>
          </a:xfrm>
          <a:prstGeom prst="rect">
            <a:avLst/>
          </a:prstGeom>
        </p:spPr>
      </p:pic>
      <p:pic>
        <p:nvPicPr>
          <p:cNvPr id="44" name="Graphic 43"/>
          <p:cNvPicPr>
            <a:picLocks noChangeAspect="1"/>
          </p:cNvPicPr>
          <p:nvPr>
            <p:custDataLst>
              <p:tags r:id="rId4"/>
            </p:custDataLst>
          </p:nvPr>
        </p:nvPicPr>
        <p:blipFill>
          <a:blip>
            <a:extLst>
              <a:ext uri="{96DAC541-7B7A-43D3-8B79-37D633B846F1}">
                <asvg:svgBlip xmlns:asvg="http://schemas.microsoft.com/office/drawing/2016/SVG/main" r:embed="rId12"/>
              </a:ext>
            </a:extLst>
          </a:blip>
          <a:stretch>
            <a:fillRect/>
          </a:stretch>
        </p:blipFill>
        <p:spPr>
          <a:xfrm>
            <a:off x="6488430" y="5164423"/>
            <a:ext cx="327748" cy="327748"/>
          </a:xfrm>
          <a:prstGeom prst="rect">
            <a:avLst/>
          </a:prstGeom>
        </p:spPr>
      </p:pic>
    </p:spTree>
  </p:cSld>
  <p:clrMapOvr>
    <a:masterClrMapping/>
  </p:clrMapOvr>
  <p:extLst>
    <p:ext uri="{6950BFC3-D8DA-4A85-94F7-54DA5524770B}">
      <p188:commentRel xmlns:p188="http://schemas.microsoft.com/office/powerpoint/2018/8/main" r:id="rId7"/>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2F4A"/>
        </a:solidFill>
        <a:effectLst/>
      </p:bgPr>
    </p:bg>
    <p:spTree>
      <p:nvGrpSpPr>
        <p:cNvPr id="1" name=""/>
        <p:cNvGrpSpPr/>
        <p:nvPr/>
      </p:nvGrpSpPr>
      <p:grpSpPr>
        <a:xfrm>
          <a:off x="0" y="0"/>
          <a:ext cx="0" cy="0"/>
          <a:chOff x="0" y="0"/>
          <a:chExt cx="0" cy="0"/>
        </a:xfrm>
      </p:grpSpPr>
      <p:sp>
        <p:nvSpPr>
          <p:cNvPr id="4" name="Shape 2"/>
          <p:cNvSpPr/>
          <p:nvPr/>
        </p:nvSpPr>
        <p:spPr>
          <a:xfrm>
            <a:off x="685800" y="640080"/>
            <a:ext cx="1828800" cy="685800"/>
          </a:xfrm>
          <a:prstGeom prst="rect">
            <a:avLst/>
          </a:prstGeom>
          <a:solidFill>
            <a:srgbClr val="FFFFFF"/>
          </a:solidFill>
          <a:ln w="12700">
            <a:solidFill>
              <a:srgbClr val="FFFFFF"/>
            </a:solidFill>
            <a:prstDash val="solid"/>
          </a:ln>
        </p:spPr>
        <p:txBody>
          <a:bodyPr/>
          <a:lstStyle/>
          <a:p>
            <a:endParaRPr lang="zh-CN" altLang="en-US"/>
          </a:p>
        </p:txBody>
      </p:sp>
      <p:pic>
        <p:nvPicPr>
          <p:cNvPr id="5" name="Image 0" descr="/mnt/data/ppt_assets/old_image2.png"/>
          <p:cNvPicPr>
            <a:picLocks noChangeAspect="1"/>
          </p:cNvPicPr>
          <p:nvPr/>
        </p:nvPicPr>
        <p:blipFill>
          <a:blip r:embed="rId3"/>
          <a:stretch>
            <a:fillRect/>
          </a:stretch>
        </p:blipFill>
        <p:spPr>
          <a:xfrm>
            <a:off x="850392" y="741299"/>
            <a:ext cx="1417320" cy="521208"/>
          </a:xfrm>
          <a:prstGeom prst="rect">
            <a:avLst/>
          </a:prstGeom>
        </p:spPr>
      </p:pic>
      <p:sp>
        <p:nvSpPr>
          <p:cNvPr id="6" name="Text 3"/>
          <p:cNvSpPr/>
          <p:nvPr/>
        </p:nvSpPr>
        <p:spPr>
          <a:xfrm>
            <a:off x="749808" y="1874520"/>
            <a:ext cx="8046720" cy="594360"/>
          </a:xfrm>
          <a:prstGeom prst="rect">
            <a:avLst/>
          </a:prstGeom>
          <a:noFill/>
        </p:spPr>
        <p:txBody>
          <a:bodyPr wrap="square" lIns="0" tIns="0" rIns="0" bIns="0" rtlCol="0" anchor="ctr">
            <a:noAutofit/>
          </a:bodyPr>
          <a:lstStyle/>
          <a:p>
            <a:r>
              <a:rPr lang="en-US" altLang="zh-CN" sz="3000" b="1">
                <a:solidFill>
                  <a:srgbClr val="FFFFFF"/>
                </a:solidFill>
                <a:ea typeface="微软雅黑" panose="020B0503020204020204" charset="-122"/>
              </a:rPr>
              <a:t>We’d Love to Hear From You!</a:t>
            </a:r>
            <a:endParaRPr lang="en-US" sz="3000" b="1">
              <a:solidFill>
                <a:srgbClr val="FFFFFF"/>
              </a:solidFill>
            </a:endParaRPr>
          </a:p>
        </p:txBody>
      </p:sp>
      <p:sp>
        <p:nvSpPr>
          <p:cNvPr id="9" name="Shape 6"/>
          <p:cNvSpPr/>
          <p:nvPr/>
        </p:nvSpPr>
        <p:spPr>
          <a:xfrm>
            <a:off x="749808" y="3017520"/>
            <a:ext cx="4920761" cy="2043331"/>
          </a:xfrm>
          <a:prstGeom prst="roundRect">
            <a:avLst>
              <a:gd name="adj" fmla="val 4324"/>
            </a:avLst>
          </a:prstGeom>
          <a:solidFill>
            <a:srgbClr val="244E6E">
              <a:alpha val="85000"/>
            </a:srgbClr>
          </a:solidFill>
          <a:ln w="12700">
            <a:solidFill>
              <a:srgbClr val="244E6E"/>
            </a:solidFill>
            <a:prstDash val="solid"/>
          </a:ln>
        </p:spPr>
        <p:txBody>
          <a:bodyPr/>
          <a:lstStyle/>
          <a:p>
            <a:endParaRPr lang="zh-CN" altLang="en-US"/>
          </a:p>
        </p:txBody>
      </p:sp>
      <p:sp>
        <p:nvSpPr>
          <p:cNvPr id="10" name="Text 7"/>
          <p:cNvSpPr/>
          <p:nvPr/>
        </p:nvSpPr>
        <p:spPr>
          <a:xfrm>
            <a:off x="1020318" y="3322647"/>
            <a:ext cx="3383280" cy="256032"/>
          </a:xfrm>
          <a:prstGeom prst="rect">
            <a:avLst/>
          </a:prstGeom>
          <a:noFill/>
        </p:spPr>
        <p:txBody>
          <a:bodyPr wrap="square" lIns="0" tIns="0" rIns="0" bIns="0" rtlCol="0" anchor="ctr"/>
          <a:lstStyle/>
          <a:p>
            <a:r>
              <a:rPr lang="en-US" sz="2400" b="1">
                <a:solidFill>
                  <a:srgbClr val="FFFFFF"/>
                </a:solidFill>
              </a:rPr>
              <a:t>Get in Touch</a:t>
            </a:r>
          </a:p>
        </p:txBody>
      </p:sp>
      <p:sp>
        <p:nvSpPr>
          <p:cNvPr id="11" name="Text 8"/>
          <p:cNvSpPr/>
          <p:nvPr/>
        </p:nvSpPr>
        <p:spPr>
          <a:xfrm>
            <a:off x="978408" y="3812754"/>
            <a:ext cx="3383280" cy="685800"/>
          </a:xfrm>
          <a:prstGeom prst="rect">
            <a:avLst/>
          </a:prstGeom>
          <a:noFill/>
        </p:spPr>
        <p:txBody>
          <a:bodyPr wrap="square" lIns="0" tIns="0" rIns="0" bIns="0" rtlCol="0" anchor="ctr">
            <a:noAutofit/>
          </a:bodyPr>
          <a:lstStyle/>
          <a:p>
            <a:pPr>
              <a:spcBef>
                <a:spcPts val="300"/>
              </a:spcBef>
              <a:spcAft>
                <a:spcPts val="300"/>
              </a:spcAft>
            </a:pPr>
            <a:r>
              <a:rPr lang="en-US" altLang="zh-CN" sz="1700">
                <a:solidFill>
                  <a:srgbClr val="DDE7F0"/>
                </a:solidFill>
              </a:rPr>
              <a:t>Impact Consulting Group</a:t>
            </a:r>
            <a:br>
              <a:rPr lang="en-US" altLang="zh-CN" sz="1700">
                <a:solidFill>
                  <a:srgbClr val="DDE7F0"/>
                </a:solidFill>
              </a:rPr>
            </a:br>
            <a:r>
              <a:rPr lang="en-US" altLang="zh-CN" sz="1700">
                <a:solidFill>
                  <a:srgbClr val="DDE7F0"/>
                </a:solidFill>
              </a:rPr>
              <a:t>Rotman School of Management</a:t>
            </a:r>
            <a:br>
              <a:rPr lang="en-US" altLang="zh-CN" sz="1700">
                <a:solidFill>
                  <a:srgbClr val="DDE7F0"/>
                </a:solidFill>
              </a:rPr>
            </a:br>
            <a:r>
              <a:rPr lang="en-US" altLang="zh-CN" sz="1700" err="1">
                <a:solidFill>
                  <a:srgbClr val="DDE7F0"/>
                </a:solidFill>
              </a:rPr>
              <a:t>impact@rotman.utoronto.ca</a:t>
            </a:r>
            <a:endParaRPr lang="en-US" sz="1700">
              <a:solidFill>
                <a:srgbClr val="DDE7F0"/>
              </a:solidFill>
            </a:endParaRPr>
          </a:p>
        </p:txBody>
      </p:sp>
      <p:pic>
        <p:nvPicPr>
          <p:cNvPr id="8" name="图片 7"/>
          <p:cNvPicPr>
            <a:picLocks noChangeAspect="1"/>
          </p:cNvPicPr>
          <p:nvPr/>
        </p:nvPicPr>
        <p:blipFill>
          <a:blip r:embed="rId4"/>
          <a:stretch>
            <a:fillRect/>
          </a:stretch>
        </p:blipFill>
        <p:spPr>
          <a:xfrm>
            <a:off x="3804744" y="3220495"/>
            <a:ext cx="1701800" cy="16230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3"/>
          <a:stretch>
            <a:fillRect/>
          </a:stretch>
        </p:blipFill>
        <p:spPr>
          <a:xfrm>
            <a:off x="502920" y="292608"/>
            <a:ext cx="1417320" cy="519684"/>
          </a:xfrm>
          <a:prstGeom prst="rect">
            <a:avLst/>
          </a:prstGeom>
        </p:spPr>
      </p:pic>
      <p:sp>
        <p:nvSpPr>
          <p:cNvPr id="3" name="Text 0"/>
          <p:cNvSpPr/>
          <p:nvPr/>
        </p:nvSpPr>
        <p:spPr>
          <a:xfrm>
            <a:off x="685800" y="2377440"/>
            <a:ext cx="4572000" cy="548640"/>
          </a:xfrm>
          <a:prstGeom prst="rect">
            <a:avLst/>
          </a:prstGeom>
          <a:noFill/>
        </p:spPr>
        <p:txBody>
          <a:bodyPr wrap="square" lIns="0" tIns="0" rIns="0" bIns="0" rtlCol="0" anchor="ctr"/>
          <a:lstStyle/>
          <a:p>
            <a:pPr marL="0" indent="0">
              <a:buNone/>
            </a:pPr>
            <a:r>
              <a:rPr lang="en-US" sz="3400" b="1">
                <a:solidFill>
                  <a:srgbClr val="123B5D"/>
                </a:solidFill>
                <a:latin typeface="Aptos Display" pitchFamily="34" charset="0"/>
                <a:ea typeface="Aptos Display" pitchFamily="34" charset="-122"/>
                <a:cs typeface="Aptos Display" pitchFamily="34" charset="-120"/>
              </a:rPr>
              <a:t>Appendix</a:t>
            </a:r>
            <a:endParaRPr lang="en-US" sz="3400"/>
          </a:p>
        </p:txBody>
      </p:sp>
      <p:sp>
        <p:nvSpPr>
          <p:cNvPr id="4" name="Shape 1"/>
          <p:cNvSpPr/>
          <p:nvPr/>
        </p:nvSpPr>
        <p:spPr>
          <a:xfrm>
            <a:off x="713232" y="3063240"/>
            <a:ext cx="914400" cy="54864"/>
          </a:xfrm>
          <a:prstGeom prst="rect">
            <a:avLst/>
          </a:prstGeom>
          <a:solidFill>
            <a:srgbClr val="5B7892"/>
          </a:solidFill>
          <a:ln w="12700">
            <a:solidFill>
              <a:srgbClr val="5B7892"/>
            </a:solidFill>
            <a:prstDash val="solid"/>
          </a:ln>
        </p:spPr>
        <p:txBody>
          <a:bodyPr/>
          <a:lstStyle/>
          <a:p>
            <a:endParaRPr lang="en-US"/>
          </a:p>
        </p:txBody>
      </p:sp>
      <p:sp>
        <p:nvSpPr>
          <p:cNvPr id="5" name="Text 2"/>
          <p:cNvSpPr/>
          <p:nvPr/>
        </p:nvSpPr>
        <p:spPr>
          <a:xfrm>
            <a:off x="713232" y="3383280"/>
            <a:ext cx="5669280" cy="320040"/>
          </a:xfrm>
          <a:prstGeom prst="rect">
            <a:avLst/>
          </a:prstGeom>
          <a:noFill/>
        </p:spPr>
        <p:txBody>
          <a:bodyPr wrap="square" lIns="0" tIns="0" rIns="0" bIns="0" rtlCol="0" anchor="ctr"/>
          <a:lstStyle/>
          <a:p>
            <a:pPr marL="0" indent="0">
              <a:buNone/>
            </a:pPr>
            <a:r>
              <a:rPr lang="en-US" sz="1400">
                <a:solidFill>
                  <a:srgbClr val="374151"/>
                </a:solidFill>
              </a:rPr>
              <a:t>Optional detail for scoping conversations and follow-up materials.</a:t>
            </a:r>
            <a:endParaRPr lang="en-US" sz="1400"/>
          </a:p>
        </p:txBody>
      </p:sp>
      <p:sp>
        <p:nvSpPr>
          <p:cNvPr id="6" name="Shape 3"/>
          <p:cNvSpPr/>
          <p:nvPr/>
        </p:nvSpPr>
        <p:spPr>
          <a:xfrm>
            <a:off x="502920" y="6428232"/>
            <a:ext cx="11201400" cy="0"/>
          </a:xfrm>
          <a:prstGeom prst="line">
            <a:avLst/>
          </a:prstGeom>
          <a:noFill/>
          <a:ln w="8890">
            <a:solidFill>
              <a:srgbClr val="D9E2EC"/>
            </a:solidFill>
            <a:prstDash val="solid"/>
          </a:ln>
        </p:spPr>
        <p:txBody>
          <a:bodyPr/>
          <a:lstStyle/>
          <a:p>
            <a:endParaRPr 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8" name="Text 5"/>
          <p:cNvSpPr/>
          <p:nvPr/>
        </p:nvSpPr>
        <p:spPr>
          <a:xfrm>
            <a:off x="11201400" y="6473952"/>
            <a:ext cx="502920" cy="164592"/>
          </a:xfrm>
          <a:prstGeom prst="rect">
            <a:avLst/>
          </a:prstGeom>
          <a:noFill/>
        </p:spPr>
        <p:txBody>
          <a:bodyPr wrap="square" lIns="0" tIns="0" rIns="0" bIns="0" rtlCol="0" anchor="ctr"/>
          <a:lstStyle/>
          <a:p>
            <a:pPr marL="0" indent="0" algn="r">
              <a:buNone/>
            </a:pPr>
            <a:endParaRPr lang="en-US" sz="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8"/>
          <a:stretch>
            <a:fillRect/>
          </a:stretch>
        </p:blipFill>
        <p:spPr>
          <a:xfrm>
            <a:off x="548640" y="320040"/>
            <a:ext cx="1444752" cy="529742"/>
          </a:xfrm>
          <a:prstGeom prst="rect">
            <a:avLst/>
          </a:prstGeom>
        </p:spPr>
      </p:pic>
      <p:sp>
        <p:nvSpPr>
          <p:cNvPr id="3" name="TextBox 2"/>
          <p:cNvSpPr txBox="1"/>
          <p:nvPr/>
        </p:nvSpPr>
        <p:spPr>
          <a:xfrm>
            <a:off x="612648" y="960120"/>
            <a:ext cx="1463040" cy="201168"/>
          </a:xfrm>
          <a:prstGeom prst="rect">
            <a:avLst/>
          </a:prstGeom>
          <a:noFill/>
        </p:spPr>
        <p:txBody>
          <a:bodyPr wrap="none" lIns="0" tIns="0" rIns="0" bIns="0" anchor="t">
            <a:spAutoFit/>
          </a:bodyPr>
          <a:lstStyle/>
          <a:p>
            <a:pPr algn="l"/>
            <a:r>
              <a:rPr sz="750" b="1" i="0">
                <a:solidFill>
                  <a:srgbClr val="53728E"/>
                </a:solidFill>
                <a:latin typeface="Aptos"/>
              </a:rPr>
              <a:t>OUR TEAM</a:t>
            </a:r>
          </a:p>
        </p:txBody>
      </p:sp>
      <p:sp>
        <p:nvSpPr>
          <p:cNvPr id="4" name="TextBox 3"/>
          <p:cNvSpPr txBox="1"/>
          <p:nvPr/>
        </p:nvSpPr>
        <p:spPr>
          <a:xfrm>
            <a:off x="612648" y="1234440"/>
            <a:ext cx="3291840" cy="384048"/>
          </a:xfrm>
          <a:prstGeom prst="rect">
            <a:avLst/>
          </a:prstGeom>
          <a:noFill/>
        </p:spPr>
        <p:txBody>
          <a:bodyPr wrap="none" lIns="0" tIns="0" rIns="0" bIns="0" anchor="t">
            <a:spAutoFit/>
          </a:bodyPr>
          <a:lstStyle/>
          <a:p>
            <a:pPr algn="l"/>
            <a:r>
              <a:rPr sz="2400" b="1" i="0">
                <a:solidFill>
                  <a:srgbClr val="114068"/>
                </a:solidFill>
                <a:latin typeface="Aptos"/>
              </a:rPr>
              <a:t>Principal Team</a:t>
            </a:r>
          </a:p>
        </p:txBody>
      </p:sp>
      <p:sp>
        <p:nvSpPr>
          <p:cNvPr id="5" name="Rectangle 4"/>
          <p:cNvSpPr/>
          <p:nvPr/>
        </p:nvSpPr>
        <p:spPr>
          <a:xfrm>
            <a:off x="612648" y="1700784"/>
            <a:ext cx="658368" cy="41148"/>
          </a:xfrm>
          <a:prstGeom prst="rect">
            <a:avLst/>
          </a:prstGeom>
          <a:solidFill>
            <a:srgbClr val="5372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1883664"/>
            <a:ext cx="10332720" cy="274320"/>
          </a:xfrm>
          <a:prstGeom prst="rect">
            <a:avLst/>
          </a:prstGeom>
          <a:noFill/>
        </p:spPr>
        <p:txBody>
          <a:bodyPr wrap="none" lIns="0" tIns="0" rIns="0" bIns="0" anchor="t">
            <a:spAutoFit/>
          </a:bodyPr>
          <a:lstStyle/>
          <a:p>
            <a:pPr algn="l"/>
            <a:r>
              <a:rPr sz="1320" b="1" i="0">
                <a:solidFill>
                  <a:srgbClr val="263242"/>
                </a:solidFill>
                <a:latin typeface="Aptos"/>
              </a:rPr>
              <a:t>Rotman MBA principals with cross-functional professional experience across strategy, analytics, healthcare, people, and business development.</a:t>
            </a:r>
          </a:p>
        </p:txBody>
      </p:sp>
      <p:sp>
        <p:nvSpPr>
          <p:cNvPr id="7" name="Rounded Rectangle 6"/>
          <p:cNvSpPr/>
          <p:nvPr>
            <p:custDataLst>
              <p:tags r:id="rId1"/>
            </p:custDataLst>
          </p:nvPr>
        </p:nvSpPr>
        <p:spPr>
          <a:xfrm>
            <a:off x="640080" y="2395728"/>
            <a:ext cx="5257800" cy="1097280"/>
          </a:xfrm>
          <a:prstGeom prst="roundRect">
            <a:avLst>
              <a:gd name="adj" fmla="val 8000"/>
            </a:avLst>
          </a:prstGeom>
          <a:solidFill>
            <a:srgbClr val="FFFFFF"/>
          </a:solidFill>
          <a:ln w="10160">
            <a:solidFill>
              <a:srgbClr val="CF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arti_Mohinani.png"/>
          <p:cNvPicPr>
            <a:picLocks noChangeAspect="1"/>
          </p:cNvPicPr>
          <p:nvPr>
            <p:custDataLst>
              <p:tags r:id="rId2"/>
            </p:custDataLst>
          </p:nvPr>
        </p:nvPicPr>
        <p:blipFill>
          <a:blip r:embed="rId29"/>
          <a:stretch>
            <a:fillRect/>
          </a:stretch>
        </p:blipFill>
        <p:spPr>
          <a:xfrm>
            <a:off x="777240" y="2532888"/>
            <a:ext cx="804672" cy="804672"/>
          </a:xfrm>
          <a:prstGeom prst="rect">
            <a:avLst/>
          </a:prstGeom>
        </p:spPr>
      </p:pic>
      <p:sp>
        <p:nvSpPr>
          <p:cNvPr id="11" name="TextBox 10"/>
          <p:cNvSpPr txBox="1"/>
          <p:nvPr>
            <p:custDataLst>
              <p:tags r:id="rId3"/>
            </p:custDataLst>
          </p:nvPr>
        </p:nvSpPr>
        <p:spPr>
          <a:xfrm>
            <a:off x="1901952" y="2523744"/>
            <a:ext cx="3840480" cy="201168"/>
          </a:xfrm>
          <a:prstGeom prst="rect">
            <a:avLst/>
          </a:prstGeom>
          <a:noFill/>
        </p:spPr>
        <p:txBody>
          <a:bodyPr wrap="none" lIns="0" tIns="0" rIns="0" bIns="0">
            <a:spAutoFit/>
          </a:bodyPr>
          <a:lstStyle/>
          <a:p>
            <a:r>
              <a:rPr sz="1220" b="1">
                <a:solidFill>
                  <a:srgbClr val="114068"/>
                </a:solidFill>
                <a:latin typeface="Aptos"/>
              </a:rPr>
              <a:t>Aarti Mohinani</a:t>
            </a:r>
            <a:r>
              <a:rPr sz="1120" b="1">
                <a:solidFill>
                  <a:srgbClr val="263242"/>
                </a:solidFill>
                <a:latin typeface="Aptos"/>
              </a:rPr>
              <a:t> | Principal</a:t>
            </a:r>
          </a:p>
        </p:txBody>
      </p:sp>
      <p:sp>
        <p:nvSpPr>
          <p:cNvPr id="12" name="TextBox 11"/>
          <p:cNvSpPr txBox="1"/>
          <p:nvPr>
            <p:custDataLst>
              <p:tags r:id="rId4"/>
            </p:custDataLst>
          </p:nvPr>
        </p:nvSpPr>
        <p:spPr>
          <a:xfrm>
            <a:off x="1700784" y="2807208"/>
            <a:ext cx="4023360" cy="533400"/>
          </a:xfrm>
          <a:prstGeom prst="rect">
            <a:avLst/>
          </a:prstGeom>
          <a:noFill/>
        </p:spPr>
        <p:txBody>
          <a:bodyPr wrap="square" lIns="27432" tIns="0" rIns="18288" bIns="0">
            <a:spAutoFit/>
          </a:bodyPr>
          <a:lstStyle/>
          <a:p>
            <a:pPr>
              <a:lnSpc>
                <a:spcPct val="95000"/>
              </a:lnSpc>
              <a:spcAft>
                <a:spcPts val="150"/>
              </a:spcAft>
              <a:defRPr sz="775">
                <a:solidFill>
                  <a:srgbClr val="263242"/>
                </a:solidFill>
                <a:latin typeface="Aptos"/>
              </a:defRPr>
            </a:pPr>
            <a:r>
              <a:rPr sz="850"/>
              <a:t>• B.Sc. Psychology and Industrial Relations, University of Toronto</a:t>
            </a:r>
          </a:p>
          <a:p>
            <a:pPr>
              <a:lnSpc>
                <a:spcPct val="95000"/>
              </a:lnSpc>
              <a:spcAft>
                <a:spcPts val="150"/>
              </a:spcAft>
              <a:defRPr sz="775">
                <a:solidFill>
                  <a:srgbClr val="263242"/>
                </a:solidFill>
                <a:latin typeface="Aptos"/>
              </a:defRPr>
            </a:pPr>
            <a:r>
              <a:rPr sz="850"/>
              <a:t>• 3+ years of experience in people strategy, DEI, and AI-driven change at KPMG Canada</a:t>
            </a:r>
          </a:p>
          <a:p>
            <a:pPr>
              <a:lnSpc>
                <a:spcPct val="95000"/>
              </a:lnSpc>
              <a:spcAft>
                <a:spcPts val="150"/>
              </a:spcAft>
              <a:defRPr sz="775">
                <a:solidFill>
                  <a:srgbClr val="263242"/>
                </a:solidFill>
                <a:latin typeface="Aptos"/>
              </a:defRPr>
            </a:pPr>
            <a:r>
              <a:rPr sz="850"/>
              <a:t>• Expertise in workforce analytics, change management, and digital transformation</a:t>
            </a:r>
          </a:p>
        </p:txBody>
      </p:sp>
      <p:sp>
        <p:nvSpPr>
          <p:cNvPr id="13" name="Rounded Rectangle 12"/>
          <p:cNvSpPr/>
          <p:nvPr>
            <p:custDataLst>
              <p:tags r:id="rId5"/>
            </p:custDataLst>
          </p:nvPr>
        </p:nvSpPr>
        <p:spPr>
          <a:xfrm>
            <a:off x="640080" y="3675887"/>
            <a:ext cx="5257800" cy="1097280"/>
          </a:xfrm>
          <a:prstGeom prst="roundRect">
            <a:avLst>
              <a:gd name="adj" fmla="val 8000"/>
            </a:avLst>
          </a:prstGeom>
          <a:solidFill>
            <a:srgbClr val="FFFFFF"/>
          </a:solidFill>
          <a:ln w="10160">
            <a:solidFill>
              <a:srgbClr val="CF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Arjun_Anish.png"/>
          <p:cNvPicPr>
            <a:picLocks noChangeAspect="1"/>
          </p:cNvPicPr>
          <p:nvPr>
            <p:custDataLst>
              <p:tags r:id="rId6"/>
            </p:custDataLst>
          </p:nvPr>
        </p:nvPicPr>
        <p:blipFill>
          <a:blip r:embed="rId30"/>
          <a:stretch>
            <a:fillRect/>
          </a:stretch>
        </p:blipFill>
        <p:spPr>
          <a:xfrm>
            <a:off x="777240" y="3813048"/>
            <a:ext cx="804672" cy="804672"/>
          </a:xfrm>
          <a:prstGeom prst="rect">
            <a:avLst/>
          </a:prstGeom>
        </p:spPr>
      </p:pic>
      <p:sp>
        <p:nvSpPr>
          <p:cNvPr id="17" name="TextBox 16"/>
          <p:cNvSpPr txBox="1"/>
          <p:nvPr>
            <p:custDataLst>
              <p:tags r:id="rId7"/>
            </p:custDataLst>
          </p:nvPr>
        </p:nvSpPr>
        <p:spPr>
          <a:xfrm>
            <a:off x="1901952" y="3803903"/>
            <a:ext cx="3840480" cy="201168"/>
          </a:xfrm>
          <a:prstGeom prst="rect">
            <a:avLst/>
          </a:prstGeom>
          <a:noFill/>
        </p:spPr>
        <p:txBody>
          <a:bodyPr wrap="none" lIns="0" tIns="0" rIns="0" bIns="0">
            <a:spAutoFit/>
          </a:bodyPr>
          <a:lstStyle/>
          <a:p>
            <a:r>
              <a:rPr sz="1220" b="1">
                <a:solidFill>
                  <a:srgbClr val="114068"/>
                </a:solidFill>
                <a:latin typeface="Aptos"/>
              </a:rPr>
              <a:t>Arjun Anish</a:t>
            </a:r>
            <a:r>
              <a:rPr sz="1120" b="1">
                <a:solidFill>
                  <a:srgbClr val="263242"/>
                </a:solidFill>
                <a:latin typeface="Aptos"/>
              </a:rPr>
              <a:t> | Principal</a:t>
            </a:r>
          </a:p>
        </p:txBody>
      </p:sp>
      <p:sp>
        <p:nvSpPr>
          <p:cNvPr id="18" name="TextBox 17"/>
          <p:cNvSpPr txBox="1"/>
          <p:nvPr>
            <p:custDataLst>
              <p:tags r:id="rId8"/>
            </p:custDataLst>
          </p:nvPr>
        </p:nvSpPr>
        <p:spPr>
          <a:xfrm>
            <a:off x="1700784" y="4087368"/>
            <a:ext cx="4023360" cy="653415"/>
          </a:xfrm>
          <a:prstGeom prst="rect">
            <a:avLst/>
          </a:prstGeom>
          <a:noFill/>
        </p:spPr>
        <p:txBody>
          <a:bodyPr wrap="square" lIns="27432" tIns="0" rIns="18288" bIns="0">
            <a:spAutoFit/>
          </a:bodyPr>
          <a:lstStyle/>
          <a:p>
            <a:pPr>
              <a:defRPr sz="940" i="1">
                <a:solidFill>
                  <a:srgbClr val="64707E"/>
                </a:solidFill>
                <a:latin typeface="Aptos"/>
              </a:defRPr>
            </a:pPr>
            <a:r>
              <a:rPr sz="850" i="0">
                <a:solidFill>
                  <a:srgbClr val="263242"/>
                </a:solidFill>
              </a:rPr>
              <a:t>• B.Tech., Mechanical Engineering, Vellore Institute of Technology, India</a:t>
            </a:r>
          </a:p>
          <a:p>
            <a:pPr>
              <a:defRPr sz="940" i="1">
                <a:solidFill>
                  <a:srgbClr val="64707E"/>
                </a:solidFill>
                <a:latin typeface="Aptos"/>
              </a:defRPr>
            </a:pPr>
            <a:r>
              <a:rPr sz="850" i="0">
                <a:solidFill>
                  <a:srgbClr val="263242"/>
                </a:solidFill>
              </a:rPr>
              <a:t>• 5+ years of experience in SaaS sales, business development, and </a:t>
            </a:r>
            <a:r>
              <a:rPr lang="en-US" sz="850" i="0">
                <a:solidFill>
                  <a:srgbClr val="263242"/>
                </a:solidFill>
              </a:rPr>
              <a:t>Key A</a:t>
            </a:r>
            <a:r>
              <a:rPr sz="850" i="0">
                <a:solidFill>
                  <a:srgbClr val="263242"/>
                </a:solidFill>
              </a:rPr>
              <a:t>ccount </a:t>
            </a:r>
            <a:r>
              <a:rPr lang="en-US" sz="850" i="0">
                <a:solidFill>
                  <a:srgbClr val="263242"/>
                </a:solidFill>
              </a:rPr>
              <a:t>M</a:t>
            </a:r>
            <a:r>
              <a:rPr sz="850" i="0">
                <a:solidFill>
                  <a:srgbClr val="263242"/>
                </a:solidFill>
              </a:rPr>
              <a:t>anagement</a:t>
            </a:r>
          </a:p>
          <a:p>
            <a:pPr>
              <a:defRPr sz="940" i="1">
                <a:solidFill>
                  <a:srgbClr val="64707E"/>
                </a:solidFill>
                <a:latin typeface="Aptos"/>
              </a:defRPr>
            </a:pPr>
            <a:r>
              <a:rPr sz="850" i="0">
                <a:solidFill>
                  <a:srgbClr val="263242"/>
                </a:solidFill>
              </a:rPr>
              <a:t>• Expertise in B2B sales, client relationship management, territory planning, and growth strategy</a:t>
            </a:r>
          </a:p>
        </p:txBody>
      </p:sp>
      <p:sp>
        <p:nvSpPr>
          <p:cNvPr id="19" name="Rounded Rectangle 18"/>
          <p:cNvSpPr/>
          <p:nvPr>
            <p:custDataLst>
              <p:tags r:id="rId9"/>
            </p:custDataLst>
          </p:nvPr>
        </p:nvSpPr>
        <p:spPr>
          <a:xfrm>
            <a:off x="640080" y="4956048"/>
            <a:ext cx="5257800" cy="1097280"/>
          </a:xfrm>
          <a:prstGeom prst="roundRect">
            <a:avLst>
              <a:gd name="adj" fmla="val 8000"/>
            </a:avLst>
          </a:prstGeom>
          <a:solidFill>
            <a:srgbClr val="FFFFFF"/>
          </a:solidFill>
          <a:ln w="10160">
            <a:solidFill>
              <a:srgbClr val="CF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Mengyi_Liu.png"/>
          <p:cNvPicPr>
            <a:picLocks noChangeAspect="1"/>
          </p:cNvPicPr>
          <p:nvPr>
            <p:custDataLst>
              <p:tags r:id="rId10"/>
            </p:custDataLst>
          </p:nvPr>
        </p:nvPicPr>
        <p:blipFill>
          <a:blip r:embed="rId31"/>
          <a:stretch>
            <a:fillRect/>
          </a:stretch>
        </p:blipFill>
        <p:spPr>
          <a:xfrm>
            <a:off x="777240" y="5093208"/>
            <a:ext cx="804672" cy="804672"/>
          </a:xfrm>
          <a:prstGeom prst="rect">
            <a:avLst/>
          </a:prstGeom>
        </p:spPr>
      </p:pic>
      <p:sp>
        <p:nvSpPr>
          <p:cNvPr id="23" name="TextBox 22"/>
          <p:cNvSpPr txBox="1"/>
          <p:nvPr>
            <p:custDataLst>
              <p:tags r:id="rId11"/>
            </p:custDataLst>
          </p:nvPr>
        </p:nvSpPr>
        <p:spPr>
          <a:xfrm>
            <a:off x="1901952" y="5084064"/>
            <a:ext cx="3840480" cy="201168"/>
          </a:xfrm>
          <a:prstGeom prst="rect">
            <a:avLst/>
          </a:prstGeom>
          <a:noFill/>
        </p:spPr>
        <p:txBody>
          <a:bodyPr wrap="none" lIns="0" tIns="0" rIns="0" bIns="0">
            <a:spAutoFit/>
          </a:bodyPr>
          <a:lstStyle/>
          <a:p>
            <a:r>
              <a:rPr sz="1220" b="1">
                <a:solidFill>
                  <a:srgbClr val="114068"/>
                </a:solidFill>
                <a:latin typeface="Aptos"/>
              </a:rPr>
              <a:t>Mengyi Liu</a:t>
            </a:r>
            <a:r>
              <a:rPr sz="1120" b="1">
                <a:solidFill>
                  <a:srgbClr val="263242"/>
                </a:solidFill>
                <a:latin typeface="Aptos"/>
              </a:rPr>
              <a:t> | Principal</a:t>
            </a:r>
          </a:p>
        </p:txBody>
      </p:sp>
      <p:sp>
        <p:nvSpPr>
          <p:cNvPr id="24" name="TextBox 23"/>
          <p:cNvSpPr txBox="1"/>
          <p:nvPr>
            <p:custDataLst>
              <p:tags r:id="rId12"/>
            </p:custDataLst>
          </p:nvPr>
        </p:nvSpPr>
        <p:spPr>
          <a:xfrm>
            <a:off x="1700784" y="5367528"/>
            <a:ext cx="4023360" cy="657225"/>
          </a:xfrm>
          <a:prstGeom prst="rect">
            <a:avLst/>
          </a:prstGeom>
          <a:noFill/>
        </p:spPr>
        <p:txBody>
          <a:bodyPr wrap="square" lIns="27432" tIns="0" rIns="18288" bIns="0">
            <a:spAutoFit/>
          </a:bodyPr>
          <a:lstStyle/>
          <a:p>
            <a:pPr>
              <a:lnSpc>
                <a:spcPct val="95000"/>
              </a:lnSpc>
              <a:spcAft>
                <a:spcPts val="150"/>
              </a:spcAft>
              <a:defRPr sz="775">
                <a:solidFill>
                  <a:srgbClr val="263242"/>
                </a:solidFill>
                <a:latin typeface="Aptos"/>
              </a:defRPr>
            </a:pPr>
            <a:r>
              <a:rPr sz="850"/>
              <a:t>• B.Eng., Southeast University, China</a:t>
            </a:r>
          </a:p>
          <a:p>
            <a:pPr>
              <a:lnSpc>
                <a:spcPct val="95000"/>
              </a:lnSpc>
              <a:spcAft>
                <a:spcPts val="150"/>
              </a:spcAft>
              <a:defRPr sz="775">
                <a:solidFill>
                  <a:srgbClr val="263242"/>
                </a:solidFill>
                <a:latin typeface="Aptos"/>
              </a:defRPr>
            </a:pPr>
            <a:r>
              <a:rPr sz="850"/>
              <a:t>• 8+ years of experience in cross-border trade, capital markets, and client relationship management</a:t>
            </a:r>
          </a:p>
          <a:p>
            <a:pPr>
              <a:lnSpc>
                <a:spcPct val="95000"/>
              </a:lnSpc>
              <a:spcAft>
                <a:spcPts val="150"/>
              </a:spcAft>
              <a:defRPr sz="775">
                <a:solidFill>
                  <a:srgbClr val="263242"/>
                </a:solidFill>
                <a:latin typeface="Aptos"/>
              </a:defRPr>
            </a:pPr>
            <a:r>
              <a:rPr sz="850"/>
              <a:t>• Expertise in market research, stakeholder communication, and cross-border market analysis</a:t>
            </a:r>
          </a:p>
        </p:txBody>
      </p:sp>
      <p:sp>
        <p:nvSpPr>
          <p:cNvPr id="25" name="Rounded Rectangle 24"/>
          <p:cNvSpPr/>
          <p:nvPr>
            <p:custDataLst>
              <p:tags r:id="rId13"/>
            </p:custDataLst>
          </p:nvPr>
        </p:nvSpPr>
        <p:spPr>
          <a:xfrm>
            <a:off x="6217920" y="2670048"/>
            <a:ext cx="5257800" cy="1097280"/>
          </a:xfrm>
          <a:prstGeom prst="roundRect">
            <a:avLst>
              <a:gd name="adj" fmla="val 8000"/>
            </a:avLst>
          </a:prstGeom>
          <a:solidFill>
            <a:srgbClr val="FFFFFF"/>
          </a:solidFill>
          <a:ln w="10160">
            <a:solidFill>
              <a:srgbClr val="CF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Rahul_Raj.png"/>
          <p:cNvPicPr>
            <a:picLocks noChangeAspect="1"/>
          </p:cNvPicPr>
          <p:nvPr>
            <p:custDataLst>
              <p:tags r:id="rId14"/>
            </p:custDataLst>
          </p:nvPr>
        </p:nvPicPr>
        <p:blipFill>
          <a:blip r:embed="rId32"/>
          <a:stretch>
            <a:fillRect/>
          </a:stretch>
        </p:blipFill>
        <p:spPr>
          <a:xfrm>
            <a:off x="6355080" y="2807208"/>
            <a:ext cx="804672" cy="804672"/>
          </a:xfrm>
          <a:prstGeom prst="rect">
            <a:avLst/>
          </a:prstGeom>
        </p:spPr>
      </p:pic>
      <p:sp>
        <p:nvSpPr>
          <p:cNvPr id="29" name="TextBox 28"/>
          <p:cNvSpPr txBox="1"/>
          <p:nvPr>
            <p:custDataLst>
              <p:tags r:id="rId15"/>
            </p:custDataLst>
          </p:nvPr>
        </p:nvSpPr>
        <p:spPr>
          <a:xfrm>
            <a:off x="7479792" y="2798064"/>
            <a:ext cx="3840480" cy="201168"/>
          </a:xfrm>
          <a:prstGeom prst="rect">
            <a:avLst/>
          </a:prstGeom>
          <a:noFill/>
        </p:spPr>
        <p:txBody>
          <a:bodyPr wrap="none" lIns="0" tIns="0" rIns="0" bIns="0">
            <a:spAutoFit/>
          </a:bodyPr>
          <a:lstStyle/>
          <a:p>
            <a:r>
              <a:rPr sz="1220" b="1">
                <a:solidFill>
                  <a:srgbClr val="114068"/>
                </a:solidFill>
                <a:latin typeface="Aptos"/>
              </a:rPr>
              <a:t>Rahul Raj</a:t>
            </a:r>
            <a:r>
              <a:rPr sz="1120" b="1">
                <a:solidFill>
                  <a:srgbClr val="263242"/>
                </a:solidFill>
                <a:latin typeface="Aptos"/>
              </a:rPr>
              <a:t> | Principal</a:t>
            </a:r>
          </a:p>
        </p:txBody>
      </p:sp>
      <p:sp>
        <p:nvSpPr>
          <p:cNvPr id="30" name="TextBox 29"/>
          <p:cNvSpPr txBox="1"/>
          <p:nvPr>
            <p:custDataLst>
              <p:tags r:id="rId16"/>
            </p:custDataLst>
          </p:nvPr>
        </p:nvSpPr>
        <p:spPr>
          <a:xfrm>
            <a:off x="7278624" y="3081528"/>
            <a:ext cx="4023360" cy="800100"/>
          </a:xfrm>
          <a:prstGeom prst="rect">
            <a:avLst/>
          </a:prstGeom>
          <a:noFill/>
        </p:spPr>
        <p:txBody>
          <a:bodyPr wrap="square" lIns="27432" tIns="0" rIns="18288" bIns="0">
            <a:spAutoFit/>
          </a:bodyPr>
          <a:lstStyle/>
          <a:p>
            <a:pPr algn="l">
              <a:lnSpc>
                <a:spcPct val="95000"/>
              </a:lnSpc>
              <a:spcAft>
                <a:spcPts val="150"/>
              </a:spcAft>
              <a:buClrTx/>
              <a:buSzTx/>
              <a:buFontTx/>
              <a:defRPr sz="775">
                <a:solidFill>
                  <a:srgbClr val="263242"/>
                </a:solidFill>
                <a:latin typeface="Aptos"/>
              </a:defRPr>
            </a:pPr>
            <a:r>
              <a:rPr sz="850" i="0">
                <a:solidFill>
                  <a:srgbClr val="263242"/>
                </a:solidFill>
                <a:sym typeface="+mn-ea"/>
              </a:rPr>
              <a:t>• B.Com. (H), NMIMS University, India​</a:t>
            </a:r>
            <a:endParaRPr sz="850" i="0">
              <a:solidFill>
                <a:srgbClr val="263242"/>
              </a:solidFill>
            </a:endParaRPr>
          </a:p>
          <a:p>
            <a:pPr algn="l">
              <a:lnSpc>
                <a:spcPct val="95000"/>
              </a:lnSpc>
              <a:spcAft>
                <a:spcPts val="150"/>
              </a:spcAft>
              <a:buClrTx/>
              <a:buSzTx/>
              <a:buFontTx/>
              <a:defRPr sz="775">
                <a:solidFill>
                  <a:srgbClr val="263242"/>
                </a:solidFill>
                <a:latin typeface="Aptos"/>
              </a:defRPr>
            </a:pPr>
            <a:r>
              <a:rPr sz="850" i="0">
                <a:solidFill>
                  <a:srgbClr val="263242"/>
                </a:solidFill>
                <a:sym typeface="+mn-ea"/>
              </a:rPr>
              <a:t>• 7+ years of consulting experience with Fortune 500 clients, governments, development organizations, and nonprofits​</a:t>
            </a:r>
            <a:endParaRPr sz="850" i="0">
              <a:solidFill>
                <a:srgbClr val="263242"/>
              </a:solidFill>
            </a:endParaRPr>
          </a:p>
          <a:p>
            <a:pPr algn="l">
              <a:lnSpc>
                <a:spcPct val="95000"/>
              </a:lnSpc>
              <a:spcAft>
                <a:spcPts val="150"/>
              </a:spcAft>
              <a:buClrTx/>
              <a:buSzTx/>
              <a:buFontTx/>
              <a:defRPr sz="775">
                <a:solidFill>
                  <a:srgbClr val="263242"/>
                </a:solidFill>
                <a:latin typeface="Aptos"/>
              </a:defRPr>
            </a:pPr>
            <a:r>
              <a:rPr sz="850" i="0">
                <a:solidFill>
                  <a:srgbClr val="263242"/>
                </a:solidFill>
                <a:sym typeface="+mn-ea"/>
              </a:rPr>
              <a:t>• Expertise in strategy execution, sustainability advisory, stakeholder management, and impact-driven growth initiatives</a:t>
            </a:r>
            <a:endParaRPr sz="850" i="0">
              <a:solidFill>
                <a:srgbClr val="263242"/>
              </a:solidFill>
            </a:endParaRPr>
          </a:p>
          <a:p>
            <a:pPr algn="l">
              <a:lnSpc>
                <a:spcPct val="95000"/>
              </a:lnSpc>
              <a:spcAft>
                <a:spcPts val="150"/>
              </a:spcAft>
              <a:buClrTx/>
              <a:buSzTx/>
              <a:buFontTx/>
              <a:defRPr sz="775">
                <a:solidFill>
                  <a:srgbClr val="263242"/>
                </a:solidFill>
                <a:latin typeface="Aptos"/>
              </a:defRPr>
            </a:pPr>
            <a:endParaRPr sz="850" i="0"/>
          </a:p>
        </p:txBody>
      </p:sp>
      <p:sp>
        <p:nvSpPr>
          <p:cNvPr id="31" name="Rounded Rectangle 30"/>
          <p:cNvSpPr/>
          <p:nvPr>
            <p:custDataLst>
              <p:tags r:id="rId17"/>
            </p:custDataLst>
          </p:nvPr>
        </p:nvSpPr>
        <p:spPr>
          <a:xfrm>
            <a:off x="6217920" y="4297680"/>
            <a:ext cx="5257800" cy="1097280"/>
          </a:xfrm>
          <a:prstGeom prst="roundRect">
            <a:avLst>
              <a:gd name="adj" fmla="val 8000"/>
            </a:avLst>
          </a:prstGeom>
          <a:solidFill>
            <a:srgbClr val="FFFFFF"/>
          </a:solidFill>
          <a:ln w="10160">
            <a:solidFill>
              <a:srgbClr val="CF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Shiron_Lee.png"/>
          <p:cNvPicPr>
            <a:picLocks noChangeAspect="1"/>
          </p:cNvPicPr>
          <p:nvPr>
            <p:custDataLst>
              <p:tags r:id="rId18"/>
            </p:custDataLst>
          </p:nvPr>
        </p:nvPicPr>
        <p:blipFill>
          <a:blip r:embed="rId33"/>
          <a:stretch>
            <a:fillRect/>
          </a:stretch>
        </p:blipFill>
        <p:spPr>
          <a:xfrm>
            <a:off x="6355080" y="4434840"/>
            <a:ext cx="804672" cy="804672"/>
          </a:xfrm>
          <a:prstGeom prst="rect">
            <a:avLst/>
          </a:prstGeom>
        </p:spPr>
      </p:pic>
      <p:sp>
        <p:nvSpPr>
          <p:cNvPr id="35" name="TextBox 34"/>
          <p:cNvSpPr txBox="1"/>
          <p:nvPr>
            <p:custDataLst>
              <p:tags r:id="rId19"/>
            </p:custDataLst>
          </p:nvPr>
        </p:nvSpPr>
        <p:spPr>
          <a:xfrm>
            <a:off x="7479792" y="4425696"/>
            <a:ext cx="3840480" cy="201168"/>
          </a:xfrm>
          <a:prstGeom prst="rect">
            <a:avLst/>
          </a:prstGeom>
          <a:noFill/>
        </p:spPr>
        <p:txBody>
          <a:bodyPr wrap="none" lIns="0" tIns="0" rIns="0" bIns="0">
            <a:spAutoFit/>
          </a:bodyPr>
          <a:lstStyle/>
          <a:p>
            <a:r>
              <a:rPr sz="1220" b="1">
                <a:solidFill>
                  <a:srgbClr val="114068"/>
                </a:solidFill>
                <a:latin typeface="Aptos"/>
              </a:rPr>
              <a:t>Shiron Lee</a:t>
            </a:r>
            <a:r>
              <a:rPr sz="1120" b="1">
                <a:solidFill>
                  <a:srgbClr val="263242"/>
                </a:solidFill>
                <a:latin typeface="Aptos"/>
              </a:rPr>
              <a:t> | Principal</a:t>
            </a:r>
          </a:p>
        </p:txBody>
      </p:sp>
      <p:sp>
        <p:nvSpPr>
          <p:cNvPr id="36" name="TextBox 35"/>
          <p:cNvSpPr txBox="1"/>
          <p:nvPr>
            <p:custDataLst>
              <p:tags r:id="rId20"/>
            </p:custDataLst>
          </p:nvPr>
        </p:nvSpPr>
        <p:spPr>
          <a:xfrm>
            <a:off x="7278624" y="4709160"/>
            <a:ext cx="4023360" cy="533400"/>
          </a:xfrm>
          <a:prstGeom prst="rect">
            <a:avLst/>
          </a:prstGeom>
          <a:noFill/>
        </p:spPr>
        <p:txBody>
          <a:bodyPr wrap="square" lIns="27432" tIns="0" rIns="18288" bIns="0">
            <a:spAutoFit/>
          </a:bodyPr>
          <a:lstStyle/>
          <a:p>
            <a:pPr>
              <a:lnSpc>
                <a:spcPct val="95000"/>
              </a:lnSpc>
              <a:spcAft>
                <a:spcPts val="150"/>
              </a:spcAft>
              <a:defRPr sz="775">
                <a:solidFill>
                  <a:srgbClr val="263242"/>
                </a:solidFill>
                <a:latin typeface="Aptos"/>
              </a:defRPr>
            </a:pPr>
            <a:r>
              <a:rPr sz="850"/>
              <a:t>• M.Sc., Pharmaceutical Sciences, University of Toronto; B.Sc., Chemistry, University of Calgary</a:t>
            </a:r>
          </a:p>
          <a:p>
            <a:pPr>
              <a:lnSpc>
                <a:spcPct val="95000"/>
              </a:lnSpc>
              <a:spcAft>
                <a:spcPts val="150"/>
              </a:spcAft>
              <a:defRPr sz="775">
                <a:solidFill>
                  <a:srgbClr val="263242"/>
                </a:solidFill>
                <a:latin typeface="Aptos"/>
              </a:defRPr>
            </a:pPr>
            <a:r>
              <a:rPr sz="850"/>
              <a:t>• 6+ years of experience in biotech and healthcare</a:t>
            </a:r>
          </a:p>
          <a:p>
            <a:pPr>
              <a:lnSpc>
                <a:spcPct val="95000"/>
              </a:lnSpc>
              <a:spcAft>
                <a:spcPts val="150"/>
              </a:spcAft>
              <a:defRPr sz="775">
                <a:solidFill>
                  <a:srgbClr val="263242"/>
                </a:solidFill>
                <a:latin typeface="Aptos"/>
              </a:defRPr>
            </a:pPr>
            <a:r>
              <a:rPr sz="850"/>
              <a:t>• Expertise in business development, equity analysis, and biotech entrepreneurship</a:t>
            </a:r>
          </a:p>
        </p:txBody>
      </p:sp>
      <p:sp>
        <p:nvSpPr>
          <p:cNvPr id="37" name="Rectangle 36"/>
          <p:cNvSpPr/>
          <p:nvPr/>
        </p:nvSpPr>
        <p:spPr>
          <a:xfrm>
            <a:off x="438912" y="6345936"/>
            <a:ext cx="11292840" cy="5486"/>
          </a:xfrm>
          <a:prstGeom prst="rect">
            <a:avLst/>
          </a:prstGeom>
          <a:solidFill>
            <a:srgbClr val="CF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6428232"/>
            <a:ext cx="4389120" cy="164592"/>
          </a:xfrm>
          <a:prstGeom prst="rect">
            <a:avLst/>
          </a:prstGeom>
          <a:noFill/>
        </p:spPr>
        <p:txBody>
          <a:bodyPr wrap="none" lIns="0" tIns="0" rIns="0" bIns="0" anchor="t">
            <a:spAutoFit/>
          </a:bodyPr>
          <a:lstStyle/>
          <a:p>
            <a:pPr algn="l"/>
            <a:r>
              <a:rPr sz="700" b="0" i="0">
                <a:solidFill>
                  <a:srgbClr val="53728E"/>
                </a:solidFill>
                <a:latin typeface="Aptos"/>
              </a:rPr>
              <a:t>Impact Consulting Group | Rotman School of Management</a:t>
            </a:r>
          </a:p>
        </p:txBody>
      </p:sp>
      <p:pic>
        <p:nvPicPr>
          <p:cNvPr id="40" name="图片 39"/>
          <p:cNvPicPr>
            <a:picLocks noChangeAspect="1"/>
          </p:cNvPicPr>
          <p:nvPr>
            <p:custDataLst>
              <p:tags r:id="rId21"/>
            </p:custDataLst>
          </p:nvPr>
        </p:nvPicPr>
        <p:blipFill>
          <a:blip r:embed="rId34"/>
          <a:stretch>
            <a:fillRect/>
          </a:stretch>
        </p:blipFill>
        <p:spPr>
          <a:xfrm>
            <a:off x="1661160" y="2522220"/>
            <a:ext cx="229235" cy="210820"/>
          </a:xfrm>
          <a:prstGeom prst="rect">
            <a:avLst/>
          </a:prstGeom>
        </p:spPr>
      </p:pic>
      <p:pic>
        <p:nvPicPr>
          <p:cNvPr id="41" name="图片 40"/>
          <p:cNvPicPr>
            <a:picLocks noChangeAspect="1"/>
          </p:cNvPicPr>
          <p:nvPr>
            <p:custDataLst>
              <p:tags r:id="rId22"/>
            </p:custDataLst>
          </p:nvPr>
        </p:nvPicPr>
        <p:blipFill>
          <a:blip r:embed="rId34"/>
          <a:stretch>
            <a:fillRect/>
          </a:stretch>
        </p:blipFill>
        <p:spPr>
          <a:xfrm>
            <a:off x="1661160" y="3797300"/>
            <a:ext cx="229235" cy="210820"/>
          </a:xfrm>
          <a:prstGeom prst="rect">
            <a:avLst/>
          </a:prstGeom>
        </p:spPr>
      </p:pic>
      <p:pic>
        <p:nvPicPr>
          <p:cNvPr id="42" name="图片 41"/>
          <p:cNvPicPr>
            <a:picLocks noChangeAspect="1"/>
          </p:cNvPicPr>
          <p:nvPr>
            <p:custDataLst>
              <p:tags r:id="rId23"/>
            </p:custDataLst>
          </p:nvPr>
        </p:nvPicPr>
        <p:blipFill>
          <a:blip r:embed="rId34"/>
          <a:stretch>
            <a:fillRect/>
          </a:stretch>
        </p:blipFill>
        <p:spPr>
          <a:xfrm>
            <a:off x="1661160" y="5072380"/>
            <a:ext cx="229235" cy="210820"/>
          </a:xfrm>
          <a:prstGeom prst="rect">
            <a:avLst/>
          </a:prstGeom>
        </p:spPr>
      </p:pic>
      <p:pic>
        <p:nvPicPr>
          <p:cNvPr id="43" name="图片 42"/>
          <p:cNvPicPr>
            <a:picLocks noChangeAspect="1"/>
          </p:cNvPicPr>
          <p:nvPr>
            <p:custDataLst>
              <p:tags r:id="rId24"/>
            </p:custDataLst>
          </p:nvPr>
        </p:nvPicPr>
        <p:blipFill>
          <a:blip r:embed="rId34"/>
          <a:stretch>
            <a:fillRect/>
          </a:stretch>
        </p:blipFill>
        <p:spPr>
          <a:xfrm>
            <a:off x="7250430" y="2781300"/>
            <a:ext cx="229235" cy="210820"/>
          </a:xfrm>
          <a:prstGeom prst="rect">
            <a:avLst/>
          </a:prstGeom>
        </p:spPr>
      </p:pic>
      <p:pic>
        <p:nvPicPr>
          <p:cNvPr id="44" name="图片 43"/>
          <p:cNvPicPr>
            <a:picLocks noChangeAspect="1"/>
          </p:cNvPicPr>
          <p:nvPr>
            <p:custDataLst>
              <p:tags r:id="rId25"/>
            </p:custDataLst>
          </p:nvPr>
        </p:nvPicPr>
        <p:blipFill>
          <a:blip r:embed="rId34"/>
          <a:stretch>
            <a:fillRect/>
          </a:stretch>
        </p:blipFill>
        <p:spPr>
          <a:xfrm>
            <a:off x="7250430" y="4420870"/>
            <a:ext cx="229235" cy="2108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27"/>
          <a:stretch>
            <a:fillRect/>
          </a:stretch>
        </p:blipFill>
        <p:spPr>
          <a:xfrm>
            <a:off x="502920" y="292608"/>
            <a:ext cx="1417320" cy="519684"/>
          </a:xfrm>
          <a:prstGeom prst="rect">
            <a:avLst/>
          </a:prstGeom>
        </p:spPr>
      </p:pic>
      <p:sp>
        <p:nvSpPr>
          <p:cNvPr id="3" name="Text 0"/>
          <p:cNvSpPr/>
          <p:nvPr/>
        </p:nvSpPr>
        <p:spPr>
          <a:xfrm>
            <a:off x="658368" y="868680"/>
            <a:ext cx="3291840" cy="201168"/>
          </a:xfrm>
          <a:prstGeom prst="rect">
            <a:avLst/>
          </a:prstGeom>
          <a:noFill/>
        </p:spPr>
        <p:txBody>
          <a:bodyPr wrap="square" lIns="0" tIns="0" rIns="0" bIns="0" rtlCol="0" anchor="ctr"/>
          <a:lstStyle/>
          <a:p>
            <a:pPr marL="0" indent="0">
              <a:buNone/>
            </a:pPr>
            <a:r>
              <a:rPr lang="en-US" sz="750" b="1">
                <a:solidFill>
                  <a:srgbClr val="5B7892"/>
                </a:solidFill>
              </a:rPr>
              <a:t>ENGAGEMENT PROCESS</a:t>
            </a:r>
          </a:p>
        </p:txBody>
      </p:sp>
      <p:sp>
        <p:nvSpPr>
          <p:cNvPr id="4" name="Text 1"/>
          <p:cNvSpPr/>
          <p:nvPr/>
        </p:nvSpPr>
        <p:spPr>
          <a:xfrm>
            <a:off x="640080" y="1097280"/>
            <a:ext cx="8778240" cy="438912"/>
          </a:xfrm>
          <a:prstGeom prst="rect">
            <a:avLst/>
          </a:prstGeom>
          <a:noFill/>
        </p:spPr>
        <p:txBody>
          <a:bodyPr wrap="square" lIns="0" tIns="0" rIns="0" bIns="0" rtlCol="0" anchor="ctr"/>
          <a:lstStyle/>
          <a:p>
            <a:pPr marL="0" indent="0">
              <a:buNone/>
            </a:pPr>
            <a:r>
              <a:rPr lang="en-US" sz="2300" b="1">
                <a:solidFill>
                  <a:srgbClr val="123B5D"/>
                </a:solidFill>
                <a:latin typeface="Aptos Display" pitchFamily="34" charset="0"/>
                <a:ea typeface="Aptos Display" pitchFamily="34" charset="-122"/>
                <a:cs typeface="Aptos Display" pitchFamily="34" charset="-120"/>
              </a:rPr>
              <a:t>How We Work</a:t>
            </a:r>
            <a:endParaRPr lang="en-US" sz="2300"/>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en-US"/>
          </a:p>
        </p:txBody>
      </p:sp>
      <p:sp>
        <p:nvSpPr>
          <p:cNvPr id="6" name="Shape 3"/>
          <p:cNvSpPr/>
          <p:nvPr/>
        </p:nvSpPr>
        <p:spPr>
          <a:xfrm>
            <a:off x="502920" y="6428232"/>
            <a:ext cx="11201400" cy="0"/>
          </a:xfrm>
          <a:prstGeom prst="line">
            <a:avLst/>
          </a:prstGeom>
          <a:noFill/>
          <a:ln w="8890">
            <a:solidFill>
              <a:srgbClr val="D9E2EC"/>
            </a:solidFill>
            <a:prstDash val="solid"/>
          </a:ln>
        </p:spPr>
        <p:txBody>
          <a:bodyPr/>
          <a:lstStyle/>
          <a:p>
            <a:endParaRPr 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9" name="Text 6"/>
          <p:cNvSpPr/>
          <p:nvPr/>
        </p:nvSpPr>
        <p:spPr>
          <a:xfrm>
            <a:off x="640080" y="1874520"/>
            <a:ext cx="7863840" cy="256032"/>
          </a:xfrm>
          <a:prstGeom prst="rect">
            <a:avLst/>
          </a:prstGeom>
          <a:noFill/>
        </p:spPr>
        <p:txBody>
          <a:bodyPr wrap="square" lIns="0" tIns="0" rIns="0" bIns="0" rtlCol="0" anchor="ctr"/>
          <a:lstStyle/>
          <a:p>
            <a:pPr marL="0" indent="0">
              <a:buNone/>
            </a:pPr>
            <a:r>
              <a:rPr lang="en-US" sz="1500" b="1">
                <a:solidFill>
                  <a:srgbClr val="111827"/>
                </a:solidFill>
              </a:rPr>
              <a:t>Our process is designed to keep engagements focused, collaborative, and practical.</a:t>
            </a:r>
            <a:endParaRPr lang="en-US" sz="1500"/>
          </a:p>
        </p:txBody>
      </p:sp>
      <p:sp>
        <p:nvSpPr>
          <p:cNvPr id="10" name="Shape 7"/>
          <p:cNvSpPr/>
          <p:nvPr>
            <p:custDataLst>
              <p:tags r:id="rId1"/>
            </p:custDataLst>
          </p:nvPr>
        </p:nvSpPr>
        <p:spPr>
          <a:xfrm>
            <a:off x="1175385" y="2743200"/>
            <a:ext cx="566928" cy="566928"/>
          </a:xfrm>
          <a:prstGeom prst="ellipse">
            <a:avLst/>
          </a:prstGeom>
          <a:solidFill>
            <a:srgbClr val="5B7892"/>
          </a:solidFill>
          <a:ln w="12700">
            <a:solidFill>
              <a:srgbClr val="5B7892"/>
            </a:solidFill>
            <a:prstDash val="solid"/>
          </a:ln>
        </p:spPr>
        <p:txBody>
          <a:bodyPr/>
          <a:lstStyle/>
          <a:p>
            <a:endParaRPr lang="en-US"/>
          </a:p>
        </p:txBody>
      </p:sp>
      <p:sp>
        <p:nvSpPr>
          <p:cNvPr id="11" name="Text 8"/>
          <p:cNvSpPr/>
          <p:nvPr>
            <p:custDataLst>
              <p:tags r:id="rId2"/>
            </p:custDataLst>
          </p:nvPr>
        </p:nvSpPr>
        <p:spPr>
          <a:xfrm>
            <a:off x="1175385" y="2880360"/>
            <a:ext cx="566928" cy="164592"/>
          </a:xfrm>
          <a:prstGeom prst="rect">
            <a:avLst/>
          </a:prstGeom>
          <a:noFill/>
        </p:spPr>
        <p:txBody>
          <a:bodyPr wrap="square" lIns="0" tIns="0" rIns="0" bIns="0" rtlCol="0" anchor="ctr"/>
          <a:lstStyle/>
          <a:p>
            <a:pPr marL="0" indent="0" algn="ctr">
              <a:buNone/>
            </a:pPr>
            <a:r>
              <a:rPr lang="en-US" sz="1300" b="1">
                <a:solidFill>
                  <a:srgbClr val="FFFFFF"/>
                </a:solidFill>
              </a:rPr>
              <a:t>1</a:t>
            </a:r>
            <a:endParaRPr lang="en-US" sz="1300"/>
          </a:p>
        </p:txBody>
      </p:sp>
      <p:sp>
        <p:nvSpPr>
          <p:cNvPr id="12" name="Shape 9"/>
          <p:cNvSpPr/>
          <p:nvPr>
            <p:custDataLst>
              <p:tags r:id="rId3"/>
            </p:custDataLst>
          </p:nvPr>
        </p:nvSpPr>
        <p:spPr>
          <a:xfrm>
            <a:off x="1797177" y="3026664"/>
            <a:ext cx="1463040" cy="0"/>
          </a:xfrm>
          <a:prstGeom prst="line">
            <a:avLst/>
          </a:prstGeom>
          <a:noFill/>
          <a:ln w="25400">
            <a:solidFill>
              <a:srgbClr val="D9E2EC"/>
            </a:solidFill>
            <a:prstDash val="solid"/>
            <a:headEnd type="none"/>
            <a:tailEnd type="triangle"/>
          </a:ln>
        </p:spPr>
        <p:txBody>
          <a:bodyPr/>
          <a:lstStyle/>
          <a:p>
            <a:endParaRPr lang="en-US"/>
          </a:p>
        </p:txBody>
      </p:sp>
      <p:sp>
        <p:nvSpPr>
          <p:cNvPr id="13" name="Text 10"/>
          <p:cNvSpPr/>
          <p:nvPr>
            <p:custDataLst>
              <p:tags r:id="rId4"/>
            </p:custDataLst>
          </p:nvPr>
        </p:nvSpPr>
        <p:spPr>
          <a:xfrm>
            <a:off x="594360" y="3566160"/>
            <a:ext cx="1737360" cy="237744"/>
          </a:xfrm>
          <a:prstGeom prst="rect">
            <a:avLst/>
          </a:prstGeom>
          <a:noFill/>
        </p:spPr>
        <p:txBody>
          <a:bodyPr wrap="square" lIns="0" tIns="0" rIns="0" bIns="0" rtlCol="0" anchor="ctr">
            <a:normAutofit/>
          </a:bodyPr>
          <a:lstStyle/>
          <a:p>
            <a:pPr marL="0" indent="0" algn="ctr">
              <a:buNone/>
            </a:pPr>
            <a:r>
              <a:rPr lang="en-US" sz="1400" b="1">
                <a:solidFill>
                  <a:srgbClr val="123B5D"/>
                </a:solidFill>
              </a:rPr>
              <a:t>Discovery</a:t>
            </a:r>
          </a:p>
        </p:txBody>
      </p:sp>
      <p:sp>
        <p:nvSpPr>
          <p:cNvPr id="14" name="Text 11"/>
          <p:cNvSpPr/>
          <p:nvPr>
            <p:custDataLst>
              <p:tags r:id="rId5"/>
            </p:custDataLst>
          </p:nvPr>
        </p:nvSpPr>
        <p:spPr>
          <a:xfrm>
            <a:off x="457200" y="3977640"/>
            <a:ext cx="2011680" cy="685800"/>
          </a:xfrm>
          <a:prstGeom prst="rect">
            <a:avLst/>
          </a:prstGeom>
          <a:noFill/>
        </p:spPr>
        <p:txBody>
          <a:bodyPr wrap="square" lIns="0" tIns="0" rIns="0" bIns="0" rtlCol="0" anchor="ctr">
            <a:normAutofit/>
          </a:bodyPr>
          <a:lstStyle/>
          <a:p>
            <a:pPr marL="0" indent="0" algn="ctr">
              <a:buNone/>
            </a:pPr>
            <a:r>
              <a:rPr lang="en-US" sz="1100">
                <a:solidFill>
                  <a:srgbClr val="374151"/>
                </a:solidFill>
              </a:rPr>
              <a:t>Understand the client context, objectives, constraints, and decision-making needs.</a:t>
            </a:r>
          </a:p>
        </p:txBody>
      </p:sp>
      <p:sp>
        <p:nvSpPr>
          <p:cNvPr id="15" name="Shape 12"/>
          <p:cNvSpPr/>
          <p:nvPr>
            <p:custDataLst>
              <p:tags r:id="rId6"/>
            </p:custDataLst>
          </p:nvPr>
        </p:nvSpPr>
        <p:spPr>
          <a:xfrm>
            <a:off x="3415665" y="2743200"/>
            <a:ext cx="566928" cy="566928"/>
          </a:xfrm>
          <a:prstGeom prst="ellipse">
            <a:avLst/>
          </a:prstGeom>
          <a:solidFill>
            <a:srgbClr val="8A6F82"/>
          </a:solidFill>
          <a:ln w="12700">
            <a:solidFill>
              <a:srgbClr val="8A6F82"/>
            </a:solidFill>
            <a:prstDash val="solid"/>
          </a:ln>
        </p:spPr>
        <p:txBody>
          <a:bodyPr/>
          <a:lstStyle/>
          <a:p>
            <a:endParaRPr lang="en-US"/>
          </a:p>
        </p:txBody>
      </p:sp>
      <p:sp>
        <p:nvSpPr>
          <p:cNvPr id="16" name="Text 13"/>
          <p:cNvSpPr/>
          <p:nvPr>
            <p:custDataLst>
              <p:tags r:id="rId7"/>
            </p:custDataLst>
          </p:nvPr>
        </p:nvSpPr>
        <p:spPr>
          <a:xfrm>
            <a:off x="3415665" y="2880360"/>
            <a:ext cx="566928" cy="164592"/>
          </a:xfrm>
          <a:prstGeom prst="rect">
            <a:avLst/>
          </a:prstGeom>
          <a:noFill/>
        </p:spPr>
        <p:txBody>
          <a:bodyPr wrap="square" lIns="0" tIns="0" rIns="0" bIns="0" rtlCol="0" anchor="ctr"/>
          <a:lstStyle/>
          <a:p>
            <a:pPr marL="0" indent="0" algn="ctr">
              <a:buNone/>
            </a:pPr>
            <a:r>
              <a:rPr lang="en-US" sz="1300" b="1">
                <a:solidFill>
                  <a:srgbClr val="FFFFFF"/>
                </a:solidFill>
              </a:rPr>
              <a:t>2</a:t>
            </a:r>
            <a:endParaRPr lang="en-US" sz="1300"/>
          </a:p>
        </p:txBody>
      </p:sp>
      <p:sp>
        <p:nvSpPr>
          <p:cNvPr id="17" name="Shape 14"/>
          <p:cNvSpPr/>
          <p:nvPr>
            <p:custDataLst>
              <p:tags r:id="rId8"/>
            </p:custDataLst>
          </p:nvPr>
        </p:nvSpPr>
        <p:spPr>
          <a:xfrm>
            <a:off x="4037457" y="3026664"/>
            <a:ext cx="1463040" cy="0"/>
          </a:xfrm>
          <a:prstGeom prst="line">
            <a:avLst/>
          </a:prstGeom>
          <a:noFill/>
          <a:ln w="25400">
            <a:solidFill>
              <a:srgbClr val="D9E2EC"/>
            </a:solidFill>
            <a:prstDash val="solid"/>
            <a:headEnd type="none"/>
            <a:tailEnd type="triangle"/>
          </a:ln>
        </p:spPr>
        <p:txBody>
          <a:bodyPr/>
          <a:lstStyle/>
          <a:p>
            <a:endParaRPr lang="en-US"/>
          </a:p>
        </p:txBody>
      </p:sp>
      <p:sp>
        <p:nvSpPr>
          <p:cNvPr id="18" name="Text 15"/>
          <p:cNvSpPr/>
          <p:nvPr>
            <p:custDataLst>
              <p:tags r:id="rId9"/>
            </p:custDataLst>
          </p:nvPr>
        </p:nvSpPr>
        <p:spPr>
          <a:xfrm>
            <a:off x="2834640" y="3566160"/>
            <a:ext cx="1737360" cy="237744"/>
          </a:xfrm>
          <a:prstGeom prst="rect">
            <a:avLst/>
          </a:prstGeom>
          <a:noFill/>
        </p:spPr>
        <p:txBody>
          <a:bodyPr wrap="square" lIns="0" tIns="0" rIns="0" bIns="0" rtlCol="0" anchor="ctr">
            <a:normAutofit/>
          </a:bodyPr>
          <a:lstStyle/>
          <a:p>
            <a:pPr marL="0" indent="0" algn="ctr">
              <a:buNone/>
            </a:pPr>
            <a:r>
              <a:rPr lang="en-US" sz="1400" b="1">
                <a:solidFill>
                  <a:srgbClr val="123B5D"/>
                </a:solidFill>
              </a:rPr>
              <a:t>Scoping </a:t>
            </a:r>
            <a:r>
              <a:rPr lang="en-US" altLang="zh-CN" sz="1400" b="1">
                <a:solidFill>
                  <a:srgbClr val="123B5D"/>
                </a:solidFill>
              </a:rPr>
              <a:t>Alignment</a:t>
            </a:r>
          </a:p>
        </p:txBody>
      </p:sp>
      <p:sp>
        <p:nvSpPr>
          <p:cNvPr id="19" name="Text 16"/>
          <p:cNvSpPr/>
          <p:nvPr>
            <p:custDataLst>
              <p:tags r:id="rId10"/>
            </p:custDataLst>
          </p:nvPr>
        </p:nvSpPr>
        <p:spPr>
          <a:xfrm>
            <a:off x="2697480" y="3977640"/>
            <a:ext cx="2011680" cy="685800"/>
          </a:xfrm>
          <a:prstGeom prst="rect">
            <a:avLst/>
          </a:prstGeom>
          <a:noFill/>
        </p:spPr>
        <p:txBody>
          <a:bodyPr wrap="square" lIns="0" tIns="0" rIns="0" bIns="0" rtlCol="0" anchor="ctr">
            <a:normAutofit/>
          </a:bodyPr>
          <a:lstStyle/>
          <a:p>
            <a:pPr marL="0" indent="0" algn="ctr">
              <a:buNone/>
            </a:pPr>
            <a:r>
              <a:rPr lang="en-US" altLang="zh-CN" sz="1100">
                <a:solidFill>
                  <a:srgbClr val="374151"/>
                </a:solidFill>
              </a:rPr>
              <a:t>Translate the client need into a focused project scope with clear deliverables, timeline, and responsibilities.</a:t>
            </a:r>
          </a:p>
        </p:txBody>
      </p:sp>
      <p:sp>
        <p:nvSpPr>
          <p:cNvPr id="20" name="Shape 17"/>
          <p:cNvSpPr/>
          <p:nvPr>
            <p:custDataLst>
              <p:tags r:id="rId11"/>
            </p:custDataLst>
          </p:nvPr>
        </p:nvSpPr>
        <p:spPr>
          <a:xfrm>
            <a:off x="5655945" y="2743200"/>
            <a:ext cx="566928" cy="566928"/>
          </a:xfrm>
          <a:prstGeom prst="ellipse">
            <a:avLst/>
          </a:prstGeom>
          <a:solidFill>
            <a:srgbClr val="9A8C82"/>
          </a:solidFill>
          <a:ln w="12700">
            <a:solidFill>
              <a:srgbClr val="9A8C82"/>
            </a:solidFill>
            <a:prstDash val="solid"/>
          </a:ln>
        </p:spPr>
        <p:txBody>
          <a:bodyPr/>
          <a:lstStyle/>
          <a:p>
            <a:endParaRPr lang="en-US"/>
          </a:p>
        </p:txBody>
      </p:sp>
      <p:sp>
        <p:nvSpPr>
          <p:cNvPr id="21" name="Text 18"/>
          <p:cNvSpPr/>
          <p:nvPr>
            <p:custDataLst>
              <p:tags r:id="rId12"/>
            </p:custDataLst>
          </p:nvPr>
        </p:nvSpPr>
        <p:spPr>
          <a:xfrm>
            <a:off x="5655945" y="2880360"/>
            <a:ext cx="566928" cy="164592"/>
          </a:xfrm>
          <a:prstGeom prst="rect">
            <a:avLst/>
          </a:prstGeom>
          <a:noFill/>
        </p:spPr>
        <p:txBody>
          <a:bodyPr wrap="square" lIns="0" tIns="0" rIns="0" bIns="0" rtlCol="0" anchor="ctr"/>
          <a:lstStyle/>
          <a:p>
            <a:pPr marL="0" indent="0" algn="ctr">
              <a:buNone/>
            </a:pPr>
            <a:r>
              <a:rPr lang="en-US" sz="1300" b="1">
                <a:solidFill>
                  <a:srgbClr val="FFFFFF"/>
                </a:solidFill>
              </a:rPr>
              <a:t>3</a:t>
            </a:r>
            <a:endParaRPr lang="en-US" sz="1300"/>
          </a:p>
        </p:txBody>
      </p:sp>
      <p:sp>
        <p:nvSpPr>
          <p:cNvPr id="22" name="Shape 19"/>
          <p:cNvSpPr/>
          <p:nvPr>
            <p:custDataLst>
              <p:tags r:id="rId13"/>
            </p:custDataLst>
          </p:nvPr>
        </p:nvSpPr>
        <p:spPr>
          <a:xfrm>
            <a:off x="6277737" y="3026664"/>
            <a:ext cx="1463040" cy="0"/>
          </a:xfrm>
          <a:prstGeom prst="line">
            <a:avLst/>
          </a:prstGeom>
          <a:noFill/>
          <a:ln w="25400">
            <a:solidFill>
              <a:srgbClr val="D9E2EC"/>
            </a:solidFill>
            <a:prstDash val="solid"/>
            <a:headEnd type="none"/>
            <a:tailEnd type="triangle"/>
          </a:ln>
        </p:spPr>
        <p:txBody>
          <a:bodyPr/>
          <a:lstStyle/>
          <a:p>
            <a:endParaRPr lang="en-US"/>
          </a:p>
        </p:txBody>
      </p:sp>
      <p:sp>
        <p:nvSpPr>
          <p:cNvPr id="23" name="Text 20"/>
          <p:cNvSpPr/>
          <p:nvPr>
            <p:custDataLst>
              <p:tags r:id="rId14"/>
            </p:custDataLst>
          </p:nvPr>
        </p:nvSpPr>
        <p:spPr>
          <a:xfrm>
            <a:off x="5074920" y="3566160"/>
            <a:ext cx="1737360" cy="237744"/>
          </a:xfrm>
          <a:prstGeom prst="rect">
            <a:avLst/>
          </a:prstGeom>
          <a:noFill/>
        </p:spPr>
        <p:txBody>
          <a:bodyPr wrap="square" lIns="0" tIns="0" rIns="0" bIns="0" rtlCol="0" anchor="ctr">
            <a:normAutofit/>
          </a:bodyPr>
          <a:lstStyle/>
          <a:p>
            <a:pPr marL="0" indent="0" algn="ctr">
              <a:buNone/>
            </a:pPr>
            <a:r>
              <a:rPr lang="en-US" sz="1400" b="1">
                <a:solidFill>
                  <a:srgbClr val="123B5D"/>
                </a:solidFill>
              </a:rPr>
              <a:t>Research &amp; Analysis</a:t>
            </a:r>
          </a:p>
        </p:txBody>
      </p:sp>
      <p:sp>
        <p:nvSpPr>
          <p:cNvPr id="24" name="Text 21"/>
          <p:cNvSpPr/>
          <p:nvPr>
            <p:custDataLst>
              <p:tags r:id="rId15"/>
            </p:custDataLst>
          </p:nvPr>
        </p:nvSpPr>
        <p:spPr>
          <a:xfrm>
            <a:off x="4937760" y="3977640"/>
            <a:ext cx="2011680" cy="685800"/>
          </a:xfrm>
          <a:prstGeom prst="rect">
            <a:avLst/>
          </a:prstGeom>
          <a:noFill/>
        </p:spPr>
        <p:txBody>
          <a:bodyPr wrap="square" lIns="0" tIns="0" rIns="0" bIns="0" rtlCol="0" anchor="ctr">
            <a:normAutofit/>
          </a:bodyPr>
          <a:lstStyle/>
          <a:p>
            <a:pPr marL="0" indent="0" algn="ctr">
              <a:buNone/>
            </a:pPr>
            <a:r>
              <a:rPr lang="en-US" sz="1100">
                <a:solidFill>
                  <a:srgbClr val="374151"/>
                </a:solidFill>
              </a:rPr>
              <a:t>Conduct the research, interviews, benchmarking, modelling, or process work required.</a:t>
            </a:r>
          </a:p>
        </p:txBody>
      </p:sp>
      <p:sp>
        <p:nvSpPr>
          <p:cNvPr id="25" name="Shape 22"/>
          <p:cNvSpPr/>
          <p:nvPr>
            <p:custDataLst>
              <p:tags r:id="rId16"/>
            </p:custDataLst>
          </p:nvPr>
        </p:nvSpPr>
        <p:spPr>
          <a:xfrm>
            <a:off x="7896225" y="2743200"/>
            <a:ext cx="566928" cy="566928"/>
          </a:xfrm>
          <a:prstGeom prst="ellipse">
            <a:avLst/>
          </a:prstGeom>
          <a:solidFill>
            <a:srgbClr val="6D7C8A"/>
          </a:solidFill>
          <a:ln w="12700">
            <a:solidFill>
              <a:srgbClr val="6D7C8A"/>
            </a:solidFill>
            <a:prstDash val="solid"/>
          </a:ln>
        </p:spPr>
        <p:txBody>
          <a:bodyPr/>
          <a:lstStyle/>
          <a:p>
            <a:endParaRPr lang="en-US"/>
          </a:p>
        </p:txBody>
      </p:sp>
      <p:sp>
        <p:nvSpPr>
          <p:cNvPr id="26" name="Text 23"/>
          <p:cNvSpPr/>
          <p:nvPr>
            <p:custDataLst>
              <p:tags r:id="rId17"/>
            </p:custDataLst>
          </p:nvPr>
        </p:nvSpPr>
        <p:spPr>
          <a:xfrm>
            <a:off x="7896225" y="2880360"/>
            <a:ext cx="566928" cy="164592"/>
          </a:xfrm>
          <a:prstGeom prst="rect">
            <a:avLst/>
          </a:prstGeom>
          <a:noFill/>
        </p:spPr>
        <p:txBody>
          <a:bodyPr wrap="square" lIns="0" tIns="0" rIns="0" bIns="0" rtlCol="0" anchor="ctr"/>
          <a:lstStyle/>
          <a:p>
            <a:pPr marL="0" indent="0" algn="ctr">
              <a:buNone/>
            </a:pPr>
            <a:r>
              <a:rPr lang="en-US" sz="1300" b="1">
                <a:solidFill>
                  <a:srgbClr val="FFFFFF"/>
                </a:solidFill>
              </a:rPr>
              <a:t>4</a:t>
            </a:r>
            <a:endParaRPr lang="en-US" sz="1300"/>
          </a:p>
        </p:txBody>
      </p:sp>
      <p:sp>
        <p:nvSpPr>
          <p:cNvPr id="27" name="Shape 24"/>
          <p:cNvSpPr/>
          <p:nvPr>
            <p:custDataLst>
              <p:tags r:id="rId18"/>
            </p:custDataLst>
          </p:nvPr>
        </p:nvSpPr>
        <p:spPr>
          <a:xfrm>
            <a:off x="8518017" y="3026664"/>
            <a:ext cx="1463040" cy="0"/>
          </a:xfrm>
          <a:prstGeom prst="line">
            <a:avLst/>
          </a:prstGeom>
          <a:noFill/>
          <a:ln w="25400">
            <a:solidFill>
              <a:srgbClr val="D9E2EC"/>
            </a:solidFill>
            <a:prstDash val="solid"/>
            <a:headEnd type="none"/>
            <a:tailEnd type="triangle"/>
          </a:ln>
        </p:spPr>
        <p:txBody>
          <a:bodyPr/>
          <a:lstStyle/>
          <a:p>
            <a:endParaRPr lang="en-US"/>
          </a:p>
        </p:txBody>
      </p:sp>
      <p:sp>
        <p:nvSpPr>
          <p:cNvPr id="28" name="Text 25"/>
          <p:cNvSpPr/>
          <p:nvPr>
            <p:custDataLst>
              <p:tags r:id="rId19"/>
            </p:custDataLst>
          </p:nvPr>
        </p:nvSpPr>
        <p:spPr>
          <a:xfrm>
            <a:off x="7315200" y="3566160"/>
            <a:ext cx="1737360" cy="237744"/>
          </a:xfrm>
          <a:prstGeom prst="rect">
            <a:avLst/>
          </a:prstGeom>
          <a:noFill/>
        </p:spPr>
        <p:txBody>
          <a:bodyPr wrap="square" lIns="0" tIns="0" rIns="0" bIns="0" rtlCol="0" anchor="ctr">
            <a:normAutofit/>
          </a:bodyPr>
          <a:lstStyle/>
          <a:p>
            <a:pPr marL="0" indent="0" algn="ctr">
              <a:buNone/>
            </a:pPr>
            <a:r>
              <a:rPr lang="en-US" sz="1400" b="1">
                <a:solidFill>
                  <a:srgbClr val="123B5D"/>
                </a:solidFill>
              </a:rPr>
              <a:t>Recommendations</a:t>
            </a:r>
          </a:p>
        </p:txBody>
      </p:sp>
      <p:sp>
        <p:nvSpPr>
          <p:cNvPr id="29" name="Text 26"/>
          <p:cNvSpPr/>
          <p:nvPr>
            <p:custDataLst>
              <p:tags r:id="rId20"/>
            </p:custDataLst>
          </p:nvPr>
        </p:nvSpPr>
        <p:spPr>
          <a:xfrm>
            <a:off x="7178040" y="3977640"/>
            <a:ext cx="2011680" cy="685800"/>
          </a:xfrm>
          <a:prstGeom prst="rect">
            <a:avLst/>
          </a:prstGeom>
          <a:noFill/>
        </p:spPr>
        <p:txBody>
          <a:bodyPr wrap="square" lIns="0" tIns="0" rIns="0" bIns="0" rtlCol="0" anchor="ctr">
            <a:normAutofit/>
          </a:bodyPr>
          <a:lstStyle/>
          <a:p>
            <a:pPr marL="0" indent="0" algn="ctr">
              <a:buNone/>
            </a:pPr>
            <a:r>
              <a:rPr lang="en-US" sz="1100">
                <a:solidFill>
                  <a:srgbClr val="374151"/>
                </a:solidFill>
              </a:rPr>
              <a:t>Synthesize findings into clear options, implications, and prioritized recommendations.</a:t>
            </a:r>
          </a:p>
        </p:txBody>
      </p:sp>
      <p:sp>
        <p:nvSpPr>
          <p:cNvPr id="30" name="Shape 27"/>
          <p:cNvSpPr/>
          <p:nvPr>
            <p:custDataLst>
              <p:tags r:id="rId21"/>
            </p:custDataLst>
          </p:nvPr>
        </p:nvSpPr>
        <p:spPr>
          <a:xfrm>
            <a:off x="10136505" y="2743200"/>
            <a:ext cx="566928" cy="566928"/>
          </a:xfrm>
          <a:prstGeom prst="ellipse">
            <a:avLst/>
          </a:prstGeom>
          <a:solidFill>
            <a:srgbClr val="5B7892"/>
          </a:solidFill>
          <a:ln w="12700">
            <a:solidFill>
              <a:srgbClr val="5B7892"/>
            </a:solidFill>
            <a:prstDash val="solid"/>
          </a:ln>
        </p:spPr>
        <p:txBody>
          <a:bodyPr/>
          <a:lstStyle/>
          <a:p>
            <a:endParaRPr lang="en-US"/>
          </a:p>
        </p:txBody>
      </p:sp>
      <p:sp>
        <p:nvSpPr>
          <p:cNvPr id="31" name="Text 28"/>
          <p:cNvSpPr/>
          <p:nvPr>
            <p:custDataLst>
              <p:tags r:id="rId22"/>
            </p:custDataLst>
          </p:nvPr>
        </p:nvSpPr>
        <p:spPr>
          <a:xfrm>
            <a:off x="10136505" y="2880360"/>
            <a:ext cx="566928" cy="164592"/>
          </a:xfrm>
          <a:prstGeom prst="rect">
            <a:avLst/>
          </a:prstGeom>
          <a:noFill/>
        </p:spPr>
        <p:txBody>
          <a:bodyPr wrap="square" lIns="0" tIns="0" rIns="0" bIns="0" rtlCol="0" anchor="ctr"/>
          <a:lstStyle/>
          <a:p>
            <a:pPr marL="0" indent="0" algn="ctr">
              <a:buNone/>
            </a:pPr>
            <a:r>
              <a:rPr lang="en-US" sz="1300" b="1">
                <a:solidFill>
                  <a:srgbClr val="FFFFFF"/>
                </a:solidFill>
              </a:rPr>
              <a:t>5</a:t>
            </a:r>
            <a:endParaRPr lang="en-US" sz="1300"/>
          </a:p>
        </p:txBody>
      </p:sp>
      <p:sp>
        <p:nvSpPr>
          <p:cNvPr id="32" name="Text 29"/>
          <p:cNvSpPr/>
          <p:nvPr>
            <p:custDataLst>
              <p:tags r:id="rId23"/>
            </p:custDataLst>
          </p:nvPr>
        </p:nvSpPr>
        <p:spPr>
          <a:xfrm>
            <a:off x="9555480" y="3566160"/>
            <a:ext cx="1737360" cy="237744"/>
          </a:xfrm>
          <a:prstGeom prst="rect">
            <a:avLst/>
          </a:prstGeom>
          <a:noFill/>
        </p:spPr>
        <p:txBody>
          <a:bodyPr wrap="square" lIns="0" tIns="0" rIns="0" bIns="0" rtlCol="0" anchor="ctr">
            <a:normAutofit/>
          </a:bodyPr>
          <a:lstStyle/>
          <a:p>
            <a:pPr marL="0" indent="0" algn="ctr">
              <a:buNone/>
            </a:pPr>
            <a:r>
              <a:rPr lang="en-US" altLang="zh-CN" sz="1400" b="1">
                <a:solidFill>
                  <a:srgbClr val="123B5D"/>
                </a:solidFill>
              </a:rPr>
              <a:t>Decision Support</a:t>
            </a:r>
          </a:p>
        </p:txBody>
      </p:sp>
      <p:sp>
        <p:nvSpPr>
          <p:cNvPr id="33" name="Text 30"/>
          <p:cNvSpPr/>
          <p:nvPr>
            <p:custDataLst>
              <p:tags r:id="rId24"/>
            </p:custDataLst>
          </p:nvPr>
        </p:nvSpPr>
        <p:spPr>
          <a:xfrm>
            <a:off x="9418320" y="3977640"/>
            <a:ext cx="2011680" cy="685800"/>
          </a:xfrm>
          <a:prstGeom prst="rect">
            <a:avLst/>
          </a:prstGeom>
          <a:noFill/>
        </p:spPr>
        <p:txBody>
          <a:bodyPr wrap="square" lIns="0" tIns="0" rIns="0" bIns="0" rtlCol="0" anchor="ctr">
            <a:normAutofit/>
          </a:bodyPr>
          <a:lstStyle/>
          <a:p>
            <a:pPr marL="0" indent="0" algn="ctr">
              <a:buNone/>
            </a:pPr>
            <a:r>
              <a:rPr lang="en-US" altLang="zh-CN" sz="1100">
                <a:solidFill>
                  <a:srgbClr val="374151"/>
                </a:solidFill>
              </a:rPr>
              <a:t>Deliver final materials designed to support decision-making, alignment, and practical next steps.</a:t>
            </a:r>
          </a:p>
        </p:txBody>
      </p:sp>
      <p:sp>
        <p:nvSpPr>
          <p:cNvPr id="34" name="Shape 31"/>
          <p:cNvSpPr/>
          <p:nvPr/>
        </p:nvSpPr>
        <p:spPr>
          <a:xfrm>
            <a:off x="868680" y="5257800"/>
            <a:ext cx="10469880" cy="566928"/>
          </a:xfrm>
          <a:prstGeom prst="roundRect">
            <a:avLst>
              <a:gd name="adj" fmla="val 9677"/>
            </a:avLst>
          </a:prstGeom>
          <a:solidFill>
            <a:srgbClr val="F4F7FA"/>
          </a:solidFill>
          <a:ln w="12700">
            <a:solidFill>
              <a:srgbClr val="F4F7FA"/>
            </a:solidFill>
            <a:prstDash val="solid"/>
          </a:ln>
        </p:spPr>
        <p:txBody>
          <a:bodyPr/>
          <a:lstStyle/>
          <a:p>
            <a:endParaRPr lang="en-US"/>
          </a:p>
        </p:txBody>
      </p:sp>
      <p:sp>
        <p:nvSpPr>
          <p:cNvPr id="35" name="Text 32"/>
          <p:cNvSpPr/>
          <p:nvPr/>
        </p:nvSpPr>
        <p:spPr>
          <a:xfrm>
            <a:off x="1143000" y="5422392"/>
            <a:ext cx="9921240" cy="164592"/>
          </a:xfrm>
          <a:prstGeom prst="rect">
            <a:avLst/>
          </a:prstGeom>
          <a:noFill/>
        </p:spPr>
        <p:txBody>
          <a:bodyPr wrap="square" lIns="0" tIns="0" rIns="0" bIns="0" rtlCol="0" anchor="ctr"/>
          <a:lstStyle/>
          <a:p>
            <a:pPr marL="0" indent="0" algn="ctr">
              <a:buNone/>
            </a:pPr>
            <a:r>
              <a:rPr lang="en-US" sz="1200">
                <a:solidFill>
                  <a:srgbClr val="123B5D"/>
                </a:solidFill>
              </a:rPr>
              <a:t>Each phase includes client input and alignment so the final recommendation reflects the organization’s real context, constraints, and priorities.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18"/>
          <a:stretch>
            <a:fillRect/>
          </a:stretch>
        </p:blipFill>
        <p:spPr>
          <a:xfrm>
            <a:off x="502920" y="292608"/>
            <a:ext cx="1417320" cy="519684"/>
          </a:xfrm>
          <a:prstGeom prst="rect">
            <a:avLst/>
          </a:prstGeom>
        </p:spPr>
      </p:pic>
      <p:sp>
        <p:nvSpPr>
          <p:cNvPr id="3" name="Text 0"/>
          <p:cNvSpPr/>
          <p:nvPr/>
        </p:nvSpPr>
        <p:spPr>
          <a:xfrm>
            <a:off x="658368" y="868680"/>
            <a:ext cx="3291840" cy="201168"/>
          </a:xfrm>
          <a:prstGeom prst="rect">
            <a:avLst/>
          </a:prstGeom>
          <a:noFill/>
        </p:spPr>
        <p:txBody>
          <a:bodyPr wrap="square" lIns="0" tIns="0" rIns="0" bIns="0" rtlCol="0" anchor="ctr"/>
          <a:lstStyle/>
          <a:p>
            <a:pPr marL="0" indent="0">
              <a:buNone/>
            </a:pPr>
            <a:r>
              <a:rPr lang="en-US" sz="750" b="1">
                <a:solidFill>
                  <a:srgbClr val="5B7892"/>
                </a:solidFill>
              </a:rPr>
              <a:t>6–10 WEEK PROJECT FLOW</a:t>
            </a:r>
          </a:p>
        </p:txBody>
      </p:sp>
      <p:sp>
        <p:nvSpPr>
          <p:cNvPr id="4" name="Text 1"/>
          <p:cNvSpPr/>
          <p:nvPr/>
        </p:nvSpPr>
        <p:spPr>
          <a:xfrm>
            <a:off x="640080" y="1097280"/>
            <a:ext cx="8778240" cy="438912"/>
          </a:xfrm>
          <a:prstGeom prst="rect">
            <a:avLst/>
          </a:prstGeom>
          <a:noFill/>
        </p:spPr>
        <p:txBody>
          <a:bodyPr wrap="square" lIns="0" tIns="0" rIns="0" bIns="0" rtlCol="0" anchor="ctr"/>
          <a:lstStyle/>
          <a:p>
            <a:pPr marL="0" indent="0">
              <a:buNone/>
            </a:pPr>
            <a:r>
              <a:rPr lang="en-US" sz="2300" b="1">
                <a:solidFill>
                  <a:srgbClr val="123B5D"/>
                </a:solidFill>
                <a:latin typeface="Aptos Display" pitchFamily="34" charset="0"/>
                <a:ea typeface="Aptos Display" pitchFamily="34" charset="-122"/>
                <a:cs typeface="Aptos Display" pitchFamily="34" charset="-120"/>
              </a:rPr>
              <a:t>Sample Engagement Timeline</a:t>
            </a:r>
            <a:endParaRPr lang="en-US" sz="2300"/>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en-US"/>
          </a:p>
        </p:txBody>
      </p:sp>
      <p:sp>
        <p:nvSpPr>
          <p:cNvPr id="6" name="Shape 3"/>
          <p:cNvSpPr/>
          <p:nvPr/>
        </p:nvSpPr>
        <p:spPr>
          <a:xfrm>
            <a:off x="502920" y="6428232"/>
            <a:ext cx="11201400" cy="0"/>
          </a:xfrm>
          <a:prstGeom prst="line">
            <a:avLst/>
          </a:prstGeom>
          <a:noFill/>
          <a:ln w="8890">
            <a:solidFill>
              <a:srgbClr val="D9E2EC"/>
            </a:solidFill>
            <a:prstDash val="solid"/>
          </a:ln>
        </p:spPr>
        <p:txBody>
          <a:bodyPr/>
          <a:lstStyle/>
          <a:p>
            <a:endParaRPr 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9" name="Text 6"/>
          <p:cNvSpPr/>
          <p:nvPr/>
        </p:nvSpPr>
        <p:spPr>
          <a:xfrm>
            <a:off x="640080" y="1874520"/>
            <a:ext cx="8046720" cy="274320"/>
          </a:xfrm>
          <a:prstGeom prst="rect">
            <a:avLst/>
          </a:prstGeom>
          <a:noFill/>
        </p:spPr>
        <p:txBody>
          <a:bodyPr wrap="square" lIns="0" tIns="0" rIns="0" bIns="0" rtlCol="0" anchor="ctr"/>
          <a:lstStyle/>
          <a:p>
            <a:pPr marL="0" indent="0">
              <a:buNone/>
            </a:pPr>
            <a:r>
              <a:rPr lang="en-US" sz="1500" b="1">
                <a:solidFill>
                  <a:srgbClr val="111827"/>
                </a:solidFill>
              </a:rPr>
              <a:t>A typical Impact engagement can be structured across 6–10 weeks, depending on scope, client needs, and data availability.</a:t>
            </a:r>
          </a:p>
        </p:txBody>
      </p:sp>
      <p:sp>
        <p:nvSpPr>
          <p:cNvPr id="10" name="Shape 7"/>
          <p:cNvSpPr/>
          <p:nvPr/>
        </p:nvSpPr>
        <p:spPr>
          <a:xfrm>
            <a:off x="822960" y="2532888"/>
            <a:ext cx="292608" cy="292608"/>
          </a:xfrm>
          <a:prstGeom prst="ellipse">
            <a:avLst/>
          </a:prstGeom>
          <a:solidFill>
            <a:srgbClr val="5B7892"/>
          </a:solidFill>
          <a:ln w="12700">
            <a:solidFill>
              <a:srgbClr val="5B7892"/>
            </a:solidFill>
            <a:prstDash val="solid"/>
          </a:ln>
        </p:spPr>
        <p:txBody>
          <a:bodyPr/>
          <a:lstStyle/>
          <a:p>
            <a:endParaRPr lang="en-US"/>
          </a:p>
        </p:txBody>
      </p:sp>
      <p:sp>
        <p:nvSpPr>
          <p:cNvPr id="11" name="Shape 8"/>
          <p:cNvSpPr/>
          <p:nvPr/>
        </p:nvSpPr>
        <p:spPr>
          <a:xfrm>
            <a:off x="969264" y="2843784"/>
            <a:ext cx="0" cy="393192"/>
          </a:xfrm>
          <a:prstGeom prst="line">
            <a:avLst/>
          </a:prstGeom>
          <a:noFill/>
          <a:ln w="25400">
            <a:solidFill>
              <a:srgbClr val="D9E2EC"/>
            </a:solidFill>
            <a:prstDash val="solid"/>
          </a:ln>
        </p:spPr>
        <p:txBody>
          <a:bodyPr/>
          <a:lstStyle/>
          <a:p>
            <a:endParaRPr lang="en-US"/>
          </a:p>
        </p:txBody>
      </p:sp>
      <p:sp>
        <p:nvSpPr>
          <p:cNvPr id="12" name="Text 9"/>
          <p:cNvSpPr/>
          <p:nvPr>
            <p:custDataLst>
              <p:tags r:id="rId1"/>
            </p:custDataLst>
          </p:nvPr>
        </p:nvSpPr>
        <p:spPr>
          <a:xfrm>
            <a:off x="1325880" y="2514600"/>
            <a:ext cx="1143000" cy="201168"/>
          </a:xfrm>
          <a:prstGeom prst="rect">
            <a:avLst/>
          </a:prstGeom>
          <a:noFill/>
        </p:spPr>
        <p:txBody>
          <a:bodyPr wrap="square" lIns="0" tIns="0" rIns="0" bIns="0" rtlCol="0" anchor="ctr"/>
          <a:lstStyle/>
          <a:p>
            <a:pPr marL="0" indent="0">
              <a:buNone/>
            </a:pPr>
            <a:r>
              <a:rPr lang="en-US" sz="1200" b="1">
                <a:solidFill>
                  <a:srgbClr val="5B7892"/>
                </a:solidFill>
              </a:rPr>
              <a:t>Week 1</a:t>
            </a:r>
          </a:p>
        </p:txBody>
      </p:sp>
      <p:sp>
        <p:nvSpPr>
          <p:cNvPr id="13" name="Text 10"/>
          <p:cNvSpPr/>
          <p:nvPr>
            <p:custDataLst>
              <p:tags r:id="rId2"/>
            </p:custDataLst>
          </p:nvPr>
        </p:nvSpPr>
        <p:spPr>
          <a:xfrm>
            <a:off x="2514600" y="2514600"/>
            <a:ext cx="2834640" cy="201168"/>
          </a:xfrm>
          <a:prstGeom prst="rect">
            <a:avLst/>
          </a:prstGeom>
          <a:noFill/>
        </p:spPr>
        <p:txBody>
          <a:bodyPr wrap="square" lIns="0" tIns="0" rIns="0" bIns="0" rtlCol="0" anchor="ctr"/>
          <a:lstStyle/>
          <a:p>
            <a:pPr marL="0" indent="0">
              <a:buNone/>
            </a:pPr>
            <a:r>
              <a:rPr lang="en-US" sz="1200" b="1">
                <a:solidFill>
                  <a:srgbClr val="123B5D"/>
                </a:solidFill>
              </a:rPr>
              <a:t>Discovery &amp; Scope </a:t>
            </a:r>
            <a:r>
              <a:rPr lang="en-US" altLang="zh-CN" sz="1200" b="1">
                <a:solidFill>
                  <a:srgbClr val="123B5D"/>
                </a:solidFill>
              </a:rPr>
              <a:t>Alignment</a:t>
            </a:r>
          </a:p>
        </p:txBody>
      </p:sp>
      <p:sp>
        <p:nvSpPr>
          <p:cNvPr id="14" name="Text 11"/>
          <p:cNvSpPr/>
          <p:nvPr>
            <p:custDataLst>
              <p:tags r:id="rId3"/>
            </p:custDataLst>
          </p:nvPr>
        </p:nvSpPr>
        <p:spPr>
          <a:xfrm>
            <a:off x="5486400" y="2514600"/>
            <a:ext cx="5715635" cy="255905"/>
          </a:xfrm>
          <a:prstGeom prst="rect">
            <a:avLst/>
          </a:prstGeom>
          <a:noFill/>
        </p:spPr>
        <p:txBody>
          <a:bodyPr wrap="square" lIns="0" tIns="0" rIns="0" bIns="0" rtlCol="0" anchor="ctr">
            <a:normAutofit/>
          </a:bodyPr>
          <a:lstStyle/>
          <a:p>
            <a:pPr marL="0" indent="0">
              <a:buNone/>
            </a:pPr>
            <a:r>
              <a:rPr lang="en-US" altLang="zh-CN" sz="1200">
                <a:solidFill>
                  <a:srgbClr val="374151"/>
                </a:solidFill>
              </a:rPr>
              <a:t>Confirm objectives, key questions, data needs, stakeholders, timeline, and workplan.</a:t>
            </a:r>
          </a:p>
        </p:txBody>
      </p:sp>
      <p:sp>
        <p:nvSpPr>
          <p:cNvPr id="15" name="Shape 12"/>
          <p:cNvSpPr/>
          <p:nvPr/>
        </p:nvSpPr>
        <p:spPr>
          <a:xfrm>
            <a:off x="822960" y="3218688"/>
            <a:ext cx="292608" cy="292608"/>
          </a:xfrm>
          <a:prstGeom prst="ellipse">
            <a:avLst/>
          </a:prstGeom>
          <a:solidFill>
            <a:srgbClr val="8A6F82"/>
          </a:solidFill>
          <a:ln w="12700">
            <a:solidFill>
              <a:srgbClr val="8A6F82"/>
            </a:solidFill>
            <a:prstDash val="solid"/>
          </a:ln>
        </p:spPr>
        <p:txBody>
          <a:bodyPr/>
          <a:lstStyle/>
          <a:p>
            <a:endParaRPr lang="en-US"/>
          </a:p>
        </p:txBody>
      </p:sp>
      <p:sp>
        <p:nvSpPr>
          <p:cNvPr id="16" name="Shape 13"/>
          <p:cNvSpPr/>
          <p:nvPr/>
        </p:nvSpPr>
        <p:spPr>
          <a:xfrm>
            <a:off x="969264" y="3529584"/>
            <a:ext cx="0" cy="393192"/>
          </a:xfrm>
          <a:prstGeom prst="line">
            <a:avLst/>
          </a:prstGeom>
          <a:noFill/>
          <a:ln w="25400">
            <a:solidFill>
              <a:srgbClr val="D9E2EC"/>
            </a:solidFill>
            <a:prstDash val="solid"/>
          </a:ln>
        </p:spPr>
        <p:txBody>
          <a:bodyPr/>
          <a:lstStyle/>
          <a:p>
            <a:endParaRPr lang="en-US"/>
          </a:p>
        </p:txBody>
      </p:sp>
      <p:sp>
        <p:nvSpPr>
          <p:cNvPr id="17" name="Text 14"/>
          <p:cNvSpPr/>
          <p:nvPr>
            <p:custDataLst>
              <p:tags r:id="rId4"/>
            </p:custDataLst>
          </p:nvPr>
        </p:nvSpPr>
        <p:spPr>
          <a:xfrm>
            <a:off x="1325880" y="3200400"/>
            <a:ext cx="1143000" cy="201168"/>
          </a:xfrm>
          <a:prstGeom prst="rect">
            <a:avLst/>
          </a:prstGeom>
          <a:noFill/>
        </p:spPr>
        <p:txBody>
          <a:bodyPr wrap="square" lIns="0" tIns="0" rIns="0" bIns="0" rtlCol="0" anchor="ctr"/>
          <a:lstStyle/>
          <a:p>
            <a:pPr marL="0" indent="0">
              <a:buNone/>
            </a:pPr>
            <a:r>
              <a:rPr lang="en-US" sz="1200" b="1">
                <a:solidFill>
                  <a:srgbClr val="8A6F82"/>
                </a:solidFill>
              </a:rPr>
              <a:t>Weeks 2–3</a:t>
            </a:r>
          </a:p>
        </p:txBody>
      </p:sp>
      <p:sp>
        <p:nvSpPr>
          <p:cNvPr id="18" name="Text 15"/>
          <p:cNvSpPr/>
          <p:nvPr>
            <p:custDataLst>
              <p:tags r:id="rId5"/>
            </p:custDataLst>
          </p:nvPr>
        </p:nvSpPr>
        <p:spPr>
          <a:xfrm>
            <a:off x="2514600" y="3200400"/>
            <a:ext cx="2834640" cy="201168"/>
          </a:xfrm>
          <a:prstGeom prst="rect">
            <a:avLst/>
          </a:prstGeom>
          <a:noFill/>
        </p:spPr>
        <p:txBody>
          <a:bodyPr wrap="square" lIns="0" tIns="0" rIns="0" bIns="0" rtlCol="0" anchor="ctr"/>
          <a:lstStyle/>
          <a:p>
            <a:pPr marL="0" indent="0">
              <a:buNone/>
            </a:pPr>
            <a:r>
              <a:rPr lang="en-US" sz="1200" b="1">
                <a:solidFill>
                  <a:srgbClr val="123B5D"/>
                </a:solidFill>
              </a:rPr>
              <a:t>Research &amp; Current-State Assessment</a:t>
            </a:r>
          </a:p>
        </p:txBody>
      </p:sp>
      <p:sp>
        <p:nvSpPr>
          <p:cNvPr id="19" name="Text 16"/>
          <p:cNvSpPr/>
          <p:nvPr>
            <p:custDataLst>
              <p:tags r:id="rId6"/>
            </p:custDataLst>
          </p:nvPr>
        </p:nvSpPr>
        <p:spPr>
          <a:xfrm>
            <a:off x="5486400" y="3200400"/>
            <a:ext cx="5715635" cy="255905"/>
          </a:xfrm>
          <a:prstGeom prst="rect">
            <a:avLst/>
          </a:prstGeom>
          <a:noFill/>
        </p:spPr>
        <p:txBody>
          <a:bodyPr wrap="square" lIns="0" tIns="0" rIns="0" bIns="0" rtlCol="0" anchor="ctr">
            <a:noAutofit/>
          </a:bodyPr>
          <a:lstStyle/>
          <a:p>
            <a:pPr marL="0" indent="0">
              <a:buNone/>
            </a:pPr>
            <a:r>
              <a:rPr lang="en-US" sz="1200">
                <a:solidFill>
                  <a:srgbClr val="374151"/>
                </a:solidFill>
              </a:rPr>
              <a:t>Conduct secondary research, interviews or surveys, document review, and process mapping.</a:t>
            </a:r>
          </a:p>
        </p:txBody>
      </p:sp>
      <p:sp>
        <p:nvSpPr>
          <p:cNvPr id="20" name="Shape 17"/>
          <p:cNvSpPr/>
          <p:nvPr/>
        </p:nvSpPr>
        <p:spPr>
          <a:xfrm>
            <a:off x="822960" y="3904488"/>
            <a:ext cx="292608" cy="292608"/>
          </a:xfrm>
          <a:prstGeom prst="ellipse">
            <a:avLst/>
          </a:prstGeom>
          <a:solidFill>
            <a:srgbClr val="9A8C82"/>
          </a:solidFill>
          <a:ln w="12700">
            <a:solidFill>
              <a:srgbClr val="9A8C82"/>
            </a:solidFill>
            <a:prstDash val="solid"/>
          </a:ln>
        </p:spPr>
        <p:txBody>
          <a:bodyPr/>
          <a:lstStyle/>
          <a:p>
            <a:endParaRPr lang="en-US"/>
          </a:p>
        </p:txBody>
      </p:sp>
      <p:sp>
        <p:nvSpPr>
          <p:cNvPr id="21" name="Shape 18"/>
          <p:cNvSpPr/>
          <p:nvPr/>
        </p:nvSpPr>
        <p:spPr>
          <a:xfrm>
            <a:off x="969264" y="4215384"/>
            <a:ext cx="0" cy="393192"/>
          </a:xfrm>
          <a:prstGeom prst="line">
            <a:avLst/>
          </a:prstGeom>
          <a:noFill/>
          <a:ln w="25400">
            <a:solidFill>
              <a:srgbClr val="D9E2EC"/>
            </a:solidFill>
            <a:prstDash val="solid"/>
          </a:ln>
        </p:spPr>
        <p:txBody>
          <a:bodyPr/>
          <a:lstStyle/>
          <a:p>
            <a:endParaRPr lang="en-US"/>
          </a:p>
        </p:txBody>
      </p:sp>
      <p:sp>
        <p:nvSpPr>
          <p:cNvPr id="22" name="Text 19"/>
          <p:cNvSpPr/>
          <p:nvPr>
            <p:custDataLst>
              <p:tags r:id="rId7"/>
            </p:custDataLst>
          </p:nvPr>
        </p:nvSpPr>
        <p:spPr>
          <a:xfrm>
            <a:off x="1325880" y="3886200"/>
            <a:ext cx="1143000" cy="201168"/>
          </a:xfrm>
          <a:prstGeom prst="rect">
            <a:avLst/>
          </a:prstGeom>
          <a:noFill/>
        </p:spPr>
        <p:txBody>
          <a:bodyPr wrap="square" lIns="0" tIns="0" rIns="0" bIns="0" rtlCol="0" anchor="ctr"/>
          <a:lstStyle/>
          <a:p>
            <a:pPr marL="0" indent="0">
              <a:buNone/>
            </a:pPr>
            <a:r>
              <a:rPr lang="en-US" sz="1200" b="1">
                <a:solidFill>
                  <a:srgbClr val="9A8C82"/>
                </a:solidFill>
              </a:rPr>
              <a:t>Weeks 4–6</a:t>
            </a:r>
          </a:p>
        </p:txBody>
      </p:sp>
      <p:sp>
        <p:nvSpPr>
          <p:cNvPr id="23" name="Text 20"/>
          <p:cNvSpPr/>
          <p:nvPr>
            <p:custDataLst>
              <p:tags r:id="rId8"/>
            </p:custDataLst>
          </p:nvPr>
        </p:nvSpPr>
        <p:spPr>
          <a:xfrm>
            <a:off x="2514600" y="3886200"/>
            <a:ext cx="2834640" cy="201168"/>
          </a:xfrm>
          <a:prstGeom prst="rect">
            <a:avLst/>
          </a:prstGeom>
          <a:noFill/>
        </p:spPr>
        <p:txBody>
          <a:bodyPr wrap="square" lIns="0" tIns="0" rIns="0" bIns="0" rtlCol="0" anchor="ctr"/>
          <a:lstStyle/>
          <a:p>
            <a:pPr marL="0" indent="0">
              <a:buNone/>
            </a:pPr>
            <a:r>
              <a:rPr lang="en-US" sz="1200" b="1">
                <a:solidFill>
                  <a:srgbClr val="123B5D"/>
                </a:solidFill>
              </a:rPr>
              <a:t>Analysis &amp; Insight Development</a:t>
            </a:r>
          </a:p>
        </p:txBody>
      </p:sp>
      <p:sp>
        <p:nvSpPr>
          <p:cNvPr id="24" name="Text 21"/>
          <p:cNvSpPr/>
          <p:nvPr>
            <p:custDataLst>
              <p:tags r:id="rId9"/>
            </p:custDataLst>
          </p:nvPr>
        </p:nvSpPr>
        <p:spPr>
          <a:xfrm>
            <a:off x="5486400" y="3886200"/>
            <a:ext cx="5715635" cy="255905"/>
          </a:xfrm>
          <a:prstGeom prst="rect">
            <a:avLst/>
          </a:prstGeom>
          <a:noFill/>
        </p:spPr>
        <p:txBody>
          <a:bodyPr wrap="square" lIns="0" tIns="0" rIns="0" bIns="0" rtlCol="0" anchor="ctr">
            <a:normAutofit/>
          </a:bodyPr>
          <a:lstStyle/>
          <a:p>
            <a:pPr marL="0" indent="0">
              <a:buNone/>
            </a:pPr>
            <a:r>
              <a:rPr lang="en-US" sz="1200">
                <a:solidFill>
                  <a:srgbClr val="374151"/>
                </a:solidFill>
              </a:rPr>
              <a:t>Complete analysis, test hypotheses, conduct midpoint check-in, and develop findings.</a:t>
            </a:r>
          </a:p>
        </p:txBody>
      </p:sp>
      <p:sp>
        <p:nvSpPr>
          <p:cNvPr id="25" name="Shape 22"/>
          <p:cNvSpPr/>
          <p:nvPr/>
        </p:nvSpPr>
        <p:spPr>
          <a:xfrm>
            <a:off x="822960" y="4590288"/>
            <a:ext cx="292608" cy="292608"/>
          </a:xfrm>
          <a:prstGeom prst="ellipse">
            <a:avLst/>
          </a:prstGeom>
          <a:solidFill>
            <a:srgbClr val="6D7C8A"/>
          </a:solidFill>
          <a:ln w="12700">
            <a:solidFill>
              <a:srgbClr val="6D7C8A"/>
            </a:solidFill>
            <a:prstDash val="solid"/>
          </a:ln>
        </p:spPr>
        <p:txBody>
          <a:bodyPr/>
          <a:lstStyle/>
          <a:p>
            <a:endParaRPr lang="en-US"/>
          </a:p>
        </p:txBody>
      </p:sp>
      <p:sp>
        <p:nvSpPr>
          <p:cNvPr id="26" name="Shape 23"/>
          <p:cNvSpPr/>
          <p:nvPr/>
        </p:nvSpPr>
        <p:spPr>
          <a:xfrm>
            <a:off x="969264" y="4901184"/>
            <a:ext cx="0" cy="393192"/>
          </a:xfrm>
          <a:prstGeom prst="line">
            <a:avLst/>
          </a:prstGeom>
          <a:noFill/>
          <a:ln w="25400">
            <a:solidFill>
              <a:srgbClr val="D9E2EC"/>
            </a:solidFill>
            <a:prstDash val="solid"/>
          </a:ln>
        </p:spPr>
        <p:txBody>
          <a:bodyPr/>
          <a:lstStyle/>
          <a:p>
            <a:endParaRPr lang="en-US"/>
          </a:p>
        </p:txBody>
      </p:sp>
      <p:sp>
        <p:nvSpPr>
          <p:cNvPr id="27" name="Text 24"/>
          <p:cNvSpPr/>
          <p:nvPr>
            <p:custDataLst>
              <p:tags r:id="rId10"/>
            </p:custDataLst>
          </p:nvPr>
        </p:nvSpPr>
        <p:spPr>
          <a:xfrm>
            <a:off x="1325880" y="4572000"/>
            <a:ext cx="1143000" cy="201168"/>
          </a:xfrm>
          <a:prstGeom prst="rect">
            <a:avLst/>
          </a:prstGeom>
          <a:noFill/>
        </p:spPr>
        <p:txBody>
          <a:bodyPr wrap="square" lIns="0" tIns="0" rIns="0" bIns="0" rtlCol="0" anchor="ctr"/>
          <a:lstStyle/>
          <a:p>
            <a:pPr marL="0" indent="0">
              <a:buNone/>
            </a:pPr>
            <a:r>
              <a:rPr lang="en-US" sz="1200" b="1">
                <a:solidFill>
                  <a:srgbClr val="6D7C8A"/>
                </a:solidFill>
              </a:rPr>
              <a:t>Weeks 7–8</a:t>
            </a:r>
          </a:p>
        </p:txBody>
      </p:sp>
      <p:sp>
        <p:nvSpPr>
          <p:cNvPr id="28" name="Text 25"/>
          <p:cNvSpPr/>
          <p:nvPr>
            <p:custDataLst>
              <p:tags r:id="rId11"/>
            </p:custDataLst>
          </p:nvPr>
        </p:nvSpPr>
        <p:spPr>
          <a:xfrm>
            <a:off x="2514600" y="4572000"/>
            <a:ext cx="2834640" cy="201168"/>
          </a:xfrm>
          <a:prstGeom prst="rect">
            <a:avLst/>
          </a:prstGeom>
          <a:noFill/>
        </p:spPr>
        <p:txBody>
          <a:bodyPr wrap="square" lIns="0" tIns="0" rIns="0" bIns="0" rtlCol="0" anchor="ctr"/>
          <a:lstStyle/>
          <a:p>
            <a:pPr marL="0" indent="0">
              <a:buNone/>
            </a:pPr>
            <a:r>
              <a:rPr lang="en-US" sz="1200" b="1">
                <a:solidFill>
                  <a:srgbClr val="123B5D"/>
                </a:solidFill>
              </a:rPr>
              <a:t>Recommendations &amp; Roadmap</a:t>
            </a:r>
          </a:p>
        </p:txBody>
      </p:sp>
      <p:sp>
        <p:nvSpPr>
          <p:cNvPr id="29" name="Text 26"/>
          <p:cNvSpPr/>
          <p:nvPr>
            <p:custDataLst>
              <p:tags r:id="rId12"/>
            </p:custDataLst>
          </p:nvPr>
        </p:nvSpPr>
        <p:spPr>
          <a:xfrm>
            <a:off x="5486400" y="4572000"/>
            <a:ext cx="5715635" cy="255905"/>
          </a:xfrm>
          <a:prstGeom prst="rect">
            <a:avLst/>
          </a:prstGeom>
          <a:noFill/>
        </p:spPr>
        <p:txBody>
          <a:bodyPr wrap="square" lIns="0" tIns="0" rIns="0" bIns="0" rtlCol="0" anchor="ctr">
            <a:normAutofit/>
          </a:bodyPr>
          <a:lstStyle/>
          <a:p>
            <a:pPr marL="0" indent="0">
              <a:buNone/>
            </a:pPr>
            <a:r>
              <a:rPr lang="en-US" sz="1200">
                <a:solidFill>
                  <a:srgbClr val="374151"/>
                </a:solidFill>
              </a:rPr>
              <a:t>Build recommendations, prioritize options, develop roadmap, and incorporate feedback.</a:t>
            </a:r>
          </a:p>
        </p:txBody>
      </p:sp>
      <p:sp>
        <p:nvSpPr>
          <p:cNvPr id="30" name="Shape 27"/>
          <p:cNvSpPr/>
          <p:nvPr/>
        </p:nvSpPr>
        <p:spPr>
          <a:xfrm>
            <a:off x="822960" y="5276088"/>
            <a:ext cx="292608" cy="292608"/>
          </a:xfrm>
          <a:prstGeom prst="ellipse">
            <a:avLst/>
          </a:prstGeom>
          <a:solidFill>
            <a:srgbClr val="5B7892"/>
          </a:solidFill>
          <a:ln w="12700">
            <a:solidFill>
              <a:srgbClr val="5B7892"/>
            </a:solidFill>
            <a:prstDash val="solid"/>
          </a:ln>
        </p:spPr>
        <p:txBody>
          <a:bodyPr/>
          <a:lstStyle/>
          <a:p>
            <a:endParaRPr lang="en-US"/>
          </a:p>
        </p:txBody>
      </p:sp>
      <p:sp>
        <p:nvSpPr>
          <p:cNvPr id="31" name="Text 28"/>
          <p:cNvSpPr/>
          <p:nvPr>
            <p:custDataLst>
              <p:tags r:id="rId13"/>
            </p:custDataLst>
          </p:nvPr>
        </p:nvSpPr>
        <p:spPr>
          <a:xfrm>
            <a:off x="1325880" y="5257800"/>
            <a:ext cx="1143000" cy="201168"/>
          </a:xfrm>
          <a:prstGeom prst="rect">
            <a:avLst/>
          </a:prstGeom>
          <a:noFill/>
        </p:spPr>
        <p:txBody>
          <a:bodyPr wrap="square" lIns="0" tIns="0" rIns="0" bIns="0" rtlCol="0" anchor="ctr"/>
          <a:lstStyle/>
          <a:p>
            <a:pPr marL="0" indent="0">
              <a:buNone/>
            </a:pPr>
            <a:r>
              <a:rPr lang="en-US" sz="1200" b="1">
                <a:solidFill>
                  <a:srgbClr val="5B7892"/>
                </a:solidFill>
              </a:rPr>
              <a:t>Final Week</a:t>
            </a:r>
          </a:p>
        </p:txBody>
      </p:sp>
      <p:sp>
        <p:nvSpPr>
          <p:cNvPr id="32" name="Text 29"/>
          <p:cNvSpPr/>
          <p:nvPr>
            <p:custDataLst>
              <p:tags r:id="rId14"/>
            </p:custDataLst>
          </p:nvPr>
        </p:nvSpPr>
        <p:spPr>
          <a:xfrm>
            <a:off x="2514600" y="5257800"/>
            <a:ext cx="2834640" cy="201168"/>
          </a:xfrm>
          <a:prstGeom prst="rect">
            <a:avLst/>
          </a:prstGeom>
          <a:noFill/>
        </p:spPr>
        <p:txBody>
          <a:bodyPr wrap="square" lIns="0" tIns="0" rIns="0" bIns="0" rtlCol="0" anchor="ctr"/>
          <a:lstStyle/>
          <a:p>
            <a:pPr marL="0" indent="0">
              <a:buNone/>
            </a:pPr>
            <a:r>
              <a:rPr lang="en-US" altLang="zh-CN" sz="1200" b="1">
                <a:solidFill>
                  <a:srgbClr val="123B5D"/>
                </a:solidFill>
              </a:rPr>
              <a:t>Final Presentation &amp; Next Steps</a:t>
            </a:r>
          </a:p>
        </p:txBody>
      </p:sp>
      <p:sp>
        <p:nvSpPr>
          <p:cNvPr id="33" name="Text 30"/>
          <p:cNvSpPr/>
          <p:nvPr>
            <p:custDataLst>
              <p:tags r:id="rId15"/>
            </p:custDataLst>
          </p:nvPr>
        </p:nvSpPr>
        <p:spPr>
          <a:xfrm>
            <a:off x="5486400" y="5257800"/>
            <a:ext cx="5715635" cy="255905"/>
          </a:xfrm>
          <a:prstGeom prst="rect">
            <a:avLst/>
          </a:prstGeom>
          <a:noFill/>
        </p:spPr>
        <p:txBody>
          <a:bodyPr wrap="square" lIns="0" tIns="0" rIns="0" bIns="0" rtlCol="0" anchor="ctr">
            <a:normAutofit/>
          </a:bodyPr>
          <a:lstStyle/>
          <a:p>
            <a:pPr marL="0" indent="0">
              <a:buNone/>
            </a:pPr>
            <a:r>
              <a:rPr lang="en-US" altLang="zh-CN" sz="1200">
                <a:solidFill>
                  <a:srgbClr val="374151"/>
                </a:solidFill>
              </a:rPr>
              <a:t>Present findings, discuss implications, align on next steps, and provide final materials.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3"/>
          <a:stretch>
            <a:fillRect/>
          </a:stretch>
        </p:blipFill>
        <p:spPr>
          <a:xfrm>
            <a:off x="502920" y="292608"/>
            <a:ext cx="1417320" cy="519684"/>
          </a:xfrm>
          <a:prstGeom prst="rect">
            <a:avLst/>
          </a:prstGeom>
          <a:effectLst/>
        </p:spPr>
      </p:pic>
      <p:sp>
        <p:nvSpPr>
          <p:cNvPr id="3" name="Text 0"/>
          <p:cNvSpPr/>
          <p:nvPr/>
        </p:nvSpPr>
        <p:spPr>
          <a:xfrm>
            <a:off x="658368" y="868680"/>
            <a:ext cx="3291840" cy="201168"/>
          </a:xfrm>
          <a:prstGeom prst="rect">
            <a:avLst/>
          </a:prstGeom>
          <a:noFill/>
          <a:effectLst/>
        </p:spPr>
        <p:txBody>
          <a:bodyPr wrap="square" lIns="0" tIns="0" rIns="0" bIns="0" rtlCol="0" anchor="ctr"/>
          <a:lstStyle/>
          <a:p>
            <a:pPr marL="0" indent="0">
              <a:buNone/>
            </a:pPr>
            <a:r>
              <a:rPr lang="en-US" sz="750" b="1">
                <a:solidFill>
                  <a:srgbClr val="5B7892"/>
                </a:solidFill>
              </a:rPr>
              <a:t>POSITIONING</a:t>
            </a:r>
          </a:p>
        </p:txBody>
      </p:sp>
      <p:sp>
        <p:nvSpPr>
          <p:cNvPr id="4" name="Text 1"/>
          <p:cNvSpPr/>
          <p:nvPr/>
        </p:nvSpPr>
        <p:spPr>
          <a:xfrm>
            <a:off x="640080" y="1097280"/>
            <a:ext cx="8778240" cy="438912"/>
          </a:xfrm>
          <a:prstGeom prst="rect">
            <a:avLst/>
          </a:prstGeom>
          <a:noFill/>
          <a:effectLst/>
        </p:spPr>
        <p:txBody>
          <a:bodyPr wrap="square" lIns="0" tIns="0" rIns="0" bIns="0" rtlCol="0" anchor="ctr"/>
          <a:lstStyle/>
          <a:p>
            <a:pPr marL="0" indent="0">
              <a:buNone/>
            </a:pPr>
            <a:r>
              <a:rPr lang="en-US" sz="2300" b="1">
                <a:solidFill>
                  <a:srgbClr val="123B5D"/>
                </a:solidFill>
                <a:latin typeface="Aptos Display" pitchFamily="34" charset="0"/>
                <a:ea typeface="Aptos Display" pitchFamily="34" charset="-122"/>
                <a:cs typeface="Aptos Display" pitchFamily="34" charset="-120"/>
              </a:rPr>
              <a:t>Why Impact Is Different</a:t>
            </a:r>
            <a:endParaRPr lang="en-US" sz="2300"/>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a:effectLst/>
        </p:spPr>
        <p:txBody>
          <a:bodyPr/>
          <a:lstStyle/>
          <a:p>
            <a:endParaRPr lang="en-US"/>
          </a:p>
        </p:txBody>
      </p:sp>
      <p:sp>
        <p:nvSpPr>
          <p:cNvPr id="6" name="Shape 3"/>
          <p:cNvSpPr/>
          <p:nvPr/>
        </p:nvSpPr>
        <p:spPr>
          <a:xfrm>
            <a:off x="502920" y="6428232"/>
            <a:ext cx="11201400" cy="0"/>
          </a:xfrm>
          <a:prstGeom prst="line">
            <a:avLst/>
          </a:prstGeom>
          <a:noFill/>
          <a:ln w="8890">
            <a:solidFill>
              <a:srgbClr val="D9E2EC"/>
            </a:solidFill>
            <a:prstDash val="solid"/>
          </a:ln>
          <a:effectLst/>
        </p:spPr>
        <p:txBody>
          <a:bodyPr/>
          <a:lstStyle/>
          <a:p>
            <a:endParaRPr lang="en-US"/>
          </a:p>
        </p:txBody>
      </p:sp>
      <p:sp>
        <p:nvSpPr>
          <p:cNvPr id="7" name="Text 4"/>
          <p:cNvSpPr/>
          <p:nvPr/>
        </p:nvSpPr>
        <p:spPr>
          <a:xfrm>
            <a:off x="502920" y="6510528"/>
            <a:ext cx="5029200" cy="164592"/>
          </a:xfrm>
          <a:prstGeom prst="rect">
            <a:avLst/>
          </a:prstGeom>
          <a:noFill/>
          <a:effectLst/>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9" name="Text 6"/>
          <p:cNvSpPr/>
          <p:nvPr/>
        </p:nvSpPr>
        <p:spPr>
          <a:xfrm>
            <a:off x="640080" y="1874520"/>
            <a:ext cx="7772400" cy="292608"/>
          </a:xfrm>
          <a:prstGeom prst="rect">
            <a:avLst/>
          </a:prstGeom>
          <a:noFill/>
          <a:effectLst/>
        </p:spPr>
        <p:txBody>
          <a:bodyPr wrap="square" lIns="0" tIns="0" rIns="0" bIns="0" rtlCol="0" anchor="ctr"/>
          <a:lstStyle/>
          <a:p>
            <a:pPr marL="0" indent="0">
              <a:buNone/>
            </a:pPr>
            <a:r>
              <a:rPr lang="en-US" sz="1500" b="1">
                <a:solidFill>
                  <a:srgbClr val="111827"/>
                </a:solidFill>
              </a:rPr>
              <a:t>Impact combines the structure of a consulting engagement with the accessibility and flexibility of a student-led model.</a:t>
            </a:r>
          </a:p>
        </p:txBody>
      </p:sp>
      <p:sp>
        <p:nvSpPr>
          <p:cNvPr id="11" name="Shape 7"/>
          <p:cNvSpPr/>
          <p:nvPr/>
        </p:nvSpPr>
        <p:spPr>
          <a:xfrm>
            <a:off x="1330960" y="5833110"/>
            <a:ext cx="9431020" cy="457200"/>
          </a:xfrm>
          <a:prstGeom prst="roundRect">
            <a:avLst>
              <a:gd name="adj" fmla="val 10000"/>
            </a:avLst>
          </a:prstGeom>
          <a:solidFill>
            <a:srgbClr val="F4F7FA"/>
          </a:solidFill>
          <a:ln w="12700">
            <a:solidFill>
              <a:srgbClr val="F4F7FA"/>
            </a:solidFill>
            <a:prstDash val="solid"/>
          </a:ln>
          <a:effectLst/>
        </p:spPr>
        <p:txBody>
          <a:bodyPr/>
          <a:lstStyle/>
          <a:p>
            <a:endParaRPr lang="en-US"/>
          </a:p>
        </p:txBody>
      </p:sp>
      <p:sp>
        <p:nvSpPr>
          <p:cNvPr id="12" name="Text 8"/>
          <p:cNvSpPr/>
          <p:nvPr/>
        </p:nvSpPr>
        <p:spPr>
          <a:xfrm>
            <a:off x="1353185" y="5925820"/>
            <a:ext cx="9255760" cy="271780"/>
          </a:xfrm>
          <a:prstGeom prst="rect">
            <a:avLst/>
          </a:prstGeom>
          <a:noFill/>
          <a:effectLst/>
        </p:spPr>
        <p:txBody>
          <a:bodyPr wrap="square" lIns="0" tIns="0" rIns="0" bIns="0" rtlCol="0" anchor="ctr">
            <a:noAutofit/>
          </a:bodyPr>
          <a:lstStyle/>
          <a:p>
            <a:pPr marL="0" indent="0" algn="ctr">
              <a:buNone/>
            </a:pPr>
            <a:r>
              <a:rPr lang="en-US" altLang="zh-CN" sz="1100" b="1">
                <a:solidFill>
                  <a:srgbClr val="0B2F4A"/>
                </a:solidFill>
                <a:latin typeface="Aptos"/>
              </a:rPr>
              <a:t>Impact is designed for focused business questions that benefit from structured analysis, practical recommendations, and a clear next step.</a:t>
            </a:r>
          </a:p>
        </p:txBody>
      </p:sp>
      <p:sp>
        <p:nvSpPr>
          <p:cNvPr id="13" name="Rectangle 6"/>
          <p:cNvSpPr/>
          <p:nvPr/>
        </p:nvSpPr>
        <p:spPr>
          <a:xfrm>
            <a:off x="4325430" y="2675763"/>
            <a:ext cx="2852928" cy="1220175"/>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7"/>
          <p:cNvCxnSpPr/>
          <p:nvPr/>
        </p:nvCxnSpPr>
        <p:spPr>
          <a:xfrm flipV="1">
            <a:off x="2720658" y="2675763"/>
            <a:ext cx="0" cy="2542032"/>
          </a:xfrm>
          <a:prstGeom prst="line">
            <a:avLst/>
          </a:prstGeom>
          <a:ln w="5715">
            <a:solidFill>
              <a:srgbClr val="E4E9EE"/>
            </a:solidFill>
          </a:ln>
          <a:effectLst/>
        </p:spPr>
        <p:style>
          <a:lnRef idx="2">
            <a:schemeClr val="accent1"/>
          </a:lnRef>
          <a:fillRef idx="0">
            <a:schemeClr val="accent1"/>
          </a:fillRef>
          <a:effectRef idx="1">
            <a:schemeClr val="accent1"/>
          </a:effectRef>
          <a:fontRef idx="minor">
            <a:schemeClr val="tx1"/>
          </a:fontRef>
        </p:style>
      </p:cxnSp>
      <p:cxnSp>
        <p:nvCxnSpPr>
          <p:cNvPr id="15" name="Connector 8"/>
          <p:cNvCxnSpPr/>
          <p:nvPr/>
        </p:nvCxnSpPr>
        <p:spPr>
          <a:xfrm>
            <a:off x="1234758" y="4582287"/>
            <a:ext cx="5943600" cy="0"/>
          </a:xfrm>
          <a:prstGeom prst="line">
            <a:avLst/>
          </a:prstGeom>
          <a:ln w="5715">
            <a:solidFill>
              <a:srgbClr val="E4E9EE"/>
            </a:solidFill>
          </a:ln>
          <a:effectLst/>
        </p:spPr>
        <p:style>
          <a:lnRef idx="2">
            <a:schemeClr val="accent1"/>
          </a:lnRef>
          <a:fillRef idx="0">
            <a:schemeClr val="accent1"/>
          </a:fillRef>
          <a:effectRef idx="1">
            <a:schemeClr val="accent1"/>
          </a:effectRef>
          <a:fontRef idx="minor">
            <a:schemeClr val="tx1"/>
          </a:fontRef>
        </p:style>
      </p:cxnSp>
      <p:cxnSp>
        <p:nvCxnSpPr>
          <p:cNvPr id="16" name="Connector 9"/>
          <p:cNvCxnSpPr/>
          <p:nvPr/>
        </p:nvCxnSpPr>
        <p:spPr>
          <a:xfrm flipV="1">
            <a:off x="4206558" y="2675763"/>
            <a:ext cx="0" cy="2542032"/>
          </a:xfrm>
          <a:prstGeom prst="line">
            <a:avLst/>
          </a:prstGeom>
          <a:ln w="5715">
            <a:solidFill>
              <a:srgbClr val="E4E9EE"/>
            </a:solidFill>
          </a:ln>
          <a:effectLst/>
        </p:spPr>
        <p:style>
          <a:lnRef idx="2">
            <a:schemeClr val="accent1"/>
          </a:lnRef>
          <a:fillRef idx="0">
            <a:schemeClr val="accent1"/>
          </a:fillRef>
          <a:effectRef idx="1">
            <a:schemeClr val="accent1"/>
          </a:effectRef>
          <a:fontRef idx="minor">
            <a:schemeClr val="tx1"/>
          </a:fontRef>
        </p:style>
      </p:cxnSp>
      <p:cxnSp>
        <p:nvCxnSpPr>
          <p:cNvPr id="17" name="Connector 10"/>
          <p:cNvCxnSpPr/>
          <p:nvPr/>
        </p:nvCxnSpPr>
        <p:spPr>
          <a:xfrm>
            <a:off x="1234758" y="3946779"/>
            <a:ext cx="5943600" cy="0"/>
          </a:xfrm>
          <a:prstGeom prst="line">
            <a:avLst/>
          </a:prstGeom>
          <a:ln w="5715">
            <a:solidFill>
              <a:srgbClr val="E4E9EE"/>
            </a:solidFill>
          </a:ln>
          <a:effectLst/>
        </p:spPr>
        <p:style>
          <a:lnRef idx="2">
            <a:schemeClr val="accent1"/>
          </a:lnRef>
          <a:fillRef idx="0">
            <a:schemeClr val="accent1"/>
          </a:fillRef>
          <a:effectRef idx="1">
            <a:schemeClr val="accent1"/>
          </a:effectRef>
          <a:fontRef idx="minor">
            <a:schemeClr val="tx1"/>
          </a:fontRef>
        </p:style>
      </p:cxnSp>
      <p:cxnSp>
        <p:nvCxnSpPr>
          <p:cNvPr id="18" name="Connector 11"/>
          <p:cNvCxnSpPr/>
          <p:nvPr/>
        </p:nvCxnSpPr>
        <p:spPr>
          <a:xfrm flipV="1">
            <a:off x="5692458" y="2675763"/>
            <a:ext cx="0" cy="2542032"/>
          </a:xfrm>
          <a:prstGeom prst="line">
            <a:avLst/>
          </a:prstGeom>
          <a:ln w="5715">
            <a:solidFill>
              <a:srgbClr val="E4E9EE"/>
            </a:solidFill>
          </a:ln>
          <a:effectLst/>
        </p:spPr>
        <p:style>
          <a:lnRef idx="2">
            <a:schemeClr val="accent1"/>
          </a:lnRef>
          <a:fillRef idx="0">
            <a:schemeClr val="accent1"/>
          </a:fillRef>
          <a:effectRef idx="1">
            <a:schemeClr val="accent1"/>
          </a:effectRef>
          <a:fontRef idx="minor">
            <a:schemeClr val="tx1"/>
          </a:fontRef>
        </p:style>
      </p:cxnSp>
      <p:cxnSp>
        <p:nvCxnSpPr>
          <p:cNvPr id="19" name="Connector 12"/>
          <p:cNvCxnSpPr/>
          <p:nvPr/>
        </p:nvCxnSpPr>
        <p:spPr>
          <a:xfrm>
            <a:off x="1234758" y="3311271"/>
            <a:ext cx="5943600" cy="0"/>
          </a:xfrm>
          <a:prstGeom prst="line">
            <a:avLst/>
          </a:prstGeom>
          <a:ln w="5715">
            <a:solidFill>
              <a:srgbClr val="E4E9EE"/>
            </a:solidFill>
          </a:ln>
          <a:effectLst/>
        </p:spPr>
        <p:style>
          <a:lnRef idx="2">
            <a:schemeClr val="accent1"/>
          </a:lnRef>
          <a:fillRef idx="0">
            <a:schemeClr val="accent1"/>
          </a:fillRef>
          <a:effectRef idx="1">
            <a:schemeClr val="accent1"/>
          </a:effectRef>
          <a:fontRef idx="minor">
            <a:schemeClr val="tx1"/>
          </a:fontRef>
        </p:style>
      </p:cxnSp>
      <p:cxnSp>
        <p:nvCxnSpPr>
          <p:cNvPr id="20" name="Connector 13"/>
          <p:cNvCxnSpPr/>
          <p:nvPr/>
        </p:nvCxnSpPr>
        <p:spPr>
          <a:xfrm>
            <a:off x="1234758" y="5217795"/>
            <a:ext cx="5943600" cy="0"/>
          </a:xfrm>
          <a:prstGeom prst="line">
            <a:avLst/>
          </a:prstGeom>
          <a:ln w="15240">
            <a:solidFill>
              <a:srgbClr val="526271"/>
            </a:solidFill>
          </a:ln>
          <a:effectLst/>
        </p:spPr>
        <p:style>
          <a:lnRef idx="2">
            <a:schemeClr val="accent1"/>
          </a:lnRef>
          <a:fillRef idx="0">
            <a:schemeClr val="accent1"/>
          </a:fillRef>
          <a:effectRef idx="1">
            <a:schemeClr val="accent1"/>
          </a:effectRef>
          <a:fontRef idx="minor">
            <a:schemeClr val="tx1"/>
          </a:fontRef>
        </p:style>
      </p:cxnSp>
      <p:cxnSp>
        <p:nvCxnSpPr>
          <p:cNvPr id="21" name="Connector 14"/>
          <p:cNvCxnSpPr/>
          <p:nvPr/>
        </p:nvCxnSpPr>
        <p:spPr>
          <a:xfrm flipV="1">
            <a:off x="1234758" y="2675763"/>
            <a:ext cx="0" cy="2542032"/>
          </a:xfrm>
          <a:prstGeom prst="line">
            <a:avLst/>
          </a:prstGeom>
          <a:ln w="15240">
            <a:solidFill>
              <a:srgbClr val="526271"/>
            </a:solidFill>
          </a:ln>
          <a:effectLst/>
        </p:spPr>
        <p:style>
          <a:lnRef idx="2">
            <a:schemeClr val="accent1"/>
          </a:lnRef>
          <a:fillRef idx="0">
            <a:schemeClr val="accent1"/>
          </a:fillRef>
          <a:effectRef idx="1">
            <a:schemeClr val="accent1"/>
          </a:effectRef>
          <a:fontRef idx="minor">
            <a:schemeClr val="tx1"/>
          </a:fontRef>
        </p:style>
      </p:cxnSp>
      <p:sp>
        <p:nvSpPr>
          <p:cNvPr id="22" name="Isosceles Triangle 15"/>
          <p:cNvSpPr/>
          <p:nvPr/>
        </p:nvSpPr>
        <p:spPr>
          <a:xfrm rot="5400000">
            <a:off x="7128066" y="5176647"/>
            <a:ext cx="100584" cy="82296"/>
          </a:xfrm>
          <a:prstGeom prst="triangle">
            <a:avLst/>
          </a:prstGeom>
          <a:solidFill>
            <a:srgbClr val="5262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16"/>
          <p:cNvSpPr/>
          <p:nvPr/>
        </p:nvSpPr>
        <p:spPr>
          <a:xfrm>
            <a:off x="1193610" y="2607183"/>
            <a:ext cx="82296" cy="100584"/>
          </a:xfrm>
          <a:prstGeom prst="triangle">
            <a:avLst/>
          </a:prstGeom>
          <a:solidFill>
            <a:srgbClr val="5262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7"/>
          <p:cNvSpPr txBox="1"/>
          <p:nvPr/>
        </p:nvSpPr>
        <p:spPr>
          <a:xfrm>
            <a:off x="1143318" y="5327523"/>
            <a:ext cx="365760" cy="146304"/>
          </a:xfrm>
          <a:prstGeom prst="rect">
            <a:avLst/>
          </a:prstGeom>
          <a:noFill/>
          <a:effectLst/>
        </p:spPr>
        <p:txBody>
          <a:bodyPr wrap="square" lIns="0" tIns="0" rIns="0" bIns="0" anchor="t">
            <a:noAutofit/>
          </a:bodyPr>
          <a:lstStyle/>
          <a:p>
            <a:pPr algn="l"/>
            <a:r>
              <a:rPr sz="1000" b="0">
                <a:solidFill>
                  <a:srgbClr val="526271"/>
                </a:solidFill>
                <a:latin typeface="Aptos"/>
              </a:rPr>
              <a:t>Low</a:t>
            </a:r>
          </a:p>
        </p:txBody>
      </p:sp>
      <p:sp>
        <p:nvSpPr>
          <p:cNvPr id="25" name="TextBox 18"/>
          <p:cNvSpPr txBox="1"/>
          <p:nvPr/>
        </p:nvSpPr>
        <p:spPr>
          <a:xfrm>
            <a:off x="6968045" y="5327523"/>
            <a:ext cx="411480" cy="146304"/>
          </a:xfrm>
          <a:prstGeom prst="rect">
            <a:avLst/>
          </a:prstGeom>
          <a:noFill/>
          <a:effectLst/>
        </p:spPr>
        <p:txBody>
          <a:bodyPr wrap="square" lIns="0" tIns="0" rIns="0" bIns="0" anchor="t">
            <a:noAutofit/>
          </a:bodyPr>
          <a:lstStyle/>
          <a:p>
            <a:pPr algn="l"/>
            <a:r>
              <a:rPr sz="1000" b="0">
                <a:solidFill>
                  <a:srgbClr val="526271"/>
                </a:solidFill>
                <a:latin typeface="Aptos"/>
              </a:rPr>
              <a:t>High</a:t>
            </a:r>
          </a:p>
        </p:txBody>
      </p:sp>
      <p:sp>
        <p:nvSpPr>
          <p:cNvPr id="26" name="TextBox 19"/>
          <p:cNvSpPr txBox="1"/>
          <p:nvPr/>
        </p:nvSpPr>
        <p:spPr>
          <a:xfrm>
            <a:off x="2722245" y="5327650"/>
            <a:ext cx="2974975" cy="164465"/>
          </a:xfrm>
          <a:prstGeom prst="rect">
            <a:avLst/>
          </a:prstGeom>
          <a:noFill/>
          <a:effectLst/>
        </p:spPr>
        <p:txBody>
          <a:bodyPr wrap="square" lIns="0" tIns="0" rIns="0" bIns="0" anchor="t">
            <a:noAutofit/>
          </a:bodyPr>
          <a:lstStyle/>
          <a:p>
            <a:pPr algn="ctr"/>
            <a:r>
              <a:rPr lang="en-US" altLang="zh-CN" sz="1000" b="1">
                <a:solidFill>
                  <a:srgbClr val="526271"/>
                </a:solidFill>
                <a:latin typeface="Aptos"/>
              </a:rPr>
              <a:t>Engagement structure &amp; accountability</a:t>
            </a:r>
          </a:p>
        </p:txBody>
      </p:sp>
      <p:sp>
        <p:nvSpPr>
          <p:cNvPr id="27" name="TextBox 20"/>
          <p:cNvSpPr txBox="1"/>
          <p:nvPr/>
        </p:nvSpPr>
        <p:spPr>
          <a:xfrm rot="16200000">
            <a:off x="100521" y="3892423"/>
            <a:ext cx="1554480" cy="164592"/>
          </a:xfrm>
          <a:prstGeom prst="rect">
            <a:avLst/>
          </a:prstGeom>
          <a:noFill/>
          <a:effectLst/>
        </p:spPr>
        <p:txBody>
          <a:bodyPr wrap="square" lIns="0" tIns="0" rIns="0" bIns="0" anchor="t">
            <a:noAutofit/>
          </a:bodyPr>
          <a:lstStyle/>
          <a:p>
            <a:pPr algn="ctr"/>
            <a:r>
              <a:rPr lang="en-US" altLang="zh-CN" sz="1000" b="1">
                <a:solidFill>
                  <a:srgbClr val="526271"/>
                </a:solidFill>
                <a:latin typeface="Aptos"/>
              </a:rPr>
              <a:t>Flexibility &amp; accessibility</a:t>
            </a:r>
          </a:p>
        </p:txBody>
      </p:sp>
      <p:sp>
        <p:nvSpPr>
          <p:cNvPr id="28" name="TextBox 21"/>
          <p:cNvSpPr txBox="1"/>
          <p:nvPr/>
        </p:nvSpPr>
        <p:spPr>
          <a:xfrm>
            <a:off x="759270" y="2657475"/>
            <a:ext cx="411480" cy="146304"/>
          </a:xfrm>
          <a:prstGeom prst="rect">
            <a:avLst/>
          </a:prstGeom>
          <a:noFill/>
          <a:effectLst/>
        </p:spPr>
        <p:txBody>
          <a:bodyPr wrap="square" lIns="0" tIns="0" rIns="0" bIns="0" anchor="t">
            <a:noAutofit/>
          </a:bodyPr>
          <a:lstStyle/>
          <a:p>
            <a:pPr algn="l"/>
            <a:r>
              <a:rPr sz="1000" b="0">
                <a:solidFill>
                  <a:srgbClr val="526271"/>
                </a:solidFill>
                <a:latin typeface="Aptos"/>
              </a:rPr>
              <a:t>High</a:t>
            </a:r>
          </a:p>
        </p:txBody>
      </p:sp>
      <p:sp>
        <p:nvSpPr>
          <p:cNvPr id="29" name="TextBox 22"/>
          <p:cNvSpPr txBox="1"/>
          <p:nvPr/>
        </p:nvSpPr>
        <p:spPr>
          <a:xfrm>
            <a:off x="795846" y="5109718"/>
            <a:ext cx="411480" cy="146304"/>
          </a:xfrm>
          <a:prstGeom prst="rect">
            <a:avLst/>
          </a:prstGeom>
          <a:noFill/>
          <a:effectLst/>
        </p:spPr>
        <p:txBody>
          <a:bodyPr wrap="square" lIns="0" tIns="0" rIns="0" bIns="0" anchor="t">
            <a:noAutofit/>
          </a:bodyPr>
          <a:lstStyle/>
          <a:p>
            <a:pPr algn="l"/>
            <a:r>
              <a:rPr sz="1000" b="0">
                <a:solidFill>
                  <a:srgbClr val="526271"/>
                </a:solidFill>
                <a:latin typeface="Aptos"/>
              </a:rPr>
              <a:t>Low</a:t>
            </a:r>
          </a:p>
        </p:txBody>
      </p:sp>
      <p:sp>
        <p:nvSpPr>
          <p:cNvPr id="30" name="Rounded Rectangle 23"/>
          <p:cNvSpPr/>
          <p:nvPr/>
        </p:nvSpPr>
        <p:spPr>
          <a:xfrm>
            <a:off x="5782310" y="2767330"/>
            <a:ext cx="1294130" cy="255905"/>
          </a:xfrm>
          <a:prstGeom prst="round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24"/>
          <p:cNvSpPr txBox="1"/>
          <p:nvPr/>
        </p:nvSpPr>
        <p:spPr>
          <a:xfrm>
            <a:off x="5713730" y="2840355"/>
            <a:ext cx="1419860" cy="177800"/>
          </a:xfrm>
          <a:prstGeom prst="rect">
            <a:avLst/>
          </a:prstGeom>
          <a:noFill/>
          <a:effectLst/>
        </p:spPr>
        <p:txBody>
          <a:bodyPr wrap="square" lIns="0" tIns="0" rIns="0" bIns="0" anchor="t">
            <a:noAutofit/>
          </a:bodyPr>
          <a:lstStyle/>
          <a:p>
            <a:pPr algn="ctr"/>
            <a:r>
              <a:rPr lang="en-US" altLang="zh-CN" sz="750" b="1">
                <a:solidFill>
                  <a:srgbClr val="5D768C"/>
                </a:solidFill>
                <a:latin typeface="Aptos"/>
              </a:rPr>
              <a:t>Focused engagement zone</a:t>
            </a:r>
          </a:p>
        </p:txBody>
      </p:sp>
      <p:sp>
        <p:nvSpPr>
          <p:cNvPr id="32" name="Oval 25"/>
          <p:cNvSpPr/>
          <p:nvPr/>
        </p:nvSpPr>
        <p:spPr>
          <a:xfrm>
            <a:off x="2377758" y="3222939"/>
            <a:ext cx="329184" cy="329184"/>
          </a:xfrm>
          <a:prstGeom prst="ellipse">
            <a:avLst/>
          </a:prstGeom>
          <a:solidFill>
            <a:srgbClr val="A6998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26"/>
          <p:cNvSpPr txBox="1"/>
          <p:nvPr/>
        </p:nvSpPr>
        <p:spPr>
          <a:xfrm>
            <a:off x="1512570" y="3634105"/>
            <a:ext cx="2038985" cy="365760"/>
          </a:xfrm>
          <a:prstGeom prst="rect">
            <a:avLst/>
          </a:prstGeom>
          <a:noFill/>
          <a:effectLst/>
        </p:spPr>
        <p:txBody>
          <a:bodyPr wrap="square" lIns="0" tIns="0" rIns="0" bIns="0" anchor="t">
            <a:noAutofit/>
          </a:bodyPr>
          <a:lstStyle/>
          <a:p>
            <a:pPr algn="ctr"/>
            <a:r>
              <a:rPr lang="en-US" altLang="zh-CN" sz="1200" b="1">
                <a:solidFill>
                  <a:srgbClr val="526271"/>
                </a:solidFill>
                <a:latin typeface="Aptos"/>
              </a:rPr>
              <a:t>Informal project support</a:t>
            </a:r>
          </a:p>
        </p:txBody>
      </p:sp>
      <p:sp>
        <p:nvSpPr>
          <p:cNvPr id="34" name="TextBox 27"/>
          <p:cNvSpPr txBox="1"/>
          <p:nvPr/>
        </p:nvSpPr>
        <p:spPr>
          <a:xfrm>
            <a:off x="1227455" y="3902710"/>
            <a:ext cx="2611120" cy="311150"/>
          </a:xfrm>
          <a:prstGeom prst="rect">
            <a:avLst/>
          </a:prstGeom>
          <a:noFill/>
          <a:effectLst/>
        </p:spPr>
        <p:txBody>
          <a:bodyPr wrap="square" lIns="0" tIns="0" rIns="0" bIns="0" anchor="t">
            <a:noAutofit/>
          </a:bodyPr>
          <a:lstStyle/>
          <a:p>
            <a:pPr algn="ctr"/>
            <a:r>
              <a:rPr lang="en-US" altLang="zh-CN" sz="1000" b="0">
                <a:solidFill>
                  <a:srgbClr val="526271"/>
                </a:solidFill>
                <a:latin typeface="Aptos"/>
              </a:rPr>
              <a:t>Flexible, but often less structured</a:t>
            </a:r>
          </a:p>
        </p:txBody>
      </p:sp>
      <p:sp>
        <p:nvSpPr>
          <p:cNvPr id="35" name="Oval 28"/>
          <p:cNvSpPr/>
          <p:nvPr/>
        </p:nvSpPr>
        <p:spPr>
          <a:xfrm>
            <a:off x="5628450" y="4297725"/>
            <a:ext cx="365760" cy="365760"/>
          </a:xfrm>
          <a:prstGeom prst="ellipse">
            <a:avLst/>
          </a:prstGeom>
          <a:solidFill>
            <a:srgbClr val="97A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29"/>
          <p:cNvSpPr txBox="1"/>
          <p:nvPr/>
        </p:nvSpPr>
        <p:spPr>
          <a:xfrm>
            <a:off x="4680585" y="4718050"/>
            <a:ext cx="2331720" cy="365760"/>
          </a:xfrm>
          <a:prstGeom prst="rect">
            <a:avLst/>
          </a:prstGeom>
          <a:noFill/>
          <a:effectLst/>
        </p:spPr>
        <p:txBody>
          <a:bodyPr wrap="square" lIns="0" tIns="0" rIns="0" bIns="0" anchor="t">
            <a:noAutofit/>
          </a:bodyPr>
          <a:lstStyle/>
          <a:p>
            <a:pPr algn="ctr"/>
            <a:r>
              <a:rPr lang="en-US" altLang="zh-CN" sz="1200" b="1">
                <a:solidFill>
                  <a:srgbClr val="526271"/>
                </a:solidFill>
                <a:latin typeface="Aptos"/>
              </a:rPr>
              <a:t>Full-scale consulting firm</a:t>
            </a:r>
          </a:p>
        </p:txBody>
      </p:sp>
      <p:sp>
        <p:nvSpPr>
          <p:cNvPr id="37" name="TextBox 30"/>
          <p:cNvSpPr txBox="1"/>
          <p:nvPr/>
        </p:nvSpPr>
        <p:spPr>
          <a:xfrm>
            <a:off x="4222115" y="4952365"/>
            <a:ext cx="3172460" cy="311150"/>
          </a:xfrm>
          <a:prstGeom prst="rect">
            <a:avLst/>
          </a:prstGeom>
          <a:noFill/>
          <a:effectLst/>
        </p:spPr>
        <p:txBody>
          <a:bodyPr wrap="square" lIns="0" tIns="0" rIns="0" bIns="0" anchor="t">
            <a:noAutofit/>
          </a:bodyPr>
          <a:lstStyle/>
          <a:p>
            <a:pPr algn="ctr"/>
            <a:r>
              <a:rPr lang="en-US" altLang="zh-CN" sz="1000" b="0">
                <a:solidFill>
                  <a:srgbClr val="526271"/>
                </a:solidFill>
                <a:latin typeface="Aptos"/>
              </a:rPr>
              <a:t>Highly structured, typically suited for larger mandates</a:t>
            </a:r>
          </a:p>
        </p:txBody>
      </p:sp>
      <p:sp>
        <p:nvSpPr>
          <p:cNvPr id="38" name="Oval 31"/>
          <p:cNvSpPr/>
          <p:nvPr/>
        </p:nvSpPr>
        <p:spPr>
          <a:xfrm>
            <a:off x="5531930" y="3409655"/>
            <a:ext cx="288000" cy="288000"/>
          </a:xfrm>
          <a:prstGeom prst="ellipse">
            <a:avLst/>
          </a:prstGeom>
          <a:solidFill>
            <a:srgbClr val="0B2F4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2"/>
          <p:cNvSpPr txBox="1"/>
          <p:nvPr/>
        </p:nvSpPr>
        <p:spPr>
          <a:xfrm>
            <a:off x="4618292" y="3798783"/>
            <a:ext cx="2148840" cy="201168"/>
          </a:xfrm>
          <a:prstGeom prst="rect">
            <a:avLst/>
          </a:prstGeom>
          <a:noFill/>
          <a:effectLst/>
        </p:spPr>
        <p:txBody>
          <a:bodyPr wrap="square" lIns="0" tIns="0" rIns="0" bIns="0" anchor="t">
            <a:noAutofit/>
          </a:bodyPr>
          <a:lstStyle/>
          <a:p>
            <a:pPr algn="ctr"/>
            <a:r>
              <a:rPr sz="1200" b="1">
                <a:solidFill>
                  <a:srgbClr val="0B2F4A"/>
                </a:solidFill>
                <a:latin typeface="Aptos"/>
              </a:rPr>
              <a:t>Impact Consulting Group</a:t>
            </a:r>
          </a:p>
        </p:txBody>
      </p:sp>
      <p:sp>
        <p:nvSpPr>
          <p:cNvPr id="40" name="TextBox 33"/>
          <p:cNvSpPr txBox="1"/>
          <p:nvPr/>
        </p:nvSpPr>
        <p:spPr>
          <a:xfrm>
            <a:off x="4397375" y="4056380"/>
            <a:ext cx="2586990" cy="311150"/>
          </a:xfrm>
          <a:prstGeom prst="rect">
            <a:avLst/>
          </a:prstGeom>
          <a:noFill/>
          <a:effectLst/>
        </p:spPr>
        <p:txBody>
          <a:bodyPr wrap="square" lIns="0" tIns="0" rIns="0" bIns="0" anchor="t">
            <a:noAutofit/>
          </a:bodyPr>
          <a:lstStyle/>
          <a:p>
            <a:pPr algn="ctr"/>
            <a:r>
              <a:rPr lang="en-US" altLang="zh-CN" sz="1000" b="0">
                <a:solidFill>
                  <a:srgbClr val="0B2F4A"/>
                </a:solidFill>
                <a:latin typeface="Aptos"/>
              </a:rPr>
              <a:t>Structured, research-backed, and practical</a:t>
            </a:r>
          </a:p>
        </p:txBody>
      </p:sp>
      <p:sp>
        <p:nvSpPr>
          <p:cNvPr id="41" name="Rounded Rectangle 34"/>
          <p:cNvSpPr/>
          <p:nvPr/>
        </p:nvSpPr>
        <p:spPr>
          <a:xfrm>
            <a:off x="7955597" y="2447163"/>
            <a:ext cx="3429000" cy="3090672"/>
          </a:xfrm>
          <a:prstGeom prst="round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35"/>
          <p:cNvSpPr txBox="1"/>
          <p:nvPr/>
        </p:nvSpPr>
        <p:spPr>
          <a:xfrm>
            <a:off x="8211629" y="2675763"/>
            <a:ext cx="2926080" cy="219456"/>
          </a:xfrm>
          <a:prstGeom prst="rect">
            <a:avLst/>
          </a:prstGeom>
          <a:noFill/>
          <a:effectLst/>
        </p:spPr>
        <p:txBody>
          <a:bodyPr wrap="square" lIns="0" tIns="0" rIns="0" bIns="0" anchor="t">
            <a:noAutofit/>
          </a:bodyPr>
          <a:lstStyle/>
          <a:p>
            <a:pPr algn="l"/>
            <a:r>
              <a:rPr sz="1350" b="1">
                <a:solidFill>
                  <a:srgbClr val="0B2F4A"/>
                </a:solidFill>
                <a:latin typeface="Aptos"/>
              </a:rPr>
              <a:t>Why clients choose Impact</a:t>
            </a:r>
          </a:p>
        </p:txBody>
      </p:sp>
      <p:sp>
        <p:nvSpPr>
          <p:cNvPr id="43" name="Rectangle 36"/>
          <p:cNvSpPr/>
          <p:nvPr/>
        </p:nvSpPr>
        <p:spPr>
          <a:xfrm>
            <a:off x="8211629" y="2986659"/>
            <a:ext cx="502920" cy="32004"/>
          </a:xfrm>
          <a:prstGeom prst="rect">
            <a:avLst/>
          </a:prstGeom>
          <a:solidFill>
            <a:srgbClr val="5D7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37"/>
          <p:cNvSpPr/>
          <p:nvPr/>
        </p:nvSpPr>
        <p:spPr>
          <a:xfrm>
            <a:off x="8229918" y="3244519"/>
            <a:ext cx="73152" cy="73152"/>
          </a:xfrm>
          <a:prstGeom prst="ellipse">
            <a:avLst/>
          </a:prstGeom>
          <a:solidFill>
            <a:srgbClr val="5D7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38"/>
          <p:cNvSpPr txBox="1"/>
          <p:nvPr/>
        </p:nvSpPr>
        <p:spPr>
          <a:xfrm>
            <a:off x="8385366" y="3196971"/>
            <a:ext cx="2834640" cy="164592"/>
          </a:xfrm>
          <a:prstGeom prst="rect">
            <a:avLst/>
          </a:prstGeom>
          <a:noFill/>
          <a:effectLst/>
        </p:spPr>
        <p:txBody>
          <a:bodyPr wrap="square" lIns="0" tIns="0" rIns="0" bIns="0" anchor="t">
            <a:noAutofit/>
          </a:bodyPr>
          <a:lstStyle/>
          <a:p>
            <a:pPr algn="l"/>
            <a:r>
              <a:rPr sz="1100" b="1">
                <a:solidFill>
                  <a:srgbClr val="1F2D3A"/>
                </a:solidFill>
                <a:latin typeface="Aptos"/>
              </a:rPr>
              <a:t>Structured MBA-led support</a:t>
            </a:r>
          </a:p>
        </p:txBody>
      </p:sp>
      <p:sp>
        <p:nvSpPr>
          <p:cNvPr id="46" name="TextBox 39"/>
          <p:cNvSpPr txBox="1"/>
          <p:nvPr/>
        </p:nvSpPr>
        <p:spPr>
          <a:xfrm>
            <a:off x="8385366" y="3388995"/>
            <a:ext cx="2788920" cy="292608"/>
          </a:xfrm>
          <a:prstGeom prst="rect">
            <a:avLst/>
          </a:prstGeom>
          <a:noFill/>
          <a:effectLst/>
        </p:spPr>
        <p:txBody>
          <a:bodyPr wrap="square" lIns="0" tIns="0" rIns="0" bIns="0" anchor="t">
            <a:noAutofit/>
          </a:bodyPr>
          <a:lstStyle/>
          <a:p>
            <a:pPr algn="l"/>
            <a:r>
              <a:rPr sz="840" b="0">
                <a:solidFill>
                  <a:srgbClr val="526271"/>
                </a:solidFill>
                <a:latin typeface="Aptos"/>
              </a:rPr>
              <a:t>Clear scope, defined deliverables, and regular client check-ins.</a:t>
            </a:r>
          </a:p>
        </p:txBody>
      </p:sp>
      <p:sp>
        <p:nvSpPr>
          <p:cNvPr id="47" name="Oval 40"/>
          <p:cNvSpPr/>
          <p:nvPr/>
        </p:nvSpPr>
        <p:spPr>
          <a:xfrm>
            <a:off x="8229918" y="3829735"/>
            <a:ext cx="73152" cy="73152"/>
          </a:xfrm>
          <a:prstGeom prst="ellipse">
            <a:avLst/>
          </a:prstGeom>
          <a:solidFill>
            <a:srgbClr val="5D7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1"/>
          <p:cNvSpPr txBox="1"/>
          <p:nvPr/>
        </p:nvSpPr>
        <p:spPr>
          <a:xfrm>
            <a:off x="8385366" y="3782186"/>
            <a:ext cx="2834640" cy="164592"/>
          </a:xfrm>
          <a:prstGeom prst="rect">
            <a:avLst/>
          </a:prstGeom>
          <a:noFill/>
          <a:effectLst/>
        </p:spPr>
        <p:txBody>
          <a:bodyPr wrap="square" lIns="0" tIns="0" rIns="0" bIns="0" anchor="t">
            <a:noAutofit/>
          </a:bodyPr>
          <a:lstStyle/>
          <a:p>
            <a:pPr algn="l"/>
            <a:r>
              <a:rPr sz="1100" b="1">
                <a:solidFill>
                  <a:srgbClr val="1F2D3A"/>
                </a:solidFill>
                <a:latin typeface="Aptos"/>
              </a:rPr>
              <a:t>Practical recommendations</a:t>
            </a:r>
          </a:p>
        </p:txBody>
      </p:sp>
      <p:sp>
        <p:nvSpPr>
          <p:cNvPr id="49" name="TextBox 42"/>
          <p:cNvSpPr txBox="1"/>
          <p:nvPr/>
        </p:nvSpPr>
        <p:spPr>
          <a:xfrm>
            <a:off x="8385366" y="3974211"/>
            <a:ext cx="2788920" cy="292608"/>
          </a:xfrm>
          <a:prstGeom prst="rect">
            <a:avLst/>
          </a:prstGeom>
          <a:noFill/>
          <a:effectLst/>
        </p:spPr>
        <p:txBody>
          <a:bodyPr wrap="square" lIns="0" tIns="0" rIns="0" bIns="0" anchor="t">
            <a:noAutofit/>
          </a:bodyPr>
          <a:lstStyle/>
          <a:p>
            <a:pPr algn="l"/>
            <a:r>
              <a:rPr lang="en-US" altLang="zh-CN" sz="840" b="0">
                <a:solidFill>
                  <a:srgbClr val="526271"/>
                </a:solidFill>
                <a:latin typeface="Aptos"/>
              </a:rPr>
              <a:t>Recommendations grounded in the client’s context, constraints, and priorities.</a:t>
            </a:r>
          </a:p>
        </p:txBody>
      </p:sp>
      <p:sp>
        <p:nvSpPr>
          <p:cNvPr id="50" name="Oval 43"/>
          <p:cNvSpPr/>
          <p:nvPr/>
        </p:nvSpPr>
        <p:spPr>
          <a:xfrm>
            <a:off x="8229918" y="4414951"/>
            <a:ext cx="73152" cy="73152"/>
          </a:xfrm>
          <a:prstGeom prst="ellipse">
            <a:avLst/>
          </a:prstGeom>
          <a:solidFill>
            <a:srgbClr val="5D7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44"/>
          <p:cNvSpPr txBox="1"/>
          <p:nvPr/>
        </p:nvSpPr>
        <p:spPr>
          <a:xfrm>
            <a:off x="8385366" y="4367402"/>
            <a:ext cx="2834640" cy="164592"/>
          </a:xfrm>
          <a:prstGeom prst="rect">
            <a:avLst/>
          </a:prstGeom>
          <a:noFill/>
          <a:effectLst/>
        </p:spPr>
        <p:txBody>
          <a:bodyPr wrap="square" lIns="0" tIns="0" rIns="0" bIns="0" anchor="t">
            <a:noAutofit/>
          </a:bodyPr>
          <a:lstStyle/>
          <a:p>
            <a:pPr algn="l"/>
            <a:r>
              <a:rPr sz="1100" b="1">
                <a:solidFill>
                  <a:srgbClr val="1F2D3A"/>
                </a:solidFill>
                <a:latin typeface="Aptos"/>
              </a:rPr>
              <a:t>Accessible consulting model</a:t>
            </a:r>
          </a:p>
        </p:txBody>
      </p:sp>
      <p:sp>
        <p:nvSpPr>
          <p:cNvPr id="52" name="TextBox 45"/>
          <p:cNvSpPr txBox="1"/>
          <p:nvPr/>
        </p:nvSpPr>
        <p:spPr>
          <a:xfrm>
            <a:off x="8385366" y="4559426"/>
            <a:ext cx="2788920" cy="292608"/>
          </a:xfrm>
          <a:prstGeom prst="rect">
            <a:avLst/>
          </a:prstGeom>
          <a:noFill/>
          <a:effectLst/>
        </p:spPr>
        <p:txBody>
          <a:bodyPr wrap="square" lIns="0" tIns="0" rIns="0" bIns="0" anchor="t">
            <a:noAutofit/>
          </a:bodyPr>
          <a:lstStyle/>
          <a:p>
            <a:pPr algn="l"/>
            <a:r>
              <a:rPr lang="en-US" altLang="zh-CN" sz="840" b="0">
                <a:solidFill>
                  <a:srgbClr val="526271"/>
                </a:solidFill>
                <a:latin typeface="Aptos"/>
              </a:rPr>
              <a:t>Useful for focused questions that benefit from structured analysis but may not require a full-scale consulting firm.</a:t>
            </a:r>
          </a:p>
        </p:txBody>
      </p:sp>
      <p:sp>
        <p:nvSpPr>
          <p:cNvPr id="53" name="Oval 46"/>
          <p:cNvSpPr/>
          <p:nvPr/>
        </p:nvSpPr>
        <p:spPr>
          <a:xfrm>
            <a:off x="8229918" y="5000167"/>
            <a:ext cx="73152" cy="73152"/>
          </a:xfrm>
          <a:prstGeom prst="ellipse">
            <a:avLst/>
          </a:prstGeom>
          <a:solidFill>
            <a:srgbClr val="5D7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47"/>
          <p:cNvSpPr txBox="1"/>
          <p:nvPr/>
        </p:nvSpPr>
        <p:spPr>
          <a:xfrm>
            <a:off x="8385366" y="4952618"/>
            <a:ext cx="2834640" cy="164592"/>
          </a:xfrm>
          <a:prstGeom prst="rect">
            <a:avLst/>
          </a:prstGeom>
          <a:noFill/>
          <a:effectLst/>
        </p:spPr>
        <p:txBody>
          <a:bodyPr wrap="square" lIns="0" tIns="0" rIns="0" bIns="0" anchor="t">
            <a:noAutofit/>
          </a:bodyPr>
          <a:lstStyle/>
          <a:p>
            <a:pPr algn="l"/>
            <a:r>
              <a:rPr sz="1100" b="1">
                <a:solidFill>
                  <a:srgbClr val="1F2D3A"/>
                </a:solidFill>
                <a:latin typeface="Aptos"/>
              </a:rPr>
              <a:t>Business-school resources</a:t>
            </a:r>
          </a:p>
        </p:txBody>
      </p:sp>
      <p:sp>
        <p:nvSpPr>
          <p:cNvPr id="55" name="TextBox 48"/>
          <p:cNvSpPr txBox="1"/>
          <p:nvPr/>
        </p:nvSpPr>
        <p:spPr>
          <a:xfrm>
            <a:off x="8385366" y="5144642"/>
            <a:ext cx="2788920" cy="292608"/>
          </a:xfrm>
          <a:prstGeom prst="rect">
            <a:avLst/>
          </a:prstGeom>
          <a:noFill/>
          <a:effectLst/>
        </p:spPr>
        <p:txBody>
          <a:bodyPr wrap="square" lIns="0" tIns="0" rIns="0" bIns="0" anchor="t">
            <a:noAutofit/>
          </a:bodyPr>
          <a:lstStyle/>
          <a:p>
            <a:pPr algn="l"/>
            <a:r>
              <a:rPr lang="en-US" altLang="zh-CN" sz="840" b="0">
                <a:solidFill>
                  <a:srgbClr val="526271"/>
                </a:solidFill>
                <a:latin typeface="Aptos"/>
              </a:rPr>
              <a:t>Rotman talent, research access, faculty perspective, advisors, and alumni network where relevant.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4"/>
          <a:stretch>
            <a:fillRect/>
          </a:stretch>
        </p:blipFill>
        <p:spPr>
          <a:xfrm>
            <a:off x="502920" y="292608"/>
            <a:ext cx="1417320" cy="519684"/>
          </a:xfrm>
          <a:prstGeom prst="rect">
            <a:avLst/>
          </a:prstGeom>
        </p:spPr>
      </p:pic>
      <p:sp>
        <p:nvSpPr>
          <p:cNvPr id="3" name="Text 0"/>
          <p:cNvSpPr/>
          <p:nvPr/>
        </p:nvSpPr>
        <p:spPr>
          <a:xfrm>
            <a:off x="658368" y="868680"/>
            <a:ext cx="3291840" cy="201168"/>
          </a:xfrm>
          <a:prstGeom prst="rect">
            <a:avLst/>
          </a:prstGeom>
          <a:noFill/>
        </p:spPr>
        <p:txBody>
          <a:bodyPr wrap="square" lIns="0" tIns="0" rIns="0" bIns="0" rtlCol="0" anchor="ctr"/>
          <a:lstStyle/>
          <a:p>
            <a:pPr marL="0" indent="0">
              <a:buNone/>
            </a:pPr>
            <a:r>
              <a:rPr lang="en-US" sz="750" b="1">
                <a:solidFill>
                  <a:srgbClr val="5B7892"/>
                </a:solidFill>
              </a:rPr>
              <a:t>APPENDIX C</a:t>
            </a:r>
          </a:p>
        </p:txBody>
      </p:sp>
      <p:sp>
        <p:nvSpPr>
          <p:cNvPr id="4" name="Text 1"/>
          <p:cNvSpPr/>
          <p:nvPr/>
        </p:nvSpPr>
        <p:spPr>
          <a:xfrm>
            <a:off x="640080" y="1097280"/>
            <a:ext cx="8778240" cy="438912"/>
          </a:xfrm>
          <a:prstGeom prst="rect">
            <a:avLst/>
          </a:prstGeom>
          <a:noFill/>
        </p:spPr>
        <p:txBody>
          <a:bodyPr wrap="square" lIns="0" tIns="0" rIns="0" bIns="0" rtlCol="0" anchor="ctr"/>
          <a:lstStyle/>
          <a:p>
            <a:r>
              <a:rPr lang="en-US" sz="2300" b="1">
                <a:solidFill>
                  <a:srgbClr val="123B5D"/>
                </a:solidFill>
                <a:latin typeface="Aptos Display"/>
              </a:rPr>
              <a:t>Board Members</a:t>
            </a:r>
            <a:endParaRPr lang="en-US" sz="2300"/>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en-US"/>
          </a:p>
        </p:txBody>
      </p:sp>
      <p:sp>
        <p:nvSpPr>
          <p:cNvPr id="6" name="Shape 3"/>
          <p:cNvSpPr/>
          <p:nvPr/>
        </p:nvSpPr>
        <p:spPr>
          <a:xfrm>
            <a:off x="502920" y="6428232"/>
            <a:ext cx="11201400" cy="0"/>
          </a:xfrm>
          <a:prstGeom prst="line">
            <a:avLst/>
          </a:prstGeom>
          <a:noFill/>
          <a:ln w="8890">
            <a:solidFill>
              <a:srgbClr val="D9E2EC"/>
            </a:solidFill>
            <a:prstDash val="solid"/>
          </a:ln>
        </p:spPr>
        <p:txBody>
          <a:bodyPr/>
          <a:lstStyle/>
          <a:p>
            <a:endParaRPr 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9" name="Text 6"/>
          <p:cNvSpPr/>
          <p:nvPr/>
        </p:nvSpPr>
        <p:spPr>
          <a:xfrm>
            <a:off x="660400" y="1701800"/>
            <a:ext cx="6210935" cy="274320"/>
          </a:xfrm>
          <a:prstGeom prst="rect">
            <a:avLst/>
          </a:prstGeom>
          <a:noFill/>
        </p:spPr>
        <p:txBody>
          <a:bodyPr wrap="square" lIns="0" tIns="0" rIns="0" bIns="0" rtlCol="0" anchor="ctr"/>
          <a:lstStyle/>
          <a:p>
            <a:r>
              <a:rPr lang="en-US" sz="1500" b="1">
                <a:solidFill>
                  <a:srgbClr val="111827"/>
                </a:solidFill>
              </a:rPr>
              <a:t>We are supported by academic and industry experts</a:t>
            </a:r>
            <a:endParaRPr lang="en-US"/>
          </a:p>
        </p:txBody>
      </p:sp>
      <p:sp>
        <p:nvSpPr>
          <p:cNvPr id="11" name="TextBox 10"/>
          <p:cNvSpPr txBox="1"/>
          <p:nvPr/>
        </p:nvSpPr>
        <p:spPr>
          <a:xfrm>
            <a:off x="272415" y="3605530"/>
            <a:ext cx="2472690" cy="61404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400" b="1"/>
              <a:t>Rick Morris</a:t>
            </a:r>
            <a:endParaRPr lang="en-US" sz="1400"/>
          </a:p>
          <a:p>
            <a:pPr algn="ctr"/>
            <a:r>
              <a:rPr lang="en-US" sz="1000">
                <a:ea typeface="Calibri" panose="020F0502020204030204"/>
              </a:rPr>
              <a:t>Impact Advisory Board Chair and Intact VP, specializing in broker finance and M&amp;A</a:t>
            </a:r>
            <a:endParaRPr lang="en-US"/>
          </a:p>
        </p:txBody>
      </p:sp>
      <p:sp>
        <p:nvSpPr>
          <p:cNvPr id="12" name="TextBox 11"/>
          <p:cNvSpPr txBox="1"/>
          <p:nvPr/>
        </p:nvSpPr>
        <p:spPr>
          <a:xfrm>
            <a:off x="424180" y="5762625"/>
            <a:ext cx="2090420" cy="61404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400" b="1"/>
              <a:t>Rob Rutledge</a:t>
            </a:r>
          </a:p>
          <a:p>
            <a:pPr algn="ctr"/>
            <a:r>
              <a:rPr lang="en-US" altLang="zh-CN" sz="1000"/>
              <a:t>Executive Coach to C-suite leaders and ex-BCG consultant</a:t>
            </a:r>
          </a:p>
        </p:txBody>
      </p:sp>
      <p:sp>
        <p:nvSpPr>
          <p:cNvPr id="13" name="TextBox 12"/>
          <p:cNvSpPr txBox="1"/>
          <p:nvPr/>
        </p:nvSpPr>
        <p:spPr>
          <a:xfrm>
            <a:off x="2745642" y="5762625"/>
            <a:ext cx="2039914"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400" b="1"/>
              <a:t>Dan Richards</a:t>
            </a:r>
            <a:endParaRPr lang="en-US" sz="1400">
              <a:ea typeface="Calibri" panose="020F0502020204030204"/>
              <a:cs typeface="Calibri" panose="020F0502020204030204"/>
            </a:endParaRPr>
          </a:p>
          <a:p>
            <a:pPr algn="ctr"/>
            <a:r>
              <a:rPr lang="en-US" sz="1000">
                <a:ea typeface="Calibri" panose="020F0502020204030204"/>
              </a:rPr>
              <a:t>Rotman Professor and successful startup Founder</a:t>
            </a:r>
            <a:endParaRPr lang="en-US" sz="1000">
              <a:ea typeface="Calibri" panose="020F0502020204030204"/>
              <a:cs typeface="Calibri" panose="020F0502020204030204"/>
            </a:endParaRPr>
          </a:p>
        </p:txBody>
      </p:sp>
      <p:sp>
        <p:nvSpPr>
          <p:cNvPr id="14" name="TextBox 13"/>
          <p:cNvSpPr txBox="1"/>
          <p:nvPr/>
        </p:nvSpPr>
        <p:spPr>
          <a:xfrm>
            <a:off x="2854080" y="3605316"/>
            <a:ext cx="1781175" cy="61404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400" b="1"/>
              <a:t>Ned Welch</a:t>
            </a:r>
          </a:p>
          <a:p>
            <a:pPr algn="ctr"/>
            <a:r>
              <a:rPr lang="en-US" altLang="zh-CN" sz="1000"/>
              <a:t>Rotman Professor and ex-McKinsey consultant</a:t>
            </a:r>
          </a:p>
        </p:txBody>
      </p:sp>
      <p:sp>
        <p:nvSpPr>
          <p:cNvPr id="16" name="TextBox 14"/>
          <p:cNvSpPr txBox="1"/>
          <p:nvPr/>
        </p:nvSpPr>
        <p:spPr>
          <a:xfrm>
            <a:off x="4912360" y="3605530"/>
            <a:ext cx="2252980" cy="614045"/>
          </a:xfrm>
          <a:prstGeom prst="rect">
            <a:avLst/>
          </a:prstGeom>
          <a:noFill/>
        </p:spPr>
        <p:txBody>
          <a:bodyPr rot="0" spcFirstLastPara="0" vert="horz" wrap="square" lIns="91440" tIns="45720" rIns="91440" bIns="45720" numCol="1" spcCol="0" rtlCol="0" fromWordArt="0" anchor="t" anchorCtr="0" forceAA="0" compatLnSpc="1">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t>Chandan </a:t>
            </a:r>
            <a:r>
              <a:rPr lang="en-US" sz="1400" b="1" err="1"/>
              <a:t>Sejekan</a:t>
            </a:r>
          </a:p>
          <a:p>
            <a:pPr algn="ctr"/>
            <a:r>
              <a:rPr lang="en-US" altLang="zh-CN" sz="1000" err="1"/>
              <a:t>Recent Impact Principal and current Senior Consultant (PMP Strategy)</a:t>
            </a:r>
          </a:p>
        </p:txBody>
      </p:sp>
      <p:sp>
        <p:nvSpPr>
          <p:cNvPr id="17" name="TextBox 14"/>
          <p:cNvSpPr txBox="1"/>
          <p:nvPr/>
        </p:nvSpPr>
        <p:spPr>
          <a:xfrm>
            <a:off x="7510780" y="5768340"/>
            <a:ext cx="1908175" cy="614045"/>
          </a:xfrm>
          <a:prstGeom prst="rect">
            <a:avLst/>
          </a:prstGeom>
          <a:noFill/>
        </p:spPr>
        <p:txBody>
          <a:bodyPr rot="0" spcFirstLastPara="0" vert="horz" wrap="square" lIns="91440" tIns="45720" rIns="91440" bIns="45720" numCol="1" spcCol="0" rtlCol="0" fromWordArt="0" anchor="t" anchorCtr="0" forceAA="0" compatLnSpc="1">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t>Beatrix Dart</a:t>
            </a:r>
          </a:p>
          <a:p>
            <a:pPr algn="ctr"/>
            <a:r>
              <a:rPr lang="en-US" altLang="zh-CN" sz="1000"/>
              <a:t>Rotman Professor and ex-McKinsey consultant</a:t>
            </a:r>
          </a:p>
        </p:txBody>
      </p:sp>
      <p:sp>
        <p:nvSpPr>
          <p:cNvPr id="18" name="TextBox 14"/>
          <p:cNvSpPr txBox="1"/>
          <p:nvPr/>
        </p:nvSpPr>
        <p:spPr>
          <a:xfrm>
            <a:off x="5043805" y="5762625"/>
            <a:ext cx="2150745" cy="614045"/>
          </a:xfrm>
          <a:prstGeom prst="rect">
            <a:avLst/>
          </a:prstGeom>
          <a:noFill/>
        </p:spPr>
        <p:txBody>
          <a:bodyPr rot="0" spcFirstLastPara="0" vert="horz" wrap="square" lIns="91440" tIns="45720" rIns="91440" bIns="45720" numCol="1" spcCol="0" rtlCol="0" fromWordArt="0" anchor="t" anchorCtr="0" forceAA="0" compatLnSpc="1">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t>Roger Thompson</a:t>
            </a:r>
          </a:p>
          <a:p>
            <a:pPr algn="ctr"/>
            <a:r>
              <a:rPr lang="en-US" altLang="zh-CN" sz="1000"/>
              <a:t>FirstService executive, and leadership coach helping senior leaders </a:t>
            </a:r>
          </a:p>
        </p:txBody>
      </p:sp>
      <p:sp>
        <p:nvSpPr>
          <p:cNvPr id="19" name="TextBox 14"/>
          <p:cNvSpPr txBox="1"/>
          <p:nvPr/>
        </p:nvSpPr>
        <p:spPr>
          <a:xfrm>
            <a:off x="7165975" y="3605530"/>
            <a:ext cx="2436495" cy="614045"/>
          </a:xfrm>
          <a:prstGeom prst="rect">
            <a:avLst/>
          </a:prstGeom>
          <a:noFill/>
        </p:spPr>
        <p:txBody>
          <a:bodyPr rot="0" spcFirstLastPara="0" vert="horz" wrap="square" lIns="91440" tIns="45720" rIns="91440" bIns="45720" numCol="1" spcCol="0" rtlCol="0" fromWordArt="0" anchor="t" anchorCtr="0" forceAA="0" compatLnSpc="1">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t>Irene Yeung</a:t>
            </a:r>
          </a:p>
          <a:p>
            <a:pPr algn="ctr"/>
            <a:r>
              <a:rPr lang="en-US" altLang="zh-CN" sz="1000"/>
              <a:t>Rotman Executive in Residence and retired Principal Consultant at MNP Digital</a:t>
            </a:r>
          </a:p>
        </p:txBody>
      </p:sp>
      <p:sp>
        <p:nvSpPr>
          <p:cNvPr id="20" name="TextBox 14"/>
          <p:cNvSpPr txBox="1"/>
          <p:nvPr/>
        </p:nvSpPr>
        <p:spPr>
          <a:xfrm>
            <a:off x="9603105" y="5762625"/>
            <a:ext cx="2164080" cy="614045"/>
          </a:xfrm>
          <a:prstGeom prst="rect">
            <a:avLst/>
          </a:prstGeom>
          <a:noFill/>
        </p:spPr>
        <p:txBody>
          <a:bodyPr rot="0" spcFirstLastPara="0" vert="horz" wrap="square" lIns="91440" tIns="45720" rIns="91440" bIns="45720" numCol="1" spcCol="0" rtlCol="0" fromWordArt="0" anchor="t" anchorCtr="0" forceAA="0" compatLnSpc="1">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t>Katherine Magee</a:t>
            </a:r>
          </a:p>
          <a:p>
            <a:pPr algn="ctr"/>
            <a:r>
              <a:rPr lang="en-US" altLang="zh-CN" sz="1000"/>
              <a:t>Rotman Commerce lecturer, expertise in strategy, marketing, facilitation</a:t>
            </a:r>
          </a:p>
        </p:txBody>
      </p:sp>
      <p:pic>
        <p:nvPicPr>
          <p:cNvPr id="22" name="Picture 21" descr="Irene Yeung EXR LEADS | Rotman School | University of Toronto"/>
          <p:cNvPicPr>
            <a:picLocks noChangeAspect="1"/>
          </p:cNvPicPr>
          <p:nvPr/>
        </p:nvPicPr>
        <p:blipFill>
          <a:blip r:embed="rId5"/>
          <a:srcRect l="3175" t="370" r="794" b="4815"/>
          <a:stretch>
            <a:fillRect/>
          </a:stretch>
        </p:blipFill>
        <p:spPr>
          <a:xfrm>
            <a:off x="7724041" y="2257108"/>
            <a:ext cx="1259840" cy="1339468"/>
          </a:xfrm>
          <a:prstGeom prst="flowChartConnector">
            <a:avLst/>
          </a:prstGeom>
        </p:spPr>
      </p:pic>
      <p:pic>
        <p:nvPicPr>
          <p:cNvPr id="23" name="Picture 22" descr="Robert Rutledge | PEO Leadership"/>
          <p:cNvPicPr>
            <a:picLocks noChangeAspect="1"/>
          </p:cNvPicPr>
          <p:nvPr/>
        </p:nvPicPr>
        <p:blipFill>
          <a:blip r:embed="rId6"/>
          <a:srcRect l="26667" r="33004" b="57630"/>
          <a:stretch>
            <a:fillRect/>
          </a:stretch>
        </p:blipFill>
        <p:spPr>
          <a:xfrm>
            <a:off x="843915" y="4281482"/>
            <a:ext cx="1260000" cy="1380819"/>
          </a:xfrm>
          <a:prstGeom prst="flowChartConnector">
            <a:avLst/>
          </a:prstGeom>
        </p:spPr>
      </p:pic>
      <p:pic>
        <p:nvPicPr>
          <p:cNvPr id="24" name="Picture 23" descr="Ned Welch - Adjunct Professor and Executive in Residence at Rotman School  of Management | LinkedIn"/>
          <p:cNvPicPr>
            <a:picLocks noChangeAspect="1"/>
          </p:cNvPicPr>
          <p:nvPr/>
        </p:nvPicPr>
        <p:blipFill>
          <a:blip r:embed="rId7"/>
          <a:srcRect l="5031" t="314" b="2099"/>
          <a:stretch>
            <a:fillRect/>
          </a:stretch>
        </p:blipFill>
        <p:spPr>
          <a:xfrm>
            <a:off x="3137436" y="2259545"/>
            <a:ext cx="1259840" cy="1334594"/>
          </a:xfrm>
          <a:prstGeom prst="flowChartConnector">
            <a:avLst/>
          </a:prstGeom>
        </p:spPr>
      </p:pic>
      <p:pic>
        <p:nvPicPr>
          <p:cNvPr id="25" name="Picture 24" descr="Advisory Board – Impactconsultinggroup"/>
          <p:cNvPicPr>
            <a:picLocks noChangeAspect="1"/>
          </p:cNvPicPr>
          <p:nvPr/>
        </p:nvPicPr>
        <p:blipFill>
          <a:blip r:embed="rId8"/>
          <a:stretch>
            <a:fillRect/>
          </a:stretch>
        </p:blipFill>
        <p:spPr>
          <a:xfrm>
            <a:off x="7724935" y="4373880"/>
            <a:ext cx="1259840" cy="1288421"/>
          </a:xfrm>
          <a:prstGeom prst="rect">
            <a:avLst/>
          </a:prstGeom>
        </p:spPr>
      </p:pic>
      <p:pic>
        <p:nvPicPr>
          <p:cNvPr id="26" name="Picture 25" descr="Advisory Board – Impactconsultinggroup"/>
          <p:cNvPicPr>
            <a:picLocks noChangeAspect="1"/>
          </p:cNvPicPr>
          <p:nvPr/>
        </p:nvPicPr>
        <p:blipFill>
          <a:blip r:embed="rId9"/>
          <a:stretch>
            <a:fillRect/>
          </a:stretch>
        </p:blipFill>
        <p:spPr>
          <a:xfrm>
            <a:off x="844368" y="2259993"/>
            <a:ext cx="1259840" cy="1277500"/>
          </a:xfrm>
          <a:prstGeom prst="rect">
            <a:avLst/>
          </a:prstGeom>
        </p:spPr>
      </p:pic>
      <p:pic>
        <p:nvPicPr>
          <p:cNvPr id="27" name="Picture 26" descr="Profile image"/>
          <p:cNvPicPr>
            <a:picLocks noChangeAspect="1"/>
          </p:cNvPicPr>
          <p:nvPr/>
        </p:nvPicPr>
        <p:blipFill>
          <a:blip r:embed="rId10"/>
          <a:srcRect l="4459" t="1531" r="4459" b="-1190"/>
          <a:stretch>
            <a:fillRect/>
          </a:stretch>
        </p:blipFill>
        <p:spPr>
          <a:xfrm>
            <a:off x="5431315" y="4379941"/>
            <a:ext cx="1259840" cy="1282360"/>
          </a:xfrm>
          <a:prstGeom prst="flowChartConnector">
            <a:avLst/>
          </a:prstGeom>
        </p:spPr>
      </p:pic>
      <p:pic>
        <p:nvPicPr>
          <p:cNvPr id="28" name="Picture 27" descr="Katherine Magee Bio August 2020"/>
          <p:cNvPicPr>
            <a:picLocks noChangeAspect="1"/>
          </p:cNvPicPr>
          <p:nvPr/>
        </p:nvPicPr>
        <p:blipFill>
          <a:blip r:embed="rId11"/>
          <a:stretch>
            <a:fillRect/>
          </a:stretch>
        </p:blipFill>
        <p:spPr>
          <a:xfrm>
            <a:off x="10018555" y="4279143"/>
            <a:ext cx="1259840" cy="1383158"/>
          </a:xfrm>
          <a:prstGeom prst="flowChartConnector">
            <a:avLst/>
          </a:prstGeom>
        </p:spPr>
      </p:pic>
      <p:pic>
        <p:nvPicPr>
          <p:cNvPr id="29" name="Picture 28" descr="Profile image"/>
          <p:cNvPicPr>
            <a:picLocks noChangeAspect="1"/>
          </p:cNvPicPr>
          <p:nvPr/>
        </p:nvPicPr>
        <p:blipFill>
          <a:blip r:embed="rId12"/>
          <a:srcRect l="11795" t="2655" r="11795" b="24779"/>
          <a:stretch>
            <a:fillRect/>
          </a:stretch>
        </p:blipFill>
        <p:spPr>
          <a:xfrm>
            <a:off x="5431056" y="2274734"/>
            <a:ext cx="1259205" cy="1304216"/>
          </a:xfrm>
          <a:prstGeom prst="flowChartConnector">
            <a:avLst/>
          </a:prstGeom>
        </p:spPr>
      </p:pic>
      <p:pic>
        <p:nvPicPr>
          <p:cNvPr id="15" name="Picture 21" descr="C:/Users/27794/Desktop/图片1.png图片1"/>
          <p:cNvPicPr>
            <a:picLocks noChangeAspect="1"/>
          </p:cNvPicPr>
          <p:nvPr/>
        </p:nvPicPr>
        <p:blipFill>
          <a:blip r:embed="rId13"/>
          <a:srcRect l="2991" r="2991"/>
          <a:stretch>
            <a:fillRect/>
          </a:stretch>
        </p:blipFill>
        <p:spPr>
          <a:xfrm>
            <a:off x="10017661" y="2257108"/>
            <a:ext cx="1259840" cy="1339468"/>
          </a:xfrm>
          <a:prstGeom prst="flowChartConnector">
            <a:avLst/>
          </a:prstGeom>
        </p:spPr>
      </p:pic>
      <p:sp>
        <p:nvSpPr>
          <p:cNvPr id="30" name="文本框 29"/>
          <p:cNvSpPr txBox="1"/>
          <p:nvPr/>
        </p:nvSpPr>
        <p:spPr>
          <a:xfrm>
            <a:off x="9738995" y="3606165"/>
            <a:ext cx="1868170" cy="614045"/>
          </a:xfrm>
          <a:prstGeom prst="rect">
            <a:avLst/>
          </a:prstGeom>
        </p:spPr>
        <p:txBody>
          <a:bodyPr wrap="square">
            <a:spAutoFit/>
          </a:bodyPr>
          <a:lstStyle/>
          <a:p>
            <a:pPr marL="0" indent="0" algn="ctr" fontAlgn="ctr">
              <a:spcBef>
                <a:spcPct val="0"/>
              </a:spcBef>
              <a:spcAft>
                <a:spcPct val="0"/>
              </a:spcAft>
            </a:pPr>
            <a:r>
              <a:rPr lang="en-US" sz="1400" b="1" i="0"/>
              <a:t>Cole McClean</a:t>
            </a:r>
          </a:p>
          <a:p>
            <a:pPr marL="0" indent="0" algn="ctr" fontAlgn="ctr">
              <a:spcBef>
                <a:spcPct val="0"/>
              </a:spcBef>
              <a:spcAft>
                <a:spcPct val="0"/>
              </a:spcAft>
            </a:pPr>
            <a:r>
              <a:rPr lang="en-US" altLang="zh-CN" sz="1000" i="0"/>
              <a:t>Recent Impact Principal  and incoming EY consultant</a:t>
            </a:r>
          </a:p>
        </p:txBody>
      </p:sp>
      <p:pic>
        <p:nvPicPr>
          <p:cNvPr id="33" name="Picture 20" descr="Dan Richards - The Globe and Mail"/>
          <p:cNvPicPr>
            <a:picLocks noChangeAspect="1"/>
          </p:cNvPicPr>
          <p:nvPr/>
        </p:nvPicPr>
        <p:blipFill>
          <a:blip r:embed="rId14"/>
          <a:srcRect l="15299" t="2815" r="24385" b="1511"/>
          <a:stretch>
            <a:fillRect/>
          </a:stretch>
        </p:blipFill>
        <p:spPr>
          <a:xfrm>
            <a:off x="3136983" y="4338779"/>
            <a:ext cx="1260000" cy="1323163"/>
          </a:xfrm>
          <a:prstGeom prst="flowChartConnector">
            <a:avLst/>
          </a:prstGeom>
        </p:spPr>
      </p:pic>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_assets/old_image2.png"/>
          <p:cNvPicPr>
            <a:picLocks noChangeAspect="1"/>
          </p:cNvPicPr>
          <p:nvPr/>
        </p:nvPicPr>
        <p:blipFill>
          <a:blip r:embed="rId23"/>
          <a:stretch>
            <a:fillRect/>
          </a:stretch>
        </p:blipFill>
        <p:spPr>
          <a:xfrm>
            <a:off x="502920" y="292608"/>
            <a:ext cx="1417320" cy="519684"/>
          </a:xfrm>
          <a:prstGeom prst="rect">
            <a:avLst/>
          </a:prstGeom>
        </p:spPr>
      </p:pic>
      <p:sp>
        <p:nvSpPr>
          <p:cNvPr id="3" name="Text 0"/>
          <p:cNvSpPr/>
          <p:nvPr/>
        </p:nvSpPr>
        <p:spPr>
          <a:xfrm>
            <a:off x="658368" y="868680"/>
            <a:ext cx="3291840" cy="201168"/>
          </a:xfrm>
          <a:prstGeom prst="rect">
            <a:avLst/>
          </a:prstGeom>
          <a:noFill/>
        </p:spPr>
        <p:txBody>
          <a:bodyPr wrap="square" lIns="0" tIns="0" rIns="0" bIns="0" rtlCol="0" anchor="ctr"/>
          <a:lstStyle/>
          <a:p>
            <a:pPr marL="0" indent="0">
              <a:buNone/>
            </a:pPr>
            <a:r>
              <a:rPr lang="en-US" altLang="zh-CN" sz="750" b="1">
                <a:solidFill>
                  <a:srgbClr val="5B7892"/>
                </a:solidFill>
              </a:rPr>
              <a:t>EXAMPLES OF FOCUSED ENGAGEMENTS</a:t>
            </a:r>
          </a:p>
        </p:txBody>
      </p:sp>
      <p:sp>
        <p:nvSpPr>
          <p:cNvPr id="4" name="Text 1"/>
          <p:cNvSpPr/>
          <p:nvPr/>
        </p:nvSpPr>
        <p:spPr>
          <a:xfrm>
            <a:off x="640080" y="1097280"/>
            <a:ext cx="8778240" cy="438912"/>
          </a:xfrm>
          <a:prstGeom prst="rect">
            <a:avLst/>
          </a:prstGeom>
          <a:noFill/>
        </p:spPr>
        <p:txBody>
          <a:bodyPr wrap="square" lIns="0" tIns="0" rIns="0" bIns="0" rtlCol="0" anchor="ctr"/>
          <a:lstStyle/>
          <a:p>
            <a:pPr marL="0" indent="0">
              <a:buNone/>
            </a:pPr>
            <a:r>
              <a:rPr lang="en-US" sz="2300" b="1">
                <a:solidFill>
                  <a:srgbClr val="123B5D"/>
                </a:solidFill>
                <a:latin typeface="Aptos Display" pitchFamily="34" charset="0"/>
                <a:ea typeface="Aptos Display" pitchFamily="34" charset="-122"/>
                <a:cs typeface="Aptos Display" pitchFamily="34" charset="-120"/>
                <a:sym typeface="+mn-ea"/>
              </a:rPr>
              <a:t>Service Lines</a:t>
            </a:r>
            <a:endParaRPr lang="en-US" sz="2300" b="1">
              <a:solidFill>
                <a:srgbClr val="123B5D"/>
              </a:solidFill>
              <a:latin typeface="Aptos Display" pitchFamily="34" charset="0"/>
              <a:ea typeface="Aptos Display" pitchFamily="34" charset="-122"/>
              <a:cs typeface="Aptos Display" pitchFamily="34" charset="-120"/>
            </a:endParaRPr>
          </a:p>
        </p:txBody>
      </p:sp>
      <p:sp>
        <p:nvSpPr>
          <p:cNvPr id="5" name="Shape 2"/>
          <p:cNvSpPr/>
          <p:nvPr/>
        </p:nvSpPr>
        <p:spPr>
          <a:xfrm>
            <a:off x="640080" y="1664208"/>
            <a:ext cx="713232" cy="41148"/>
          </a:xfrm>
          <a:prstGeom prst="rect">
            <a:avLst/>
          </a:prstGeom>
          <a:solidFill>
            <a:srgbClr val="5B7892"/>
          </a:solidFill>
          <a:ln w="12700">
            <a:solidFill>
              <a:srgbClr val="5B7892"/>
            </a:solidFill>
            <a:prstDash val="solid"/>
          </a:ln>
        </p:spPr>
        <p:txBody>
          <a:bodyPr/>
          <a:lstStyle/>
          <a:p>
            <a:endParaRPr lang="en-US"/>
          </a:p>
        </p:txBody>
      </p:sp>
      <p:sp>
        <p:nvSpPr>
          <p:cNvPr id="6" name="Shape 3"/>
          <p:cNvSpPr/>
          <p:nvPr/>
        </p:nvSpPr>
        <p:spPr>
          <a:xfrm>
            <a:off x="502920" y="6428232"/>
            <a:ext cx="11201400" cy="0"/>
          </a:xfrm>
          <a:prstGeom prst="line">
            <a:avLst/>
          </a:prstGeom>
          <a:noFill/>
          <a:ln w="8890">
            <a:solidFill>
              <a:srgbClr val="D9E2EC"/>
            </a:solidFill>
            <a:prstDash val="solid"/>
          </a:ln>
        </p:spPr>
        <p:txBody>
          <a:bodyPr/>
          <a:lstStyle/>
          <a:p>
            <a:endParaRPr lang="en-US"/>
          </a:p>
        </p:txBody>
      </p:sp>
      <p:sp>
        <p:nvSpPr>
          <p:cNvPr id="7" name="Text 4"/>
          <p:cNvSpPr/>
          <p:nvPr/>
        </p:nvSpPr>
        <p:spPr>
          <a:xfrm>
            <a:off x="502920" y="6510528"/>
            <a:ext cx="5029200" cy="164592"/>
          </a:xfrm>
          <a:prstGeom prst="rect">
            <a:avLst/>
          </a:prstGeom>
          <a:noFill/>
        </p:spPr>
        <p:txBody>
          <a:bodyPr wrap="square" lIns="0" tIns="0" rIns="0" bIns="0" rtlCol="0" anchor="ctr"/>
          <a:lstStyle/>
          <a:p>
            <a:pPr marL="0" indent="0">
              <a:buNone/>
            </a:pPr>
            <a:r>
              <a:rPr lang="en-US" sz="750">
                <a:solidFill>
                  <a:srgbClr val="6B7280"/>
                </a:solidFill>
              </a:rPr>
              <a:t>Impact Consulting Group | Rotman School of Management</a:t>
            </a:r>
            <a:endParaRPr lang="en-US" sz="750"/>
          </a:p>
        </p:txBody>
      </p:sp>
      <p:sp>
        <p:nvSpPr>
          <p:cNvPr id="9" name="Shape 6"/>
          <p:cNvSpPr/>
          <p:nvPr>
            <p:custDataLst>
              <p:tags r:id="rId1"/>
            </p:custDataLst>
          </p:nvPr>
        </p:nvSpPr>
        <p:spPr>
          <a:xfrm>
            <a:off x="640080" y="2011680"/>
            <a:ext cx="1993392" cy="3291840"/>
          </a:xfrm>
          <a:prstGeom prst="roundRect">
            <a:avLst>
              <a:gd name="adj" fmla="val 3670"/>
            </a:avLst>
          </a:prstGeom>
          <a:solidFill>
            <a:srgbClr val="FFFFFF"/>
          </a:solidFill>
          <a:ln w="8890">
            <a:solidFill>
              <a:srgbClr val="D9E2EC"/>
            </a:solidFill>
            <a:prstDash val="solid"/>
          </a:ln>
        </p:spPr>
        <p:txBody>
          <a:bodyPr/>
          <a:lstStyle/>
          <a:p>
            <a:endParaRPr lang="en-US"/>
          </a:p>
        </p:txBody>
      </p:sp>
      <p:sp>
        <p:nvSpPr>
          <p:cNvPr id="10" name="Shape 7"/>
          <p:cNvSpPr/>
          <p:nvPr>
            <p:custDataLst>
              <p:tags r:id="rId2"/>
            </p:custDataLst>
          </p:nvPr>
        </p:nvSpPr>
        <p:spPr>
          <a:xfrm>
            <a:off x="640080" y="2011680"/>
            <a:ext cx="54864" cy="3291840"/>
          </a:xfrm>
          <a:prstGeom prst="rect">
            <a:avLst/>
          </a:prstGeom>
          <a:solidFill>
            <a:srgbClr val="5B7892"/>
          </a:solidFill>
          <a:ln w="12700">
            <a:solidFill>
              <a:srgbClr val="5B7892"/>
            </a:solidFill>
            <a:prstDash val="solid"/>
          </a:ln>
        </p:spPr>
        <p:txBody>
          <a:bodyPr/>
          <a:lstStyle/>
          <a:p>
            <a:endParaRPr lang="en-US"/>
          </a:p>
        </p:txBody>
      </p:sp>
      <p:sp>
        <p:nvSpPr>
          <p:cNvPr id="11" name="Text 8"/>
          <p:cNvSpPr/>
          <p:nvPr>
            <p:custDataLst>
              <p:tags r:id="rId3"/>
            </p:custDataLst>
          </p:nvPr>
        </p:nvSpPr>
        <p:spPr>
          <a:xfrm>
            <a:off x="804672" y="2157984"/>
            <a:ext cx="1700784" cy="210312"/>
          </a:xfrm>
          <a:prstGeom prst="rect">
            <a:avLst/>
          </a:prstGeom>
          <a:noFill/>
        </p:spPr>
        <p:txBody>
          <a:bodyPr wrap="square" lIns="0" tIns="0" rIns="0" bIns="0" rtlCol="0" anchor="ctr">
            <a:normAutofit fontScale="92500"/>
          </a:bodyPr>
          <a:lstStyle/>
          <a:p>
            <a:pPr marL="0" indent="0">
              <a:buNone/>
            </a:pPr>
            <a:r>
              <a:rPr lang="en-US" sz="1250" b="1">
                <a:solidFill>
                  <a:srgbClr val="123B5D"/>
                </a:solidFill>
              </a:rPr>
              <a:t>Market &amp; Growth Strategy</a:t>
            </a:r>
            <a:endParaRPr lang="en-US" sz="1250"/>
          </a:p>
        </p:txBody>
      </p:sp>
      <p:sp>
        <p:nvSpPr>
          <p:cNvPr id="12" name="Text 9"/>
          <p:cNvSpPr/>
          <p:nvPr>
            <p:custDataLst>
              <p:tags r:id="rId4"/>
            </p:custDataLst>
          </p:nvPr>
        </p:nvSpPr>
        <p:spPr>
          <a:xfrm>
            <a:off x="804672" y="2487168"/>
            <a:ext cx="1682496" cy="2724912"/>
          </a:xfrm>
          <a:prstGeom prst="rect">
            <a:avLst/>
          </a:prstGeom>
          <a:noFill/>
        </p:spPr>
        <p:txBody>
          <a:bodyPr wrap="square" lIns="0" tIns="0" rIns="0" bIns="0" rtlCol="0" anchor="t">
            <a:normAutofit/>
          </a:bodyPr>
          <a:lstStyle/>
          <a:p>
            <a:pPr indent="0" fontAlgn="auto">
              <a:spcBef>
                <a:spcPts val="300"/>
              </a:spcBef>
              <a:spcAft>
                <a:spcPts val="300"/>
              </a:spcAft>
              <a:buNone/>
            </a:pPr>
            <a:endParaRPr lang="en-US" altLang="zh-CN" sz="940"/>
          </a:p>
          <a:p>
            <a:pPr indent="0" fontAlgn="auto">
              <a:spcBef>
                <a:spcPts val="300"/>
              </a:spcBef>
              <a:spcAft>
                <a:spcPts val="300"/>
              </a:spcAft>
              <a:buNone/>
            </a:pPr>
            <a:r>
              <a:rPr lang="en-US" altLang="zh-CN" sz="940"/>
              <a:t>Market sizing</a:t>
            </a:r>
          </a:p>
          <a:p>
            <a:pPr indent="0" fontAlgn="auto">
              <a:spcBef>
                <a:spcPts val="300"/>
              </a:spcBef>
              <a:spcAft>
                <a:spcPts val="300"/>
              </a:spcAft>
              <a:buNone/>
            </a:pPr>
            <a:r>
              <a:rPr lang="en-US" altLang="zh-CN" sz="940"/>
              <a:t>Competitor benchmarking</a:t>
            </a:r>
          </a:p>
          <a:p>
            <a:pPr indent="0" fontAlgn="auto">
              <a:spcBef>
                <a:spcPts val="300"/>
              </a:spcBef>
              <a:spcAft>
                <a:spcPts val="300"/>
              </a:spcAft>
              <a:buNone/>
            </a:pPr>
            <a:r>
              <a:rPr lang="en-US" altLang="zh-CN" sz="940"/>
              <a:t>Customer segmentation</a:t>
            </a:r>
          </a:p>
          <a:p>
            <a:pPr indent="0" fontAlgn="auto">
              <a:spcBef>
                <a:spcPts val="300"/>
              </a:spcBef>
              <a:spcAft>
                <a:spcPts val="300"/>
              </a:spcAft>
              <a:buNone/>
            </a:pPr>
            <a:r>
              <a:rPr lang="en-US" altLang="zh-CN" sz="940"/>
              <a:t>Go-to-market recommendation</a:t>
            </a:r>
          </a:p>
          <a:p>
            <a:pPr indent="0" fontAlgn="auto">
              <a:spcBef>
                <a:spcPts val="300"/>
              </a:spcBef>
              <a:spcAft>
                <a:spcPts val="300"/>
              </a:spcAft>
              <a:buNone/>
            </a:pPr>
            <a:r>
              <a:rPr lang="en-US" altLang="zh-CN" sz="940"/>
              <a:t>Growth strategy roadmap</a:t>
            </a:r>
          </a:p>
          <a:p>
            <a:pPr indent="0" fontAlgn="auto">
              <a:spcBef>
                <a:spcPts val="300"/>
              </a:spcBef>
              <a:spcAft>
                <a:spcPts val="300"/>
              </a:spcAft>
              <a:buNone/>
            </a:pPr>
            <a:r>
              <a:rPr lang="en-US" altLang="zh-CN" sz="940"/>
              <a:t>Business model review</a:t>
            </a:r>
          </a:p>
          <a:p>
            <a:pPr indent="0" fontAlgn="auto">
              <a:spcBef>
                <a:spcPts val="300"/>
              </a:spcBef>
              <a:spcAft>
                <a:spcPts val="300"/>
              </a:spcAft>
              <a:buNone/>
            </a:pPr>
            <a:r>
              <a:rPr lang="en-US" altLang="zh-CN" sz="940"/>
              <a:t>Revenue model assessment</a:t>
            </a:r>
          </a:p>
        </p:txBody>
      </p:sp>
      <p:sp>
        <p:nvSpPr>
          <p:cNvPr id="13" name="Shape 10"/>
          <p:cNvSpPr/>
          <p:nvPr>
            <p:custDataLst>
              <p:tags r:id="rId5"/>
            </p:custDataLst>
          </p:nvPr>
        </p:nvSpPr>
        <p:spPr>
          <a:xfrm>
            <a:off x="2890139" y="2011680"/>
            <a:ext cx="1993392" cy="3291840"/>
          </a:xfrm>
          <a:prstGeom prst="roundRect">
            <a:avLst>
              <a:gd name="adj" fmla="val 3670"/>
            </a:avLst>
          </a:prstGeom>
          <a:solidFill>
            <a:srgbClr val="FFFFFF"/>
          </a:solidFill>
          <a:ln w="8890">
            <a:solidFill>
              <a:srgbClr val="D9E2EC"/>
            </a:solidFill>
            <a:prstDash val="solid"/>
          </a:ln>
        </p:spPr>
        <p:txBody>
          <a:bodyPr/>
          <a:lstStyle/>
          <a:p>
            <a:endParaRPr lang="en-US"/>
          </a:p>
        </p:txBody>
      </p:sp>
      <p:sp>
        <p:nvSpPr>
          <p:cNvPr id="14" name="Shape 11"/>
          <p:cNvSpPr/>
          <p:nvPr>
            <p:custDataLst>
              <p:tags r:id="rId6"/>
            </p:custDataLst>
          </p:nvPr>
        </p:nvSpPr>
        <p:spPr>
          <a:xfrm>
            <a:off x="2889504" y="2011680"/>
            <a:ext cx="54864" cy="3291840"/>
          </a:xfrm>
          <a:prstGeom prst="rect">
            <a:avLst/>
          </a:prstGeom>
          <a:solidFill>
            <a:srgbClr val="8A6F82"/>
          </a:solidFill>
          <a:ln w="12700">
            <a:solidFill>
              <a:srgbClr val="8A6F82"/>
            </a:solidFill>
            <a:prstDash val="solid"/>
          </a:ln>
        </p:spPr>
        <p:txBody>
          <a:bodyPr/>
          <a:lstStyle/>
          <a:p>
            <a:endParaRPr lang="en-US"/>
          </a:p>
        </p:txBody>
      </p:sp>
      <p:sp>
        <p:nvSpPr>
          <p:cNvPr id="15" name="Text 12"/>
          <p:cNvSpPr/>
          <p:nvPr>
            <p:custDataLst>
              <p:tags r:id="rId7"/>
            </p:custDataLst>
          </p:nvPr>
        </p:nvSpPr>
        <p:spPr>
          <a:xfrm>
            <a:off x="3054096" y="2157984"/>
            <a:ext cx="1700784" cy="210312"/>
          </a:xfrm>
          <a:prstGeom prst="rect">
            <a:avLst/>
          </a:prstGeom>
          <a:noFill/>
        </p:spPr>
        <p:txBody>
          <a:bodyPr wrap="square" lIns="0" tIns="0" rIns="0" bIns="0" rtlCol="0" anchor="ctr">
            <a:noAutofit/>
          </a:bodyPr>
          <a:lstStyle/>
          <a:p>
            <a:pPr marL="0" indent="0">
              <a:buNone/>
            </a:pPr>
            <a:r>
              <a:rPr lang="en-US" sz="1200" b="1">
                <a:solidFill>
                  <a:srgbClr val="123B5D"/>
                </a:solidFill>
              </a:rPr>
              <a:t>Operations &amp; Process Improvement</a:t>
            </a:r>
          </a:p>
        </p:txBody>
      </p:sp>
      <p:sp>
        <p:nvSpPr>
          <p:cNvPr id="16" name="Text 13"/>
          <p:cNvSpPr/>
          <p:nvPr>
            <p:custDataLst>
              <p:tags r:id="rId8"/>
            </p:custDataLst>
          </p:nvPr>
        </p:nvSpPr>
        <p:spPr>
          <a:xfrm>
            <a:off x="3054096" y="2487168"/>
            <a:ext cx="1682496" cy="2724912"/>
          </a:xfrm>
          <a:prstGeom prst="rect">
            <a:avLst/>
          </a:prstGeom>
          <a:noFill/>
        </p:spPr>
        <p:txBody>
          <a:bodyPr wrap="square" lIns="0" tIns="0" rIns="0" bIns="0" rtlCol="0" anchor="t">
            <a:normAutofit/>
          </a:bodyPr>
          <a:lstStyle/>
          <a:p>
            <a:pPr indent="0" fontAlgn="auto">
              <a:spcBef>
                <a:spcPts val="300"/>
              </a:spcBef>
              <a:spcAft>
                <a:spcPts val="300"/>
              </a:spcAft>
              <a:buNone/>
            </a:pPr>
            <a:endParaRPr lang="en-US" altLang="zh-CN" sz="940"/>
          </a:p>
          <a:p>
            <a:pPr indent="0" fontAlgn="auto">
              <a:spcBef>
                <a:spcPts val="300"/>
              </a:spcBef>
              <a:spcAft>
                <a:spcPts val="300"/>
              </a:spcAft>
              <a:buNone/>
            </a:pPr>
            <a:r>
              <a:rPr lang="en-US" altLang="zh-CN" sz="940">
                <a:sym typeface="+mn-ea"/>
              </a:rPr>
              <a:t>Process mapping</a:t>
            </a:r>
          </a:p>
          <a:p>
            <a:pPr indent="0" fontAlgn="auto">
              <a:spcBef>
                <a:spcPts val="300"/>
              </a:spcBef>
              <a:spcAft>
                <a:spcPts val="300"/>
              </a:spcAft>
              <a:buNone/>
            </a:pPr>
            <a:r>
              <a:rPr lang="en-US" altLang="zh-CN" sz="940">
                <a:sym typeface="+mn-ea"/>
              </a:rPr>
              <a:t>Workflow assessment</a:t>
            </a:r>
          </a:p>
          <a:p>
            <a:pPr indent="0" fontAlgn="auto">
              <a:spcBef>
                <a:spcPts val="300"/>
              </a:spcBef>
              <a:spcAft>
                <a:spcPts val="300"/>
              </a:spcAft>
              <a:buNone/>
            </a:pPr>
            <a:r>
              <a:rPr lang="en-US" altLang="zh-CN" sz="940">
                <a:sym typeface="+mn-ea"/>
              </a:rPr>
              <a:t>KPI framework</a:t>
            </a:r>
          </a:p>
          <a:p>
            <a:pPr indent="0" fontAlgn="auto">
              <a:spcBef>
                <a:spcPts val="300"/>
              </a:spcBef>
              <a:spcAft>
                <a:spcPts val="300"/>
              </a:spcAft>
              <a:buNone/>
            </a:pPr>
            <a:r>
              <a:rPr lang="en-US" altLang="zh-CN" sz="940">
                <a:sym typeface="+mn-ea"/>
              </a:rPr>
              <a:t>Process gap analysis</a:t>
            </a:r>
          </a:p>
          <a:p>
            <a:pPr indent="0" fontAlgn="auto">
              <a:spcBef>
                <a:spcPts val="300"/>
              </a:spcBef>
              <a:spcAft>
                <a:spcPts val="300"/>
              </a:spcAft>
              <a:buNone/>
            </a:pPr>
            <a:r>
              <a:rPr lang="en-US" altLang="zh-CN" sz="940">
                <a:sym typeface="+mn-ea"/>
              </a:rPr>
              <a:t>Process improvement roadmap</a:t>
            </a:r>
          </a:p>
          <a:p>
            <a:pPr indent="0" fontAlgn="auto">
              <a:spcBef>
                <a:spcPts val="300"/>
              </a:spcBef>
              <a:spcAft>
                <a:spcPts val="300"/>
              </a:spcAft>
              <a:buNone/>
            </a:pPr>
            <a:r>
              <a:rPr lang="en-US" altLang="zh-CN" sz="940">
                <a:sym typeface="+mn-ea"/>
              </a:rPr>
              <a:t>Digital / AI readiness assessment</a:t>
            </a:r>
          </a:p>
          <a:p>
            <a:pPr indent="0" fontAlgn="auto">
              <a:spcBef>
                <a:spcPts val="300"/>
              </a:spcBef>
              <a:spcAft>
                <a:spcPts val="300"/>
              </a:spcAft>
              <a:buNone/>
            </a:pPr>
            <a:endParaRPr lang="en-US" altLang="zh-CN" sz="940"/>
          </a:p>
        </p:txBody>
      </p:sp>
      <p:sp>
        <p:nvSpPr>
          <p:cNvPr id="17" name="Shape 14"/>
          <p:cNvSpPr/>
          <p:nvPr>
            <p:custDataLst>
              <p:tags r:id="rId9"/>
            </p:custDataLst>
          </p:nvPr>
        </p:nvSpPr>
        <p:spPr>
          <a:xfrm>
            <a:off x="5138928" y="2011680"/>
            <a:ext cx="1993392" cy="3291840"/>
          </a:xfrm>
          <a:prstGeom prst="roundRect">
            <a:avLst>
              <a:gd name="adj" fmla="val 3670"/>
            </a:avLst>
          </a:prstGeom>
          <a:solidFill>
            <a:srgbClr val="FFFFFF"/>
          </a:solidFill>
          <a:ln w="8890">
            <a:solidFill>
              <a:srgbClr val="D9E2EC"/>
            </a:solidFill>
            <a:prstDash val="solid"/>
          </a:ln>
        </p:spPr>
        <p:txBody>
          <a:bodyPr/>
          <a:lstStyle/>
          <a:p>
            <a:endParaRPr lang="en-US"/>
          </a:p>
        </p:txBody>
      </p:sp>
      <p:sp>
        <p:nvSpPr>
          <p:cNvPr id="18" name="Shape 15"/>
          <p:cNvSpPr/>
          <p:nvPr>
            <p:custDataLst>
              <p:tags r:id="rId10"/>
            </p:custDataLst>
          </p:nvPr>
        </p:nvSpPr>
        <p:spPr>
          <a:xfrm>
            <a:off x="5138928" y="2011680"/>
            <a:ext cx="54864" cy="3291840"/>
          </a:xfrm>
          <a:prstGeom prst="rect">
            <a:avLst/>
          </a:prstGeom>
          <a:solidFill>
            <a:srgbClr val="9A8C82"/>
          </a:solidFill>
          <a:ln w="12700">
            <a:solidFill>
              <a:srgbClr val="9A8C82"/>
            </a:solidFill>
            <a:prstDash val="solid"/>
          </a:ln>
        </p:spPr>
        <p:txBody>
          <a:bodyPr/>
          <a:lstStyle/>
          <a:p>
            <a:endParaRPr lang="en-US"/>
          </a:p>
        </p:txBody>
      </p:sp>
      <p:sp>
        <p:nvSpPr>
          <p:cNvPr id="19" name="Text 16"/>
          <p:cNvSpPr/>
          <p:nvPr>
            <p:custDataLst>
              <p:tags r:id="rId11"/>
            </p:custDataLst>
          </p:nvPr>
        </p:nvSpPr>
        <p:spPr>
          <a:xfrm>
            <a:off x="5303520" y="2157984"/>
            <a:ext cx="1700784" cy="210312"/>
          </a:xfrm>
          <a:prstGeom prst="rect">
            <a:avLst/>
          </a:prstGeom>
          <a:noFill/>
        </p:spPr>
        <p:txBody>
          <a:bodyPr wrap="square" lIns="0" tIns="0" rIns="0" bIns="0" rtlCol="0" anchor="ctr">
            <a:noAutofit/>
          </a:bodyPr>
          <a:lstStyle/>
          <a:p>
            <a:pPr marL="0" indent="0">
              <a:buNone/>
            </a:pPr>
            <a:r>
              <a:rPr lang="en-US" altLang="zh-CN" sz="1200" b="1">
                <a:solidFill>
                  <a:srgbClr val="123B5D"/>
                </a:solidFill>
              </a:rPr>
              <a:t>Organization &amp; Change Management</a:t>
            </a:r>
          </a:p>
        </p:txBody>
      </p:sp>
      <p:sp>
        <p:nvSpPr>
          <p:cNvPr id="20" name="Text 17"/>
          <p:cNvSpPr/>
          <p:nvPr>
            <p:custDataLst>
              <p:tags r:id="rId12"/>
            </p:custDataLst>
          </p:nvPr>
        </p:nvSpPr>
        <p:spPr>
          <a:xfrm>
            <a:off x="5303520" y="2487168"/>
            <a:ext cx="1682496" cy="2724912"/>
          </a:xfrm>
          <a:prstGeom prst="rect">
            <a:avLst/>
          </a:prstGeom>
          <a:noFill/>
        </p:spPr>
        <p:txBody>
          <a:bodyPr wrap="square" lIns="0" tIns="0" rIns="0" bIns="0" rtlCol="0" anchor="t">
            <a:normAutofit/>
          </a:bodyPr>
          <a:lstStyle/>
          <a:p>
            <a:pPr indent="0" fontAlgn="auto">
              <a:spcBef>
                <a:spcPts val="300"/>
              </a:spcBef>
              <a:spcAft>
                <a:spcPts val="300"/>
              </a:spcAft>
              <a:buNone/>
            </a:pPr>
            <a:endParaRPr lang="en-US" altLang="zh-CN" sz="940"/>
          </a:p>
          <a:p>
            <a:pPr indent="0" fontAlgn="auto">
              <a:spcBef>
                <a:spcPts val="300"/>
              </a:spcBef>
              <a:spcAft>
                <a:spcPts val="300"/>
              </a:spcAft>
              <a:buNone/>
            </a:pPr>
            <a:r>
              <a:rPr lang="en-US" altLang="zh-CN" sz="940"/>
              <a:t>Organizational design</a:t>
            </a:r>
          </a:p>
          <a:p>
            <a:pPr indent="0" fontAlgn="auto">
              <a:spcBef>
                <a:spcPts val="300"/>
              </a:spcBef>
              <a:spcAft>
                <a:spcPts val="300"/>
              </a:spcAft>
              <a:buNone/>
            </a:pPr>
            <a:r>
              <a:rPr lang="en-US" altLang="zh-CN" sz="940"/>
              <a:t>Workforce planning</a:t>
            </a:r>
          </a:p>
          <a:p>
            <a:pPr indent="0" fontAlgn="auto">
              <a:spcBef>
                <a:spcPts val="300"/>
              </a:spcBef>
              <a:spcAft>
                <a:spcPts val="300"/>
              </a:spcAft>
              <a:buNone/>
            </a:pPr>
            <a:r>
              <a:rPr lang="en-US" altLang="zh-CN" sz="940"/>
              <a:t>Role clarity &amp; decision rights</a:t>
            </a:r>
          </a:p>
          <a:p>
            <a:pPr indent="0" fontAlgn="auto">
              <a:spcBef>
                <a:spcPts val="300"/>
              </a:spcBef>
              <a:spcAft>
                <a:spcPts val="300"/>
              </a:spcAft>
              <a:buNone/>
            </a:pPr>
            <a:r>
              <a:rPr lang="en-US" altLang="zh-CN" sz="940"/>
              <a:t>Training and onboarding plan</a:t>
            </a:r>
          </a:p>
          <a:p>
            <a:pPr indent="0" fontAlgn="auto">
              <a:spcBef>
                <a:spcPts val="300"/>
              </a:spcBef>
              <a:spcAft>
                <a:spcPts val="300"/>
              </a:spcAft>
              <a:buNone/>
            </a:pPr>
            <a:r>
              <a:rPr lang="en-US" altLang="zh-CN" sz="940"/>
              <a:t>Talent Needs Assessment</a:t>
            </a:r>
          </a:p>
          <a:p>
            <a:pPr indent="0" fontAlgn="auto">
              <a:spcBef>
                <a:spcPts val="300"/>
              </a:spcBef>
              <a:spcAft>
                <a:spcPts val="300"/>
              </a:spcAft>
              <a:buNone/>
            </a:pPr>
            <a:r>
              <a:rPr lang="en-US" altLang="zh-CN" sz="940"/>
              <a:t>Strategic priorities assessment</a:t>
            </a:r>
          </a:p>
          <a:p>
            <a:pPr indent="0" fontAlgn="auto">
              <a:spcBef>
                <a:spcPts val="300"/>
              </a:spcBef>
              <a:spcAft>
                <a:spcPts val="300"/>
              </a:spcAft>
              <a:buNone/>
            </a:pPr>
            <a:r>
              <a:rPr lang="en-US" altLang="zh-CN" sz="940"/>
              <a:t>Board presentation support</a:t>
            </a:r>
          </a:p>
          <a:p>
            <a:pPr indent="0" fontAlgn="auto">
              <a:spcBef>
                <a:spcPts val="300"/>
              </a:spcBef>
              <a:spcAft>
                <a:spcPts val="300"/>
              </a:spcAft>
              <a:buNone/>
            </a:pPr>
            <a:endParaRPr lang="en-US" altLang="zh-CN" sz="940"/>
          </a:p>
        </p:txBody>
      </p:sp>
      <p:sp>
        <p:nvSpPr>
          <p:cNvPr id="21" name="Shape 18"/>
          <p:cNvSpPr/>
          <p:nvPr>
            <p:custDataLst>
              <p:tags r:id="rId13"/>
            </p:custDataLst>
          </p:nvPr>
        </p:nvSpPr>
        <p:spPr>
          <a:xfrm>
            <a:off x="7388352" y="2011680"/>
            <a:ext cx="1993392" cy="3291840"/>
          </a:xfrm>
          <a:prstGeom prst="roundRect">
            <a:avLst>
              <a:gd name="adj" fmla="val 3670"/>
            </a:avLst>
          </a:prstGeom>
          <a:solidFill>
            <a:srgbClr val="FFFFFF"/>
          </a:solidFill>
          <a:ln w="8890">
            <a:solidFill>
              <a:srgbClr val="D9E2EC"/>
            </a:solidFill>
            <a:prstDash val="solid"/>
          </a:ln>
        </p:spPr>
        <p:txBody>
          <a:bodyPr/>
          <a:lstStyle/>
          <a:p>
            <a:endParaRPr lang="en-US"/>
          </a:p>
        </p:txBody>
      </p:sp>
      <p:sp>
        <p:nvSpPr>
          <p:cNvPr id="22" name="Shape 19"/>
          <p:cNvSpPr/>
          <p:nvPr>
            <p:custDataLst>
              <p:tags r:id="rId14"/>
            </p:custDataLst>
          </p:nvPr>
        </p:nvSpPr>
        <p:spPr>
          <a:xfrm>
            <a:off x="7388352" y="2011680"/>
            <a:ext cx="54864" cy="3291840"/>
          </a:xfrm>
          <a:prstGeom prst="rect">
            <a:avLst/>
          </a:prstGeom>
          <a:solidFill>
            <a:srgbClr val="6D7C8A"/>
          </a:solidFill>
          <a:ln w="12700">
            <a:solidFill>
              <a:srgbClr val="6D7C8A"/>
            </a:solidFill>
            <a:prstDash val="solid"/>
          </a:ln>
        </p:spPr>
        <p:txBody>
          <a:bodyPr/>
          <a:lstStyle/>
          <a:p>
            <a:endParaRPr lang="en-US"/>
          </a:p>
        </p:txBody>
      </p:sp>
      <p:sp>
        <p:nvSpPr>
          <p:cNvPr id="23" name="Text 20"/>
          <p:cNvSpPr/>
          <p:nvPr>
            <p:custDataLst>
              <p:tags r:id="rId15"/>
            </p:custDataLst>
          </p:nvPr>
        </p:nvSpPr>
        <p:spPr>
          <a:xfrm>
            <a:off x="7552944" y="2157984"/>
            <a:ext cx="1700784" cy="210312"/>
          </a:xfrm>
          <a:prstGeom prst="rect">
            <a:avLst/>
          </a:prstGeom>
          <a:noFill/>
        </p:spPr>
        <p:txBody>
          <a:bodyPr wrap="square" lIns="0" tIns="0" rIns="0" bIns="0" rtlCol="0" anchor="ctr">
            <a:noAutofit/>
          </a:bodyPr>
          <a:lstStyle/>
          <a:p>
            <a:pPr marL="0" algn="l">
              <a:buClrTx/>
              <a:buSzTx/>
              <a:buFontTx/>
              <a:buNone/>
            </a:pPr>
            <a:r>
              <a:rPr lang="en-US" altLang="zh-CN" sz="1200" b="1">
                <a:solidFill>
                  <a:srgbClr val="123B5D"/>
                </a:solidFill>
              </a:rPr>
              <a:t>Customer &amp; Stakeholder Insights</a:t>
            </a:r>
          </a:p>
        </p:txBody>
      </p:sp>
      <p:sp>
        <p:nvSpPr>
          <p:cNvPr id="24" name="Text 21"/>
          <p:cNvSpPr/>
          <p:nvPr>
            <p:custDataLst>
              <p:tags r:id="rId16"/>
            </p:custDataLst>
          </p:nvPr>
        </p:nvSpPr>
        <p:spPr>
          <a:xfrm>
            <a:off x="7552944" y="2487168"/>
            <a:ext cx="1682496" cy="2724912"/>
          </a:xfrm>
          <a:prstGeom prst="rect">
            <a:avLst/>
          </a:prstGeom>
          <a:noFill/>
        </p:spPr>
        <p:txBody>
          <a:bodyPr wrap="square" lIns="0" tIns="0" rIns="0" bIns="0" rtlCol="0" anchor="t">
            <a:normAutofit/>
          </a:bodyPr>
          <a:lstStyle/>
          <a:p>
            <a:pPr indent="0" fontAlgn="auto">
              <a:spcBef>
                <a:spcPts val="300"/>
              </a:spcBef>
              <a:spcAft>
                <a:spcPts val="300"/>
              </a:spcAft>
              <a:buNone/>
            </a:pPr>
            <a:endParaRPr lang="en-US" altLang="zh-CN" sz="940"/>
          </a:p>
          <a:p>
            <a:pPr indent="0" fontAlgn="auto">
              <a:spcBef>
                <a:spcPts val="300"/>
              </a:spcBef>
              <a:spcAft>
                <a:spcPts val="300"/>
              </a:spcAft>
              <a:buNone/>
            </a:pPr>
            <a:r>
              <a:rPr lang="en-US" altLang="zh-CN" sz="940"/>
              <a:t>Customer survey design</a:t>
            </a:r>
          </a:p>
          <a:p>
            <a:pPr indent="0" fontAlgn="auto">
              <a:spcBef>
                <a:spcPts val="300"/>
              </a:spcBef>
              <a:spcAft>
                <a:spcPts val="300"/>
              </a:spcAft>
              <a:buNone/>
            </a:pPr>
            <a:r>
              <a:rPr lang="en-US" altLang="zh-CN" sz="940"/>
              <a:t>Stakeholder interviews</a:t>
            </a:r>
          </a:p>
          <a:p>
            <a:pPr indent="0" fontAlgn="auto">
              <a:spcBef>
                <a:spcPts val="300"/>
              </a:spcBef>
              <a:spcAft>
                <a:spcPts val="300"/>
              </a:spcAft>
              <a:buNone/>
            </a:pPr>
            <a:r>
              <a:rPr lang="en-US" altLang="zh-CN" sz="940"/>
              <a:t>Focus group synthesis</a:t>
            </a:r>
          </a:p>
          <a:p>
            <a:pPr indent="0" fontAlgn="auto">
              <a:spcBef>
                <a:spcPts val="300"/>
              </a:spcBef>
              <a:spcAft>
                <a:spcPts val="300"/>
              </a:spcAft>
              <a:buNone/>
            </a:pPr>
            <a:r>
              <a:rPr lang="en-US" altLang="zh-CN" sz="940"/>
              <a:t>Voice-of-customer research</a:t>
            </a:r>
          </a:p>
          <a:p>
            <a:pPr indent="0" fontAlgn="auto">
              <a:spcBef>
                <a:spcPts val="300"/>
              </a:spcBef>
              <a:spcAft>
                <a:spcPts val="300"/>
              </a:spcAft>
              <a:buNone/>
            </a:pPr>
            <a:r>
              <a:rPr lang="en-US" altLang="zh-CN" sz="940"/>
              <a:t>User needs assessment</a:t>
            </a:r>
          </a:p>
          <a:p>
            <a:pPr indent="0" fontAlgn="auto">
              <a:spcBef>
                <a:spcPts val="300"/>
              </a:spcBef>
              <a:spcAft>
                <a:spcPts val="300"/>
              </a:spcAft>
              <a:buNone/>
            </a:pPr>
            <a:r>
              <a:rPr lang="en-US" altLang="zh-CN" sz="940"/>
              <a:t>Customer journey mapping</a:t>
            </a:r>
          </a:p>
          <a:p>
            <a:pPr indent="0" fontAlgn="auto">
              <a:spcBef>
                <a:spcPts val="300"/>
              </a:spcBef>
              <a:spcAft>
                <a:spcPts val="300"/>
              </a:spcAft>
              <a:buNone/>
            </a:pPr>
            <a:r>
              <a:rPr lang="en-US" altLang="zh-CN" sz="940"/>
              <a:t>CRM Process &amp; Requirements Design</a:t>
            </a:r>
          </a:p>
        </p:txBody>
      </p:sp>
      <p:sp>
        <p:nvSpPr>
          <p:cNvPr id="25" name="Shape 22"/>
          <p:cNvSpPr/>
          <p:nvPr>
            <p:custDataLst>
              <p:tags r:id="rId17"/>
            </p:custDataLst>
          </p:nvPr>
        </p:nvSpPr>
        <p:spPr>
          <a:xfrm>
            <a:off x="9637776" y="2011680"/>
            <a:ext cx="1993392" cy="3291840"/>
          </a:xfrm>
          <a:prstGeom prst="roundRect">
            <a:avLst>
              <a:gd name="adj" fmla="val 3670"/>
            </a:avLst>
          </a:prstGeom>
          <a:solidFill>
            <a:srgbClr val="FFFFFF"/>
          </a:solidFill>
          <a:ln w="8890">
            <a:solidFill>
              <a:srgbClr val="D9E2EC"/>
            </a:solidFill>
            <a:prstDash val="solid"/>
          </a:ln>
        </p:spPr>
        <p:txBody>
          <a:bodyPr/>
          <a:lstStyle/>
          <a:p>
            <a:endParaRPr lang="en-US"/>
          </a:p>
        </p:txBody>
      </p:sp>
      <p:sp>
        <p:nvSpPr>
          <p:cNvPr id="26" name="Shape 23"/>
          <p:cNvSpPr/>
          <p:nvPr>
            <p:custDataLst>
              <p:tags r:id="rId18"/>
            </p:custDataLst>
          </p:nvPr>
        </p:nvSpPr>
        <p:spPr>
          <a:xfrm>
            <a:off x="9637776" y="2011680"/>
            <a:ext cx="54864" cy="3291840"/>
          </a:xfrm>
          <a:prstGeom prst="rect">
            <a:avLst/>
          </a:prstGeom>
          <a:solidFill>
            <a:srgbClr val="5B7892"/>
          </a:solidFill>
          <a:ln w="12700">
            <a:solidFill>
              <a:srgbClr val="5B7892"/>
            </a:solidFill>
            <a:prstDash val="solid"/>
          </a:ln>
        </p:spPr>
        <p:txBody>
          <a:bodyPr/>
          <a:lstStyle/>
          <a:p>
            <a:endParaRPr lang="en-US"/>
          </a:p>
        </p:txBody>
      </p:sp>
      <p:sp>
        <p:nvSpPr>
          <p:cNvPr id="27" name="Text 24"/>
          <p:cNvSpPr/>
          <p:nvPr>
            <p:custDataLst>
              <p:tags r:id="rId19"/>
            </p:custDataLst>
          </p:nvPr>
        </p:nvSpPr>
        <p:spPr>
          <a:xfrm>
            <a:off x="9802368" y="2157984"/>
            <a:ext cx="1700784" cy="210312"/>
          </a:xfrm>
          <a:prstGeom prst="rect">
            <a:avLst/>
          </a:prstGeom>
          <a:noFill/>
        </p:spPr>
        <p:txBody>
          <a:bodyPr wrap="square" lIns="0" tIns="0" rIns="0" bIns="0" rtlCol="0" anchor="ctr">
            <a:noAutofit/>
          </a:bodyPr>
          <a:lstStyle/>
          <a:p>
            <a:pPr marL="0" indent="0">
              <a:buNone/>
            </a:pPr>
            <a:r>
              <a:rPr lang="en-US" altLang="zh-CN" sz="1200" b="1">
                <a:solidFill>
                  <a:srgbClr val="123B5D"/>
                </a:solidFill>
              </a:rPr>
              <a:t>Impact &amp; Nonprofit Advisory</a:t>
            </a:r>
          </a:p>
        </p:txBody>
      </p:sp>
      <p:sp>
        <p:nvSpPr>
          <p:cNvPr id="28" name="Text 25"/>
          <p:cNvSpPr/>
          <p:nvPr>
            <p:custDataLst>
              <p:tags r:id="rId20"/>
            </p:custDataLst>
          </p:nvPr>
        </p:nvSpPr>
        <p:spPr>
          <a:xfrm>
            <a:off x="9802368" y="2487168"/>
            <a:ext cx="1682496" cy="2724912"/>
          </a:xfrm>
          <a:prstGeom prst="rect">
            <a:avLst/>
          </a:prstGeom>
          <a:noFill/>
        </p:spPr>
        <p:txBody>
          <a:bodyPr wrap="square" lIns="0" tIns="0" rIns="0" bIns="0" rtlCol="0" anchor="t">
            <a:normAutofit/>
          </a:bodyPr>
          <a:lstStyle/>
          <a:p>
            <a:pPr indent="0" fontAlgn="auto">
              <a:spcBef>
                <a:spcPts val="300"/>
              </a:spcBef>
              <a:spcAft>
                <a:spcPts val="300"/>
              </a:spcAft>
              <a:buNone/>
            </a:pPr>
            <a:endParaRPr lang="en-US" altLang="zh-CN" sz="940"/>
          </a:p>
          <a:p>
            <a:pPr indent="0" fontAlgn="auto">
              <a:spcBef>
                <a:spcPts val="300"/>
              </a:spcBef>
              <a:spcAft>
                <a:spcPts val="300"/>
              </a:spcAft>
              <a:buNone/>
            </a:pPr>
            <a:r>
              <a:rPr lang="en-US" altLang="zh-CN" sz="940"/>
              <a:t>Impact assessment</a:t>
            </a:r>
          </a:p>
          <a:p>
            <a:pPr indent="0" fontAlgn="auto">
              <a:spcBef>
                <a:spcPts val="300"/>
              </a:spcBef>
              <a:spcAft>
                <a:spcPts val="300"/>
              </a:spcAft>
              <a:buNone/>
            </a:pPr>
            <a:r>
              <a:rPr lang="en-US" altLang="zh-CN" sz="940"/>
              <a:t>Impact Measurement Framework</a:t>
            </a:r>
          </a:p>
          <a:p>
            <a:pPr>
              <a:spcBef>
                <a:spcPts val="300"/>
              </a:spcBef>
              <a:spcAft>
                <a:spcPts val="300"/>
              </a:spcAft>
            </a:pPr>
            <a:r>
              <a:rPr lang="en-US" altLang="zh-CN" sz="900">
                <a:ea typeface="微软雅黑" panose="020B0503020204020204" charset="-122"/>
              </a:rPr>
              <a:t>Fundraising  strategy</a:t>
            </a:r>
            <a:endParaRPr lang="en-US" altLang="zh-CN" sz="900">
              <a:ea typeface="微软雅黑" panose="020B0503020204020204" charset="-122"/>
              <a:cs typeface="Calibri" panose="020F0502020204030204"/>
            </a:endParaRPr>
          </a:p>
          <a:p>
            <a:pPr indent="0" fontAlgn="auto">
              <a:spcBef>
                <a:spcPts val="300"/>
              </a:spcBef>
              <a:spcAft>
                <a:spcPts val="300"/>
              </a:spcAft>
              <a:buNone/>
            </a:pPr>
            <a:r>
              <a:rPr lang="en-US" altLang="zh-CN" sz="940"/>
              <a:t>Partnership strategy</a:t>
            </a:r>
          </a:p>
          <a:p>
            <a:pPr indent="0" fontAlgn="auto">
              <a:spcBef>
                <a:spcPts val="300"/>
              </a:spcBef>
              <a:spcAft>
                <a:spcPts val="300"/>
              </a:spcAft>
              <a:buNone/>
            </a:pPr>
            <a:r>
              <a:rPr lang="en-US" altLang="zh-CN" sz="940"/>
              <a:t>Advisory board strategy</a:t>
            </a:r>
          </a:p>
          <a:p>
            <a:pPr indent="0" fontAlgn="auto">
              <a:spcBef>
                <a:spcPts val="300"/>
              </a:spcBef>
              <a:spcAft>
                <a:spcPts val="300"/>
              </a:spcAft>
              <a:buNone/>
            </a:pPr>
            <a:endParaRPr lang="en-US" altLang="zh-CN" sz="94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176.4,&quot;left&quot;:51.839999999999996,&quot;top&quot;:219.6,&quot;width&quot;:822.9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25.919999999999998,&quot;top&quot;:118.68661417322835,&quot;width&quot;:899.5199999999999}"/>
</p:tagLst>
</file>

<file path=ppt/tags/tag70.xml><?xml version="1.0" encoding="utf-8"?>
<p:tagLst xmlns:a="http://schemas.openxmlformats.org/drawingml/2006/main" xmlns:r="http://schemas.openxmlformats.org/officeDocument/2006/relationships" xmlns:p="http://schemas.openxmlformats.org/presentationml/2006/main">
  <p:tag name="TYPE" val="icon"/>
</p:tagLst>
</file>

<file path=ppt/tags/tag71.xml><?xml version="1.0" encoding="utf-8"?>
<p:tagLst xmlns:a="http://schemas.openxmlformats.org/drawingml/2006/main" xmlns:r="http://schemas.openxmlformats.org/officeDocument/2006/relationships" xmlns:p="http://schemas.openxmlformats.org/presentationml/2006/main">
  <p:tag name="TYPE" val="icon"/>
</p:tagLst>
</file>

<file path=ppt/tags/tag72.xml><?xml version="1.0" encoding="utf-8"?>
<p:tagLst xmlns:a="http://schemas.openxmlformats.org/drawingml/2006/main" xmlns:r="http://schemas.openxmlformats.org/officeDocument/2006/relationships" xmlns:p="http://schemas.openxmlformats.org/presentationml/2006/main">
  <p:tag name="TYPE" val="icon"/>
</p:tagLst>
</file>

<file path=ppt/tags/tag73.xml><?xml version="1.0" encoding="utf-8"?>
<p:tagLst xmlns:a="http://schemas.openxmlformats.org/drawingml/2006/main" xmlns:r="http://schemas.openxmlformats.org/officeDocument/2006/relationships" xmlns:p="http://schemas.openxmlformats.org/presentationml/2006/main">
  <p:tag name="TYPE" val="icon"/>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288,&quot;left&quot;:50.4,&quot;top&quot;:188.64,&quot;width&quot;:853.2}"/>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151.2,&quot;left&quot;:36,&quot;top&quot;:216,&quot;width&quot;:86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236.16000000000003,&quot;left&quot;:104.4,&quot;top&quot;:198,&quot;width&quot;:777.65}"/>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259.2,&quot;left&quot;:50.4,&quot;top&quot;:158.4,&quot;width&quot;:865.439999999999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9DBCF6-D899-3248-944A-5F3E9A33110D}">
  <we:reference id="e22f1a2d-2826-4e63-97f6-33b99c0ae228" version="2.0.0.0" store="EXCatalog" storeType="EXCatalog"/>
  <we:alternateReferences>
    <we:reference id="WA104379370" version="2.0.0.0" store="en-GB"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1</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Ruby Liu</dc:creator>
  <cp:revision>1</cp:revision>
  <dcterms:created xsi:type="dcterms:W3CDTF">2023-08-09T12:44:00Z</dcterms:created>
  <dcterms:modified xsi:type="dcterms:W3CDTF">2026-05-21T21:46:11Z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89CBE60AC9FB45159F84FF0C474AA282_13</vt:lpwstr>
  </property>
</Properties>
</file>